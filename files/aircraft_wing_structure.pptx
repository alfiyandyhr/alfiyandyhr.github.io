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handoutMasterIdLst>
    <p:handoutMasterId r:id="rId29"/>
  </p:handoutMasterIdLst>
  <p:sldIdLst>
    <p:sldId id="256" r:id="rId5"/>
    <p:sldId id="982" r:id="rId6"/>
    <p:sldId id="975" r:id="rId7"/>
    <p:sldId id="976" r:id="rId8"/>
    <p:sldId id="983" r:id="rId9"/>
    <p:sldId id="996" r:id="rId10"/>
    <p:sldId id="992" r:id="rId11"/>
    <p:sldId id="993" r:id="rId12"/>
    <p:sldId id="994" r:id="rId13"/>
    <p:sldId id="995" r:id="rId14"/>
    <p:sldId id="1004" r:id="rId15"/>
    <p:sldId id="997" r:id="rId16"/>
    <p:sldId id="1005" r:id="rId17"/>
    <p:sldId id="1006" r:id="rId18"/>
    <p:sldId id="990" r:id="rId19"/>
    <p:sldId id="998" r:id="rId20"/>
    <p:sldId id="999" r:id="rId21"/>
    <p:sldId id="1000" r:id="rId22"/>
    <p:sldId id="991" r:id="rId23"/>
    <p:sldId id="1001" r:id="rId24"/>
    <p:sldId id="1002" r:id="rId25"/>
    <p:sldId id="1003" r:id="rId26"/>
    <p:sldId id="9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long duan" initials="md" lastIdx="4" clrIdx="0">
    <p:extLst>
      <p:ext uri="{19B8F6BF-5375-455C-9EA6-DF929625EA0E}">
        <p15:presenceInfo xmlns:p15="http://schemas.microsoft.com/office/powerpoint/2012/main" userId="94a0821127874e6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4B8E"/>
    <a:srgbClr val="FFC000"/>
    <a:srgbClr val="FFF2CC"/>
    <a:srgbClr val="CE9310"/>
    <a:srgbClr val="07008F"/>
    <a:srgbClr val="FFFFBF"/>
    <a:srgbClr val="000000"/>
    <a:srgbClr val="0C2B57"/>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61" autoAdjust="0"/>
    <p:restoredTop sz="80158" autoAdjust="0"/>
  </p:normalViewPr>
  <p:slideViewPr>
    <p:cSldViewPr snapToGrid="0">
      <p:cViewPr>
        <p:scale>
          <a:sx n="99" d="100"/>
          <a:sy n="99" d="100"/>
        </p:scale>
        <p:origin x="1152" y="104"/>
      </p:cViewPr>
      <p:guideLst/>
    </p:cSldViewPr>
  </p:slideViewPr>
  <p:notesTextViewPr>
    <p:cViewPr>
      <p:scale>
        <a:sx n="125" d="100"/>
        <a:sy n="125" d="100"/>
      </p:scale>
      <p:origin x="0" y="0"/>
    </p:cViewPr>
  </p:notesTextViewPr>
  <p:notesViewPr>
    <p:cSldViewPr snapToGrid="0">
      <p:cViewPr varScale="1">
        <p:scale>
          <a:sx n="65" d="100"/>
          <a:sy n="65" d="100"/>
        </p:scale>
        <p:origin x="2299"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5E2EA2-1507-441B-AB65-9724F6102F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961064D-D0AC-446C-8ADD-54A877ED5C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7DB61E-2CF8-4549-AF13-FB4869B913E3}" type="datetimeFigureOut">
              <a:rPr lang="en-US" smtClean="0"/>
              <a:t>12/9/25</a:t>
            </a:fld>
            <a:endParaRPr lang="en-US"/>
          </a:p>
        </p:txBody>
      </p:sp>
      <p:sp>
        <p:nvSpPr>
          <p:cNvPr id="4" name="Footer Placeholder 3">
            <a:extLst>
              <a:ext uri="{FF2B5EF4-FFF2-40B4-BE49-F238E27FC236}">
                <a16:creationId xmlns:a16="http://schemas.microsoft.com/office/drawing/2014/main" id="{7391874D-8771-4992-B111-38C0FB99E4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4FFD41B-B981-4E18-A1A6-B3FDA78FDD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A5D907-99F2-48C6-9F49-260B7A903761}" type="slidenum">
              <a:rPr lang="en-US" smtClean="0"/>
              <a:t>‹#›</a:t>
            </a:fld>
            <a:endParaRPr lang="en-US"/>
          </a:p>
        </p:txBody>
      </p:sp>
    </p:spTree>
    <p:extLst>
      <p:ext uri="{BB962C8B-B14F-4D97-AF65-F5344CB8AC3E}">
        <p14:creationId xmlns:p14="http://schemas.microsoft.com/office/powerpoint/2010/main" val="2491335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D529BB-752B-4CBA-92B3-C468FFD484DD}"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359E3-4A52-4EC8-A1CD-941AA7014FA2}" type="slidenum">
              <a:rPr lang="en-US" smtClean="0"/>
              <a:t>‹#›</a:t>
            </a:fld>
            <a:endParaRPr lang="en-US"/>
          </a:p>
        </p:txBody>
      </p:sp>
    </p:spTree>
    <p:extLst>
      <p:ext uri="{BB962C8B-B14F-4D97-AF65-F5344CB8AC3E}">
        <p14:creationId xmlns:p14="http://schemas.microsoft.com/office/powerpoint/2010/main" val="369562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a:t>
            </a:fld>
            <a:endParaRPr lang="en-US" dirty="0"/>
          </a:p>
        </p:txBody>
      </p:sp>
    </p:spTree>
    <p:extLst>
      <p:ext uri="{BB962C8B-B14F-4D97-AF65-F5344CB8AC3E}">
        <p14:creationId xmlns:p14="http://schemas.microsoft.com/office/powerpoint/2010/main" val="1859528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2</a:t>
            </a:fld>
            <a:endParaRPr lang="en-US"/>
          </a:p>
        </p:txBody>
      </p:sp>
    </p:spTree>
    <p:extLst>
      <p:ext uri="{BB962C8B-B14F-4D97-AF65-F5344CB8AC3E}">
        <p14:creationId xmlns:p14="http://schemas.microsoft.com/office/powerpoint/2010/main" val="196813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3</a:t>
            </a:fld>
            <a:endParaRPr lang="en-US"/>
          </a:p>
        </p:txBody>
      </p:sp>
    </p:spTree>
    <p:extLst>
      <p:ext uri="{BB962C8B-B14F-4D97-AF65-F5344CB8AC3E}">
        <p14:creationId xmlns:p14="http://schemas.microsoft.com/office/powerpoint/2010/main" val="2103304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4</a:t>
            </a:fld>
            <a:endParaRPr lang="en-US"/>
          </a:p>
        </p:txBody>
      </p:sp>
    </p:spTree>
    <p:extLst>
      <p:ext uri="{BB962C8B-B14F-4D97-AF65-F5344CB8AC3E}">
        <p14:creationId xmlns:p14="http://schemas.microsoft.com/office/powerpoint/2010/main" val="458753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5</a:t>
            </a:fld>
            <a:endParaRPr lang="en-US"/>
          </a:p>
        </p:txBody>
      </p:sp>
    </p:spTree>
    <p:extLst>
      <p:ext uri="{BB962C8B-B14F-4D97-AF65-F5344CB8AC3E}">
        <p14:creationId xmlns:p14="http://schemas.microsoft.com/office/powerpoint/2010/main" val="207485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6</a:t>
            </a:fld>
            <a:endParaRPr lang="en-US"/>
          </a:p>
        </p:txBody>
      </p:sp>
    </p:spTree>
    <p:extLst>
      <p:ext uri="{BB962C8B-B14F-4D97-AF65-F5344CB8AC3E}">
        <p14:creationId xmlns:p14="http://schemas.microsoft.com/office/powerpoint/2010/main" val="3411598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7</a:t>
            </a:fld>
            <a:endParaRPr lang="en-US"/>
          </a:p>
        </p:txBody>
      </p:sp>
    </p:spTree>
    <p:extLst>
      <p:ext uri="{BB962C8B-B14F-4D97-AF65-F5344CB8AC3E}">
        <p14:creationId xmlns:p14="http://schemas.microsoft.com/office/powerpoint/2010/main" val="693366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8</a:t>
            </a:fld>
            <a:endParaRPr lang="en-US"/>
          </a:p>
        </p:txBody>
      </p:sp>
    </p:spTree>
    <p:extLst>
      <p:ext uri="{BB962C8B-B14F-4D97-AF65-F5344CB8AC3E}">
        <p14:creationId xmlns:p14="http://schemas.microsoft.com/office/powerpoint/2010/main" val="1461042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9</a:t>
            </a:fld>
            <a:endParaRPr lang="en-US"/>
          </a:p>
        </p:txBody>
      </p:sp>
    </p:spTree>
    <p:extLst>
      <p:ext uri="{BB962C8B-B14F-4D97-AF65-F5344CB8AC3E}">
        <p14:creationId xmlns:p14="http://schemas.microsoft.com/office/powerpoint/2010/main" val="797243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10</a:t>
            </a:fld>
            <a:endParaRPr lang="en-US"/>
          </a:p>
        </p:txBody>
      </p:sp>
    </p:spTree>
    <p:extLst>
      <p:ext uri="{BB962C8B-B14F-4D97-AF65-F5344CB8AC3E}">
        <p14:creationId xmlns:p14="http://schemas.microsoft.com/office/powerpoint/2010/main" val="1667246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11</a:t>
            </a:fld>
            <a:endParaRPr lang="en-US"/>
          </a:p>
        </p:txBody>
      </p:sp>
    </p:spTree>
    <p:extLst>
      <p:ext uri="{BB962C8B-B14F-4D97-AF65-F5344CB8AC3E}">
        <p14:creationId xmlns:p14="http://schemas.microsoft.com/office/powerpoint/2010/main" val="3094724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12</a:t>
            </a:fld>
            <a:endParaRPr lang="en-US"/>
          </a:p>
        </p:txBody>
      </p:sp>
    </p:spTree>
    <p:extLst>
      <p:ext uri="{BB962C8B-B14F-4D97-AF65-F5344CB8AC3E}">
        <p14:creationId xmlns:p14="http://schemas.microsoft.com/office/powerpoint/2010/main" val="4130528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13</a:t>
            </a:fld>
            <a:endParaRPr lang="en-US"/>
          </a:p>
        </p:txBody>
      </p:sp>
    </p:spTree>
    <p:extLst>
      <p:ext uri="{BB962C8B-B14F-4D97-AF65-F5344CB8AC3E}">
        <p14:creationId xmlns:p14="http://schemas.microsoft.com/office/powerpoint/2010/main" val="13235764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A8DEF-2F5F-9C33-2718-F549F640F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E4B0D-E194-00A9-9EF4-8BE94EB3A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A932B-F0F3-8E79-D577-8D99D01C36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6B75AB-0C31-DB1C-BCE6-40E8CB8A3C35}"/>
              </a:ext>
            </a:extLst>
          </p:cNvPr>
          <p:cNvSpPr>
            <a:spLocks noGrp="1"/>
          </p:cNvSpPr>
          <p:nvPr>
            <p:ph type="sldNum" sz="quarter" idx="5"/>
          </p:nvPr>
        </p:nvSpPr>
        <p:spPr/>
        <p:txBody>
          <a:bodyPr/>
          <a:lstStyle/>
          <a:p>
            <a:fld id="{C9D359E3-4A52-4EC8-A1CD-941AA7014FA2}" type="slidenum">
              <a:rPr lang="en-US" smtClean="0"/>
              <a:t>14</a:t>
            </a:fld>
            <a:endParaRPr lang="en-US"/>
          </a:p>
        </p:txBody>
      </p:sp>
    </p:spTree>
    <p:extLst>
      <p:ext uri="{BB962C8B-B14F-4D97-AF65-F5344CB8AC3E}">
        <p14:creationId xmlns:p14="http://schemas.microsoft.com/office/powerpoint/2010/main" val="575695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15</a:t>
            </a:fld>
            <a:endParaRPr lang="en-US"/>
          </a:p>
        </p:txBody>
      </p:sp>
    </p:spTree>
    <p:extLst>
      <p:ext uri="{BB962C8B-B14F-4D97-AF65-F5344CB8AC3E}">
        <p14:creationId xmlns:p14="http://schemas.microsoft.com/office/powerpoint/2010/main" val="1798954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16</a:t>
            </a:fld>
            <a:endParaRPr lang="en-US"/>
          </a:p>
        </p:txBody>
      </p:sp>
    </p:spTree>
    <p:extLst>
      <p:ext uri="{BB962C8B-B14F-4D97-AF65-F5344CB8AC3E}">
        <p14:creationId xmlns:p14="http://schemas.microsoft.com/office/powerpoint/2010/main" val="3007676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17</a:t>
            </a:fld>
            <a:endParaRPr lang="en-US"/>
          </a:p>
        </p:txBody>
      </p:sp>
    </p:spTree>
    <p:extLst>
      <p:ext uri="{BB962C8B-B14F-4D97-AF65-F5344CB8AC3E}">
        <p14:creationId xmlns:p14="http://schemas.microsoft.com/office/powerpoint/2010/main" val="885207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18</a:t>
            </a:fld>
            <a:endParaRPr lang="en-US"/>
          </a:p>
        </p:txBody>
      </p:sp>
    </p:spTree>
    <p:extLst>
      <p:ext uri="{BB962C8B-B14F-4D97-AF65-F5344CB8AC3E}">
        <p14:creationId xmlns:p14="http://schemas.microsoft.com/office/powerpoint/2010/main" val="3806630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19</a:t>
            </a:fld>
            <a:endParaRPr lang="en-US"/>
          </a:p>
        </p:txBody>
      </p:sp>
    </p:spTree>
    <p:extLst>
      <p:ext uri="{BB962C8B-B14F-4D97-AF65-F5344CB8AC3E}">
        <p14:creationId xmlns:p14="http://schemas.microsoft.com/office/powerpoint/2010/main" val="374561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20</a:t>
            </a:fld>
            <a:endParaRPr lang="en-US"/>
          </a:p>
        </p:txBody>
      </p:sp>
    </p:spTree>
    <p:extLst>
      <p:ext uri="{BB962C8B-B14F-4D97-AF65-F5344CB8AC3E}">
        <p14:creationId xmlns:p14="http://schemas.microsoft.com/office/powerpoint/2010/main" val="3401132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21</a:t>
            </a:fld>
            <a:endParaRPr lang="en-US"/>
          </a:p>
        </p:txBody>
      </p:sp>
    </p:spTree>
    <p:extLst>
      <p:ext uri="{BB962C8B-B14F-4D97-AF65-F5344CB8AC3E}">
        <p14:creationId xmlns:p14="http://schemas.microsoft.com/office/powerpoint/2010/main" val="1248078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22</a:t>
            </a:fld>
            <a:endParaRPr lang="en-US"/>
          </a:p>
        </p:txBody>
      </p:sp>
    </p:spTree>
    <p:extLst>
      <p:ext uri="{BB962C8B-B14F-4D97-AF65-F5344CB8AC3E}">
        <p14:creationId xmlns:p14="http://schemas.microsoft.com/office/powerpoint/2010/main" val="11846442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D359E3-4A52-4EC8-A1CD-941AA7014FA2}" type="slidenum">
              <a:rPr lang="en-US" smtClean="0"/>
              <a:t>23</a:t>
            </a:fld>
            <a:endParaRPr lang="en-US"/>
          </a:p>
        </p:txBody>
      </p:sp>
    </p:spTree>
    <p:extLst>
      <p:ext uri="{BB962C8B-B14F-4D97-AF65-F5344CB8AC3E}">
        <p14:creationId xmlns:p14="http://schemas.microsoft.com/office/powerpoint/2010/main" val="1064196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44DAF-1BEF-4367-A332-BB2910C58628}"/>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F21A0C46-3046-419E-BACE-219C6DF97A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D34C98-99AE-467F-BF22-2725208E872D}"/>
              </a:ext>
            </a:extLst>
          </p:cNvPr>
          <p:cNvSpPr>
            <a:spLocks noGrp="1"/>
          </p:cNvSpPr>
          <p:nvPr>
            <p:ph type="dt" sz="half" idx="10"/>
          </p:nvPr>
        </p:nvSpPr>
        <p:spPr/>
        <p:txBody>
          <a:bodyPr/>
          <a:lstStyle/>
          <a:p>
            <a:fld id="{AB9DB28D-C128-434D-8C36-BEFF92041644}" type="datetime1">
              <a:rPr lang="en-US" smtClean="0"/>
              <a:t>12/9/25</a:t>
            </a:fld>
            <a:endParaRPr lang="en-US"/>
          </a:p>
        </p:txBody>
      </p:sp>
      <p:sp>
        <p:nvSpPr>
          <p:cNvPr id="5" name="Footer Placeholder 4">
            <a:extLst>
              <a:ext uri="{FF2B5EF4-FFF2-40B4-BE49-F238E27FC236}">
                <a16:creationId xmlns:a16="http://schemas.microsoft.com/office/drawing/2014/main" id="{63547DA4-E12B-40DB-A8EA-9533FA9BF0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28CB5-94B6-48A0-9B7C-36DEC657B333}"/>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88876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B2645-5B55-49A5-85D1-2CDC071151F4}"/>
              </a:ext>
            </a:extLst>
          </p:cNvPr>
          <p:cNvSpPr>
            <a:spLocks noGrp="1"/>
          </p:cNvSpPr>
          <p:nvPr>
            <p:ph type="title"/>
          </p:nvPr>
        </p:nvSpPr>
        <p:spPr>
          <a:xfrm>
            <a:off x="838200" y="365125"/>
            <a:ext cx="10515600" cy="61023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20DF5C0-4520-4D96-8DFA-03F1EA22CC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CC11C6-C82C-4488-BC2E-83C03475F93F}"/>
              </a:ext>
            </a:extLst>
          </p:cNvPr>
          <p:cNvSpPr>
            <a:spLocks noGrp="1"/>
          </p:cNvSpPr>
          <p:nvPr>
            <p:ph type="dt" sz="half" idx="10"/>
          </p:nvPr>
        </p:nvSpPr>
        <p:spPr/>
        <p:txBody>
          <a:bodyPr/>
          <a:lstStyle/>
          <a:p>
            <a:fld id="{672F3A1C-DFBE-40D2-ADCD-A8B2E7396158}" type="datetime1">
              <a:rPr lang="en-US" smtClean="0"/>
              <a:t>12/9/25</a:t>
            </a:fld>
            <a:endParaRPr lang="en-US"/>
          </a:p>
        </p:txBody>
      </p:sp>
      <p:sp>
        <p:nvSpPr>
          <p:cNvPr id="5" name="Footer Placeholder 4">
            <a:extLst>
              <a:ext uri="{FF2B5EF4-FFF2-40B4-BE49-F238E27FC236}">
                <a16:creationId xmlns:a16="http://schemas.microsoft.com/office/drawing/2014/main" id="{BF7FD147-F79D-4521-A86D-EB12AB9A5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73777F-D326-4037-9D12-EF4BF05AFD33}"/>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827167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A56C-2736-4194-9E94-B52A71E4C6A8}"/>
              </a:ext>
            </a:extLst>
          </p:cNvPr>
          <p:cNvSpPr>
            <a:spLocks noGrp="1"/>
          </p:cNvSpPr>
          <p:nvPr>
            <p:ph type="title"/>
          </p:nvPr>
        </p:nvSpPr>
        <p:spPr>
          <a:xfrm>
            <a:off x="831850" y="1709738"/>
            <a:ext cx="10515600" cy="2852737"/>
          </a:xfrm>
        </p:spPr>
        <p:txBody>
          <a:bodyPr anchor="b">
            <a:normAutofit/>
          </a:bodyPr>
          <a:lstStyle>
            <a:lvl1pPr algn="l">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E2201A1A-9500-4AFA-A8DC-2E627506DF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91F851-5A64-4279-9844-D563986127E1}"/>
              </a:ext>
            </a:extLst>
          </p:cNvPr>
          <p:cNvSpPr>
            <a:spLocks noGrp="1"/>
          </p:cNvSpPr>
          <p:nvPr>
            <p:ph type="dt" sz="half" idx="10"/>
          </p:nvPr>
        </p:nvSpPr>
        <p:spPr/>
        <p:txBody>
          <a:bodyPr/>
          <a:lstStyle/>
          <a:p>
            <a:fld id="{B5C587A3-AB56-4E65-AF0C-A016C71E84F6}" type="datetime1">
              <a:rPr lang="en-US" smtClean="0"/>
              <a:t>12/9/25</a:t>
            </a:fld>
            <a:endParaRPr lang="en-US"/>
          </a:p>
        </p:txBody>
      </p:sp>
      <p:sp>
        <p:nvSpPr>
          <p:cNvPr id="5" name="Footer Placeholder 4">
            <a:extLst>
              <a:ext uri="{FF2B5EF4-FFF2-40B4-BE49-F238E27FC236}">
                <a16:creationId xmlns:a16="http://schemas.microsoft.com/office/drawing/2014/main" id="{38AD0E79-808F-484B-ABD3-7F97B99AD1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B5EB3-A263-4A5E-BA17-DED6A62E8E39}"/>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108395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970B7-EB4E-4D56-AF81-C276CF9232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85A7E37-8FCC-4785-AA08-63A528385854}"/>
              </a:ext>
            </a:extLst>
          </p:cNvPr>
          <p:cNvSpPr>
            <a:spLocks noGrp="1"/>
          </p:cNvSpPr>
          <p:nvPr>
            <p:ph sz="half" idx="1"/>
          </p:nvPr>
        </p:nvSpPr>
        <p:spPr>
          <a:xfrm>
            <a:off x="838200" y="1070919"/>
            <a:ext cx="5181600" cy="51060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A7C0824-9678-48CA-88A1-221053972AC8}"/>
              </a:ext>
            </a:extLst>
          </p:cNvPr>
          <p:cNvSpPr>
            <a:spLocks noGrp="1"/>
          </p:cNvSpPr>
          <p:nvPr>
            <p:ph sz="half" idx="2"/>
          </p:nvPr>
        </p:nvSpPr>
        <p:spPr>
          <a:xfrm>
            <a:off x="6172200" y="1070919"/>
            <a:ext cx="5181600" cy="51060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319399-E893-408A-A888-F913103D1DFF}"/>
              </a:ext>
            </a:extLst>
          </p:cNvPr>
          <p:cNvSpPr>
            <a:spLocks noGrp="1"/>
          </p:cNvSpPr>
          <p:nvPr>
            <p:ph type="dt" sz="half" idx="10"/>
          </p:nvPr>
        </p:nvSpPr>
        <p:spPr/>
        <p:txBody>
          <a:bodyPr/>
          <a:lstStyle/>
          <a:p>
            <a:fld id="{2D051C02-5035-446E-94E1-F775C8507F0A}" type="datetime1">
              <a:rPr lang="en-US" smtClean="0"/>
              <a:t>12/9/25</a:t>
            </a:fld>
            <a:endParaRPr lang="en-US"/>
          </a:p>
        </p:txBody>
      </p:sp>
      <p:sp>
        <p:nvSpPr>
          <p:cNvPr id="6" name="Footer Placeholder 5">
            <a:extLst>
              <a:ext uri="{FF2B5EF4-FFF2-40B4-BE49-F238E27FC236}">
                <a16:creationId xmlns:a16="http://schemas.microsoft.com/office/drawing/2014/main" id="{500F5AE5-E4F1-48C6-9C25-EF8E63D325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08C0B-AC32-4C48-9CE1-F02C03CC5D8E}"/>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945652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FE39D-80BF-4EC0-9575-CF419A4D6ABE}"/>
              </a:ext>
            </a:extLst>
          </p:cNvPr>
          <p:cNvSpPr>
            <a:spLocks noGrp="1"/>
          </p:cNvSpPr>
          <p:nvPr>
            <p:ph type="title"/>
          </p:nvPr>
        </p:nvSpPr>
        <p:spPr>
          <a:xfrm>
            <a:off x="839788" y="365125"/>
            <a:ext cx="10515600" cy="655955"/>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57E49F-C533-4DE3-8428-92AFFD13CB89}"/>
              </a:ext>
            </a:extLst>
          </p:cNvPr>
          <p:cNvSpPr>
            <a:spLocks noGrp="1"/>
          </p:cNvSpPr>
          <p:nvPr>
            <p:ph type="body" idx="1"/>
          </p:nvPr>
        </p:nvSpPr>
        <p:spPr>
          <a:xfrm>
            <a:off x="839788" y="1124586"/>
            <a:ext cx="5157787" cy="4323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D558CA-9D4C-4369-8D1E-DEC18C502CC7}"/>
              </a:ext>
            </a:extLst>
          </p:cNvPr>
          <p:cNvSpPr>
            <a:spLocks noGrp="1"/>
          </p:cNvSpPr>
          <p:nvPr>
            <p:ph sz="half" idx="2"/>
          </p:nvPr>
        </p:nvSpPr>
        <p:spPr>
          <a:xfrm>
            <a:off x="839788" y="1660457"/>
            <a:ext cx="5157787" cy="45292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E3BB5A2-BF0E-4A66-964A-6AF391CAC187}"/>
              </a:ext>
            </a:extLst>
          </p:cNvPr>
          <p:cNvSpPr>
            <a:spLocks noGrp="1"/>
          </p:cNvSpPr>
          <p:nvPr>
            <p:ph type="body" sz="quarter" idx="3"/>
          </p:nvPr>
        </p:nvSpPr>
        <p:spPr>
          <a:xfrm>
            <a:off x="6172200" y="1124586"/>
            <a:ext cx="5183188" cy="4323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F7CB56-296A-4F48-AFCB-4D16A73CA198}"/>
              </a:ext>
            </a:extLst>
          </p:cNvPr>
          <p:cNvSpPr>
            <a:spLocks noGrp="1"/>
          </p:cNvSpPr>
          <p:nvPr>
            <p:ph sz="quarter" idx="4"/>
          </p:nvPr>
        </p:nvSpPr>
        <p:spPr>
          <a:xfrm>
            <a:off x="6172200" y="1660457"/>
            <a:ext cx="5183188" cy="4529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844E71-FFC1-4288-99EA-D0AE64C9FB9B}"/>
              </a:ext>
            </a:extLst>
          </p:cNvPr>
          <p:cNvSpPr>
            <a:spLocks noGrp="1"/>
          </p:cNvSpPr>
          <p:nvPr>
            <p:ph type="dt" sz="half" idx="10"/>
          </p:nvPr>
        </p:nvSpPr>
        <p:spPr/>
        <p:txBody>
          <a:bodyPr/>
          <a:lstStyle/>
          <a:p>
            <a:fld id="{1E092E87-BCC7-4CD3-A613-BD48D36CD97E}" type="datetime1">
              <a:rPr lang="en-US" smtClean="0"/>
              <a:t>12/9/25</a:t>
            </a:fld>
            <a:endParaRPr lang="en-US"/>
          </a:p>
        </p:txBody>
      </p:sp>
      <p:sp>
        <p:nvSpPr>
          <p:cNvPr id="8" name="Footer Placeholder 7">
            <a:extLst>
              <a:ext uri="{FF2B5EF4-FFF2-40B4-BE49-F238E27FC236}">
                <a16:creationId xmlns:a16="http://schemas.microsoft.com/office/drawing/2014/main" id="{479AC8FB-F59B-452D-BE7E-40700B11EA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E1964E-2CF3-44D3-8E8B-3763DF65C8BF}"/>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1194029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9552A-0D4D-4D2E-A80B-8FCA2BE2D6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716450-00DE-4474-96DF-948CD74AE796}"/>
              </a:ext>
            </a:extLst>
          </p:cNvPr>
          <p:cNvSpPr>
            <a:spLocks noGrp="1"/>
          </p:cNvSpPr>
          <p:nvPr>
            <p:ph type="dt" sz="half" idx="10"/>
          </p:nvPr>
        </p:nvSpPr>
        <p:spPr/>
        <p:txBody>
          <a:bodyPr/>
          <a:lstStyle/>
          <a:p>
            <a:fld id="{F69C51A7-06B3-4D84-9143-159AABCB6B8B}" type="datetime1">
              <a:rPr lang="en-US" smtClean="0"/>
              <a:t>12/9/25</a:t>
            </a:fld>
            <a:endParaRPr lang="en-US"/>
          </a:p>
        </p:txBody>
      </p:sp>
      <p:sp>
        <p:nvSpPr>
          <p:cNvPr id="4" name="Footer Placeholder 3">
            <a:extLst>
              <a:ext uri="{FF2B5EF4-FFF2-40B4-BE49-F238E27FC236}">
                <a16:creationId xmlns:a16="http://schemas.microsoft.com/office/drawing/2014/main" id="{2DC31B22-15D5-4002-9CE1-13C4522457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A8AAFB-3B38-46A1-890F-3190D95FFDB6}"/>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3699067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4FA2B8-9731-4499-9F6F-78CA5408111C}"/>
              </a:ext>
            </a:extLst>
          </p:cNvPr>
          <p:cNvSpPr>
            <a:spLocks noGrp="1"/>
          </p:cNvSpPr>
          <p:nvPr>
            <p:ph type="dt" sz="half" idx="10"/>
          </p:nvPr>
        </p:nvSpPr>
        <p:spPr/>
        <p:txBody>
          <a:bodyPr/>
          <a:lstStyle/>
          <a:p>
            <a:fld id="{E357427E-0210-41AA-B56B-3574FCC6331A}" type="datetime1">
              <a:rPr lang="en-US" smtClean="0"/>
              <a:t>12/9/25</a:t>
            </a:fld>
            <a:endParaRPr lang="en-US"/>
          </a:p>
        </p:txBody>
      </p:sp>
      <p:sp>
        <p:nvSpPr>
          <p:cNvPr id="3" name="Footer Placeholder 2">
            <a:extLst>
              <a:ext uri="{FF2B5EF4-FFF2-40B4-BE49-F238E27FC236}">
                <a16:creationId xmlns:a16="http://schemas.microsoft.com/office/drawing/2014/main" id="{0C3D6447-96A6-4F98-A16C-F09DBE5DF4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01F050-3A5D-4475-AFC3-3BD5CC2878C1}"/>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145205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21724-8E0F-422C-8757-BE5AA5BA9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DCB426-A2EF-4123-B3DA-5D3933C2AD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98D55D-2129-4519-9EE9-4091B3BC4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391F96-5F21-489F-B61B-8D251C638022}"/>
              </a:ext>
            </a:extLst>
          </p:cNvPr>
          <p:cNvSpPr>
            <a:spLocks noGrp="1"/>
          </p:cNvSpPr>
          <p:nvPr>
            <p:ph type="dt" sz="half" idx="10"/>
          </p:nvPr>
        </p:nvSpPr>
        <p:spPr/>
        <p:txBody>
          <a:bodyPr/>
          <a:lstStyle/>
          <a:p>
            <a:fld id="{85F11B3D-393A-4DB3-A8D6-DD8339DC1180}" type="datetime1">
              <a:rPr lang="en-US" smtClean="0"/>
              <a:t>12/9/25</a:t>
            </a:fld>
            <a:endParaRPr lang="en-US"/>
          </a:p>
        </p:txBody>
      </p:sp>
      <p:sp>
        <p:nvSpPr>
          <p:cNvPr id="6" name="Footer Placeholder 5">
            <a:extLst>
              <a:ext uri="{FF2B5EF4-FFF2-40B4-BE49-F238E27FC236}">
                <a16:creationId xmlns:a16="http://schemas.microsoft.com/office/drawing/2014/main" id="{C2F0DC57-CFDD-4768-9B78-79538172F9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98B2E2-A5E5-4439-9565-3671175D5BF7}"/>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10345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4DE81-6C2B-4E46-B3F0-3E4475A693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2F3686-7472-437B-8791-4E2C1A6C95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2CBD10-D3C4-4736-95A3-27FD1A36E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15ED0-27F8-4260-B561-A4F7451F703E}"/>
              </a:ext>
            </a:extLst>
          </p:cNvPr>
          <p:cNvSpPr>
            <a:spLocks noGrp="1"/>
          </p:cNvSpPr>
          <p:nvPr>
            <p:ph type="dt" sz="half" idx="10"/>
          </p:nvPr>
        </p:nvSpPr>
        <p:spPr/>
        <p:txBody>
          <a:bodyPr/>
          <a:lstStyle/>
          <a:p>
            <a:fld id="{16673183-B635-4D83-9566-5380242EB979}" type="datetime1">
              <a:rPr lang="en-US" smtClean="0"/>
              <a:t>12/9/25</a:t>
            </a:fld>
            <a:endParaRPr lang="en-US"/>
          </a:p>
        </p:txBody>
      </p:sp>
      <p:sp>
        <p:nvSpPr>
          <p:cNvPr id="6" name="Footer Placeholder 5">
            <a:extLst>
              <a:ext uri="{FF2B5EF4-FFF2-40B4-BE49-F238E27FC236}">
                <a16:creationId xmlns:a16="http://schemas.microsoft.com/office/drawing/2014/main" id="{300E268C-F858-418A-A340-7555FA0E32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875B5A-34A3-4BBE-9DDC-CD9322342A97}"/>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4141909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55A60-8F76-46A3-9DC8-E9C9249586BF}"/>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A735369D-5D6E-446E-B779-62A246ABEE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5466D6-347F-4F2B-B12A-72A8E3BD3AC5}"/>
              </a:ext>
            </a:extLst>
          </p:cNvPr>
          <p:cNvSpPr>
            <a:spLocks noGrp="1"/>
          </p:cNvSpPr>
          <p:nvPr>
            <p:ph type="dt" sz="half" idx="10"/>
          </p:nvPr>
        </p:nvSpPr>
        <p:spPr/>
        <p:txBody>
          <a:bodyPr/>
          <a:lstStyle/>
          <a:p>
            <a:fld id="{9D673C5A-40CD-4CD5-9504-914647093314}" type="datetime1">
              <a:rPr lang="en-US" smtClean="0"/>
              <a:t>12/9/25</a:t>
            </a:fld>
            <a:endParaRPr lang="en-US"/>
          </a:p>
        </p:txBody>
      </p:sp>
      <p:sp>
        <p:nvSpPr>
          <p:cNvPr id="5" name="Footer Placeholder 4">
            <a:extLst>
              <a:ext uri="{FF2B5EF4-FFF2-40B4-BE49-F238E27FC236}">
                <a16:creationId xmlns:a16="http://schemas.microsoft.com/office/drawing/2014/main" id="{130F7E6F-A9BE-4EBD-9578-A3D85E00D8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66413-94CF-44F4-89B5-CD957DADF286}"/>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4269716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5C6900-C2EC-45C5-AD7A-740E23B030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3A60DD-0378-4F2A-A964-AAEDEA27B1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C32523-61D0-4AE4-BEA4-31A3AB7C5909}"/>
              </a:ext>
            </a:extLst>
          </p:cNvPr>
          <p:cNvSpPr>
            <a:spLocks noGrp="1"/>
          </p:cNvSpPr>
          <p:nvPr>
            <p:ph type="dt" sz="half" idx="10"/>
          </p:nvPr>
        </p:nvSpPr>
        <p:spPr/>
        <p:txBody>
          <a:bodyPr/>
          <a:lstStyle/>
          <a:p>
            <a:fld id="{EDA6D0D2-08FB-4753-BABB-6C3AB2126FC7}" type="datetime1">
              <a:rPr lang="en-US" smtClean="0"/>
              <a:t>12/9/25</a:t>
            </a:fld>
            <a:endParaRPr lang="en-US"/>
          </a:p>
        </p:txBody>
      </p:sp>
      <p:sp>
        <p:nvSpPr>
          <p:cNvPr id="5" name="Footer Placeholder 4">
            <a:extLst>
              <a:ext uri="{FF2B5EF4-FFF2-40B4-BE49-F238E27FC236}">
                <a16:creationId xmlns:a16="http://schemas.microsoft.com/office/drawing/2014/main" id="{B4CBBAED-0A35-439A-86EC-9B0C3F53C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D0C082-A19C-49A5-A2FB-2CAB991563CB}"/>
              </a:ext>
            </a:extLst>
          </p:cNvPr>
          <p:cNvSpPr>
            <a:spLocks noGrp="1"/>
          </p:cNvSpPr>
          <p:nvPr>
            <p:ph type="sldNum" sz="quarter" idx="12"/>
          </p:nvPr>
        </p:nvSpPr>
        <p:spPr/>
        <p:txBody>
          <a:bodyPr/>
          <a:lstStyle/>
          <a:p>
            <a:fld id="{F604EB7E-39DE-4DF6-A7F4-895A2CEA7BDE}" type="slidenum">
              <a:rPr lang="en-US" smtClean="0"/>
              <a:t>‹#›</a:t>
            </a:fld>
            <a:endParaRPr lang="en-US"/>
          </a:p>
        </p:txBody>
      </p:sp>
    </p:spTree>
    <p:extLst>
      <p:ext uri="{BB962C8B-B14F-4D97-AF65-F5344CB8AC3E}">
        <p14:creationId xmlns:p14="http://schemas.microsoft.com/office/powerpoint/2010/main" val="2542398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FA0FC1-A2B4-4584-94EB-BDC3D2DF9168}"/>
              </a:ext>
            </a:extLst>
          </p:cNvPr>
          <p:cNvSpPr>
            <a:spLocks noGrp="1"/>
          </p:cNvSpPr>
          <p:nvPr>
            <p:ph type="title"/>
          </p:nvPr>
        </p:nvSpPr>
        <p:spPr>
          <a:xfrm>
            <a:off x="838200" y="365125"/>
            <a:ext cx="10515600" cy="5492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3B7086F-82C0-49AA-BFF0-0BCFC3C6BE68}"/>
              </a:ext>
            </a:extLst>
          </p:cNvPr>
          <p:cNvSpPr>
            <a:spLocks noGrp="1"/>
          </p:cNvSpPr>
          <p:nvPr>
            <p:ph type="body" idx="1"/>
          </p:nvPr>
        </p:nvSpPr>
        <p:spPr>
          <a:xfrm>
            <a:off x="838200" y="1097280"/>
            <a:ext cx="10515600" cy="50796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B37D03E-A820-4A07-AC01-7E6434F53C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B339F1-D259-473B-BE14-061FD0A6E64A}" type="datetime1">
              <a:rPr lang="en-US" smtClean="0"/>
              <a:t>12/9/25</a:t>
            </a:fld>
            <a:endParaRPr lang="en-US"/>
          </a:p>
        </p:txBody>
      </p:sp>
      <p:sp>
        <p:nvSpPr>
          <p:cNvPr id="5" name="Footer Placeholder 4">
            <a:extLst>
              <a:ext uri="{FF2B5EF4-FFF2-40B4-BE49-F238E27FC236}">
                <a16:creationId xmlns:a16="http://schemas.microsoft.com/office/drawing/2014/main" id="{F5DC2A7A-8DE7-4BBC-AC0A-F488E9C007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1F7A5B-6400-4DAD-9CCC-FD57DAD28F28}"/>
              </a:ext>
            </a:extLst>
          </p:cNvPr>
          <p:cNvSpPr>
            <a:spLocks noGrp="1"/>
          </p:cNvSpPr>
          <p:nvPr>
            <p:ph type="sldNum" sz="quarter" idx="4"/>
          </p:nvPr>
        </p:nvSpPr>
        <p:spPr>
          <a:xfrm>
            <a:off x="9448800" y="647890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04EB7E-39DE-4DF6-A7F4-895A2CEA7BDE}" type="slidenum">
              <a:rPr lang="en-US" smtClean="0"/>
              <a:pPr/>
              <a:t>‹#›</a:t>
            </a:fld>
            <a:endParaRPr lang="en-US" dirty="0"/>
          </a:p>
        </p:txBody>
      </p:sp>
    </p:spTree>
    <p:extLst>
      <p:ext uri="{BB962C8B-B14F-4D97-AF65-F5344CB8AC3E}">
        <p14:creationId xmlns:p14="http://schemas.microsoft.com/office/powerpoint/2010/main" val="2016829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b="1" kern="1200" baseline="0">
          <a:solidFill>
            <a:schemeClr val="tx1"/>
          </a:solidFill>
          <a:latin typeface="Arial" panose="020B0604020202020204" pitchFamily="34" charset="0"/>
          <a:ea typeface="SimHei" panose="02010609060101010101" pitchFamily="49" charset="-122"/>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chemeClr val="tx1"/>
          </a:solidFill>
          <a:latin typeface="Arial" panose="020B0604020202020204" pitchFamily="34" charset="0"/>
          <a:ea typeface="SimSun" panose="02010600030101010101" pitchFamily="2" charset="-122"/>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Arial" panose="020B0604020202020204" pitchFamily="34" charset="0"/>
          <a:ea typeface="SimSun" panose="02010600030101010101" pitchFamily="2" charset="-122"/>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1800" kern="1200" baseline="0">
          <a:solidFill>
            <a:schemeClr val="tx1"/>
          </a:solidFill>
          <a:latin typeface="Arial" panose="020B0604020202020204" pitchFamily="34" charset="0"/>
          <a:ea typeface="SimSun" panose="02010600030101010101" pitchFamily="2" charset="-122"/>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Arial" panose="020B0604020202020204" pitchFamily="34" charset="0"/>
          <a:ea typeface="SimSun" panose="02010600030101010101" pitchFamily="2" charset="-122"/>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tx1"/>
          </a:solidFill>
          <a:latin typeface="Arial" panose="020B0604020202020204" pitchFamily="34" charset="0"/>
          <a:ea typeface="SimSun" panose="02010600030101010101" pitchFamily="2"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hariansyah@connect.ust.h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xchenim@connect.ust.h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emf"/></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36158-6678-49EA-BA7A-89EA19A44BE4}"/>
              </a:ext>
            </a:extLst>
          </p:cNvPr>
          <p:cNvSpPr>
            <a:spLocks noGrp="1"/>
          </p:cNvSpPr>
          <p:nvPr>
            <p:ph type="ctrTitle"/>
          </p:nvPr>
        </p:nvSpPr>
        <p:spPr>
          <a:xfrm>
            <a:off x="1113730" y="917589"/>
            <a:ext cx="9964540" cy="2118279"/>
          </a:xfrm>
        </p:spPr>
        <p:txBody>
          <a:bodyPr>
            <a:normAutofit fontScale="90000"/>
          </a:bodyPr>
          <a:lstStyle/>
          <a:p>
            <a:pPr>
              <a:lnSpc>
                <a:spcPct val="107000"/>
              </a:lnSpc>
            </a:pPr>
            <a:br>
              <a:rPr lang="en-US" sz="3600" b="0" dirty="0"/>
            </a:br>
            <a:br>
              <a:rPr lang="en-US" sz="3600" b="0" dirty="0"/>
            </a:br>
            <a:r>
              <a:rPr lang="en-US" sz="3600" dirty="0"/>
              <a:t>Structural Sizing of</a:t>
            </a:r>
            <a:br>
              <a:rPr lang="en-US" sz="3600" dirty="0"/>
            </a:br>
            <a:r>
              <a:rPr lang="en-US" sz="3600" dirty="0"/>
              <a:t>an Aircraft Wing Structure</a:t>
            </a:r>
          </a:p>
        </p:txBody>
      </p:sp>
      <p:sp>
        <p:nvSpPr>
          <p:cNvPr id="3" name="Subtitle 2">
            <a:extLst>
              <a:ext uri="{FF2B5EF4-FFF2-40B4-BE49-F238E27FC236}">
                <a16:creationId xmlns:a16="http://schemas.microsoft.com/office/drawing/2014/main" id="{8AA7C82D-F389-4F29-AE91-90A2416541E2}"/>
              </a:ext>
            </a:extLst>
          </p:cNvPr>
          <p:cNvSpPr>
            <a:spLocks noGrp="1"/>
          </p:cNvSpPr>
          <p:nvPr>
            <p:ph type="subTitle" idx="1"/>
          </p:nvPr>
        </p:nvSpPr>
        <p:spPr>
          <a:xfrm>
            <a:off x="1395952" y="3237903"/>
            <a:ext cx="9400094" cy="1527211"/>
          </a:xfrm>
        </p:spPr>
        <p:txBody>
          <a:bodyPr>
            <a:normAutofit/>
          </a:bodyPr>
          <a:lstStyle/>
          <a:p>
            <a:r>
              <a:rPr lang="en-US" sz="2000" b="1" dirty="0">
                <a:solidFill>
                  <a:schemeClr val="tx2"/>
                </a:solidFill>
              </a:rPr>
              <a:t>Alfiyandy Hariansyah (21023691); Xi Chen (21147100)</a:t>
            </a:r>
          </a:p>
          <a:p>
            <a:r>
              <a:rPr lang="en-US" altLang="zh-CN" sz="2000" dirty="0">
                <a:hlinkClick r:id="rId3"/>
              </a:rPr>
              <a:t>mahariansyah@connect.ust.hk</a:t>
            </a:r>
            <a:r>
              <a:rPr lang="en-US" altLang="zh-CN" sz="2000" dirty="0"/>
              <a:t>; </a:t>
            </a:r>
            <a:r>
              <a:rPr lang="en-US" altLang="zh-CN" sz="2000" dirty="0">
                <a:hlinkClick r:id="rId4"/>
              </a:rPr>
              <a:t>xchenim@connect.ust.hk</a:t>
            </a:r>
            <a:r>
              <a:rPr lang="en-US" altLang="zh-CN" sz="2000" dirty="0"/>
              <a:t> </a:t>
            </a:r>
          </a:p>
          <a:p>
            <a:r>
              <a:rPr lang="en-US" altLang="zh-CN" sz="2000" dirty="0"/>
              <a:t>10-Dec-2025</a:t>
            </a:r>
            <a:endParaRPr lang="en-US" sz="2000" dirty="0"/>
          </a:p>
        </p:txBody>
      </p:sp>
      <p:sp>
        <p:nvSpPr>
          <p:cNvPr id="4" name="Slide Number Placeholder 3">
            <a:extLst>
              <a:ext uri="{FF2B5EF4-FFF2-40B4-BE49-F238E27FC236}">
                <a16:creationId xmlns:a16="http://schemas.microsoft.com/office/drawing/2014/main" id="{DB878D4A-68FE-4123-A63B-06C98AA6B77E}"/>
              </a:ext>
            </a:extLst>
          </p:cNvPr>
          <p:cNvSpPr>
            <a:spLocks noGrp="1"/>
          </p:cNvSpPr>
          <p:nvPr>
            <p:ph type="sldNum" sz="quarter" idx="12"/>
          </p:nvPr>
        </p:nvSpPr>
        <p:spPr/>
        <p:txBody>
          <a:bodyPr/>
          <a:lstStyle/>
          <a:p>
            <a:fld id="{F604EB7E-39DE-4DF6-A7F4-895A2CEA7BDE}" type="slidenum">
              <a:rPr lang="en-US" smtClean="0"/>
              <a:t>1</a:t>
            </a:fld>
            <a:endParaRPr lang="en-US"/>
          </a:p>
        </p:txBody>
      </p:sp>
      <p:sp>
        <p:nvSpPr>
          <p:cNvPr id="77" name="TextBox 76">
            <a:extLst>
              <a:ext uri="{FF2B5EF4-FFF2-40B4-BE49-F238E27FC236}">
                <a16:creationId xmlns:a16="http://schemas.microsoft.com/office/drawing/2014/main" id="{4BF823C7-E80B-4414-A6DA-C9C45B9908F4}"/>
              </a:ext>
            </a:extLst>
          </p:cNvPr>
          <p:cNvSpPr txBox="1"/>
          <p:nvPr/>
        </p:nvSpPr>
        <p:spPr>
          <a:xfrm>
            <a:off x="1267904" y="681184"/>
            <a:ext cx="9839071" cy="523220"/>
          </a:xfrm>
          <a:prstGeom prst="rect">
            <a:avLst/>
          </a:prstGeom>
          <a:noFill/>
        </p:spPr>
        <p:txBody>
          <a:bodyPr wrap="square">
            <a:spAutoFit/>
          </a:bodyPr>
          <a:lstStyle/>
          <a:p>
            <a:r>
              <a:rPr lang="en-US" sz="2800" b="1" i="1" dirty="0">
                <a:solidFill>
                  <a:schemeClr val="tx2"/>
                </a:solidFill>
                <a:latin typeface="Arial" panose="020B0604020202020204" pitchFamily="34" charset="0"/>
                <a:cs typeface="Arial" panose="020B0604020202020204" pitchFamily="34" charset="0"/>
              </a:rPr>
              <a:t>MECH5930 Term-Project Presentation</a:t>
            </a:r>
            <a:endParaRPr lang="en-US" sz="2800" b="1" i="1" dirty="0">
              <a:latin typeface="Arial" panose="020B0604020202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B485ADF7-64E4-463E-9D78-2229DDC39F56}"/>
              </a:ext>
            </a:extLst>
          </p:cNvPr>
          <p:cNvGrpSpPr/>
          <p:nvPr/>
        </p:nvGrpSpPr>
        <p:grpSpPr>
          <a:xfrm>
            <a:off x="1395953" y="5027379"/>
            <a:ext cx="9148163" cy="857835"/>
            <a:chOff x="1554180" y="4902097"/>
            <a:chExt cx="9148163" cy="857835"/>
          </a:xfrm>
        </p:grpSpPr>
        <p:cxnSp>
          <p:nvCxnSpPr>
            <p:cNvPr id="7" name="Straight Connector 6">
              <a:extLst>
                <a:ext uri="{FF2B5EF4-FFF2-40B4-BE49-F238E27FC236}">
                  <a16:creationId xmlns:a16="http://schemas.microsoft.com/office/drawing/2014/main" id="{26B874AD-3F76-4C9A-8B96-5A639C5C303E}"/>
                </a:ext>
              </a:extLst>
            </p:cNvPr>
            <p:cNvCxnSpPr>
              <a:cxnSpLocks/>
            </p:cNvCxnSpPr>
            <p:nvPr/>
          </p:nvCxnSpPr>
          <p:spPr>
            <a:xfrm>
              <a:off x="6365158" y="4902097"/>
              <a:ext cx="0" cy="857835"/>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E2F5F3F-ECFF-4FA0-A552-AE341E9530AB}"/>
                </a:ext>
              </a:extLst>
            </p:cNvPr>
            <p:cNvSpPr txBox="1"/>
            <p:nvPr/>
          </p:nvSpPr>
          <p:spPr>
            <a:xfrm>
              <a:off x="6734543" y="5007849"/>
              <a:ext cx="3967800" cy="646331"/>
            </a:xfrm>
            <a:prstGeom prst="rect">
              <a:avLst/>
            </a:prstGeom>
            <a:noFill/>
          </p:spPr>
          <p:txBody>
            <a:bodyPr wrap="square" rtlCol="0">
              <a:spAutoFit/>
            </a:bodyPr>
            <a:lstStyle/>
            <a:p>
              <a:r>
                <a:rPr lang="en-US" dirty="0">
                  <a:solidFill>
                    <a:schemeClr val="tx2"/>
                  </a:solidFill>
                  <a:latin typeface="Futura-Medium" panose="020B0600000000000000" pitchFamily="34" charset="0"/>
                </a:rPr>
                <a:t>DEPARTMENT OF MECHANICAL AND AEROSPACE ENGINEERING</a:t>
              </a:r>
            </a:p>
          </p:txBody>
        </p:sp>
        <p:grpSp>
          <p:nvGrpSpPr>
            <p:cNvPr id="153" name="群組 53">
              <a:extLst>
                <a:ext uri="{FF2B5EF4-FFF2-40B4-BE49-F238E27FC236}">
                  <a16:creationId xmlns:a16="http://schemas.microsoft.com/office/drawing/2014/main" id="{1FCB0B95-22D3-44CA-AA8B-F1AE6A667800}"/>
                </a:ext>
              </a:extLst>
            </p:cNvPr>
            <p:cNvGrpSpPr/>
            <p:nvPr/>
          </p:nvGrpSpPr>
          <p:grpSpPr>
            <a:xfrm>
              <a:off x="1554180" y="4963746"/>
              <a:ext cx="473794" cy="734536"/>
              <a:chOff x="3914775" y="1325563"/>
              <a:chExt cx="1214438" cy="1882775"/>
            </a:xfrm>
          </p:grpSpPr>
          <p:sp>
            <p:nvSpPr>
              <p:cNvPr id="196" name="AutoShape 48">
                <a:extLst>
                  <a:ext uri="{FF2B5EF4-FFF2-40B4-BE49-F238E27FC236}">
                    <a16:creationId xmlns:a16="http://schemas.microsoft.com/office/drawing/2014/main" id="{2E57647E-56E4-4795-BED3-9424A7FE8F06}"/>
                  </a:ext>
                </a:extLst>
              </p:cNvPr>
              <p:cNvSpPr>
                <a:spLocks noChangeAspect="1" noChangeArrowheads="1" noTextEdit="1"/>
              </p:cNvSpPr>
              <p:nvPr/>
            </p:nvSpPr>
            <p:spPr bwMode="auto">
              <a:xfrm>
                <a:off x="3914775" y="1325563"/>
                <a:ext cx="1214438"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197" name="Freeform 50">
                <a:extLst>
                  <a:ext uri="{FF2B5EF4-FFF2-40B4-BE49-F238E27FC236}">
                    <a16:creationId xmlns:a16="http://schemas.microsoft.com/office/drawing/2014/main" id="{C30AB39C-6483-40DC-8CB6-9DFEDE04BD10}"/>
                  </a:ext>
                </a:extLst>
              </p:cNvPr>
              <p:cNvSpPr>
                <a:spLocks/>
              </p:cNvSpPr>
              <p:nvPr/>
            </p:nvSpPr>
            <p:spPr bwMode="auto">
              <a:xfrm>
                <a:off x="4184650" y="2138363"/>
                <a:ext cx="673100" cy="1069975"/>
              </a:xfrm>
              <a:custGeom>
                <a:avLst/>
                <a:gdLst>
                  <a:gd name="T0" fmla="*/ 979 w 979"/>
                  <a:gd name="T1" fmla="*/ 1556 h 1556"/>
                  <a:gd name="T2" fmla="*/ 659 w 979"/>
                  <a:gd name="T3" fmla="*/ 1022 h 1556"/>
                  <a:gd name="T4" fmla="*/ 649 w 979"/>
                  <a:gd name="T5" fmla="*/ 990 h 1556"/>
                  <a:gd name="T6" fmla="*/ 649 w 979"/>
                  <a:gd name="T7" fmla="*/ 978 h 1556"/>
                  <a:gd name="T8" fmla="*/ 649 w 979"/>
                  <a:gd name="T9" fmla="*/ 950 h 1556"/>
                  <a:gd name="T10" fmla="*/ 649 w 979"/>
                  <a:gd name="T11" fmla="*/ 0 h 1556"/>
                  <a:gd name="T12" fmla="*/ 528 w 979"/>
                  <a:gd name="T13" fmla="*/ 0 h 1556"/>
                  <a:gd name="T14" fmla="*/ 528 w 979"/>
                  <a:gd name="T15" fmla="*/ 991 h 1556"/>
                  <a:gd name="T16" fmla="*/ 528 w 979"/>
                  <a:gd name="T17" fmla="*/ 1021 h 1556"/>
                  <a:gd name="T18" fmla="*/ 740 w 979"/>
                  <a:gd name="T19" fmla="*/ 1375 h 1556"/>
                  <a:gd name="T20" fmla="*/ 240 w 979"/>
                  <a:gd name="T21" fmla="*/ 1375 h 1556"/>
                  <a:gd name="T22" fmla="*/ 452 w 979"/>
                  <a:gd name="T23" fmla="*/ 1021 h 1556"/>
                  <a:gd name="T24" fmla="*/ 452 w 979"/>
                  <a:gd name="T25" fmla="*/ 991 h 1556"/>
                  <a:gd name="T26" fmla="*/ 452 w 979"/>
                  <a:gd name="T27" fmla="*/ 0 h 1556"/>
                  <a:gd name="T28" fmla="*/ 331 w 979"/>
                  <a:gd name="T29" fmla="*/ 0 h 1556"/>
                  <a:gd name="T30" fmla="*/ 331 w 979"/>
                  <a:gd name="T31" fmla="*/ 950 h 1556"/>
                  <a:gd name="T32" fmla="*/ 331 w 979"/>
                  <a:gd name="T33" fmla="*/ 978 h 1556"/>
                  <a:gd name="T34" fmla="*/ 331 w 979"/>
                  <a:gd name="T35" fmla="*/ 990 h 1556"/>
                  <a:gd name="T36" fmla="*/ 321 w 979"/>
                  <a:gd name="T37" fmla="*/ 1022 h 1556"/>
                  <a:gd name="T38" fmla="*/ 0 w 979"/>
                  <a:gd name="T39" fmla="*/ 1556 h 1556"/>
                  <a:gd name="T40" fmla="*/ 979 w 979"/>
                  <a:gd name="T41" fmla="*/ 1556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79" h="1556">
                    <a:moveTo>
                      <a:pt x="979" y="1556"/>
                    </a:moveTo>
                    <a:cubicBezTo>
                      <a:pt x="659" y="1022"/>
                      <a:pt x="659" y="1022"/>
                      <a:pt x="659" y="1022"/>
                    </a:cubicBezTo>
                    <a:cubicBezTo>
                      <a:pt x="659" y="1022"/>
                      <a:pt x="649" y="1010"/>
                      <a:pt x="649" y="990"/>
                    </a:cubicBezTo>
                    <a:cubicBezTo>
                      <a:pt x="649" y="978"/>
                      <a:pt x="649" y="978"/>
                      <a:pt x="649" y="978"/>
                    </a:cubicBezTo>
                    <a:cubicBezTo>
                      <a:pt x="649" y="950"/>
                      <a:pt x="649" y="950"/>
                      <a:pt x="649" y="950"/>
                    </a:cubicBezTo>
                    <a:cubicBezTo>
                      <a:pt x="649" y="0"/>
                      <a:pt x="649" y="0"/>
                      <a:pt x="649" y="0"/>
                    </a:cubicBezTo>
                    <a:cubicBezTo>
                      <a:pt x="528" y="0"/>
                      <a:pt x="528" y="0"/>
                      <a:pt x="528" y="0"/>
                    </a:cubicBezTo>
                    <a:cubicBezTo>
                      <a:pt x="528" y="991"/>
                      <a:pt x="528" y="991"/>
                      <a:pt x="528" y="991"/>
                    </a:cubicBezTo>
                    <a:cubicBezTo>
                      <a:pt x="528" y="1021"/>
                      <a:pt x="528" y="1021"/>
                      <a:pt x="528" y="1021"/>
                    </a:cubicBezTo>
                    <a:cubicBezTo>
                      <a:pt x="538" y="1031"/>
                      <a:pt x="740" y="1375"/>
                      <a:pt x="740" y="1375"/>
                    </a:cubicBezTo>
                    <a:cubicBezTo>
                      <a:pt x="240" y="1375"/>
                      <a:pt x="240" y="1375"/>
                      <a:pt x="240" y="1375"/>
                    </a:cubicBezTo>
                    <a:cubicBezTo>
                      <a:pt x="240" y="1375"/>
                      <a:pt x="441" y="1031"/>
                      <a:pt x="452" y="1021"/>
                    </a:cubicBezTo>
                    <a:cubicBezTo>
                      <a:pt x="452" y="991"/>
                      <a:pt x="452" y="991"/>
                      <a:pt x="452" y="991"/>
                    </a:cubicBezTo>
                    <a:cubicBezTo>
                      <a:pt x="452" y="0"/>
                      <a:pt x="452" y="0"/>
                      <a:pt x="452" y="0"/>
                    </a:cubicBezTo>
                    <a:cubicBezTo>
                      <a:pt x="331" y="0"/>
                      <a:pt x="331" y="0"/>
                      <a:pt x="331" y="0"/>
                    </a:cubicBezTo>
                    <a:cubicBezTo>
                      <a:pt x="331" y="950"/>
                      <a:pt x="331" y="950"/>
                      <a:pt x="331" y="950"/>
                    </a:cubicBezTo>
                    <a:cubicBezTo>
                      <a:pt x="331" y="978"/>
                      <a:pt x="331" y="978"/>
                      <a:pt x="331" y="978"/>
                    </a:cubicBezTo>
                    <a:cubicBezTo>
                      <a:pt x="331" y="990"/>
                      <a:pt x="331" y="990"/>
                      <a:pt x="331" y="990"/>
                    </a:cubicBezTo>
                    <a:cubicBezTo>
                      <a:pt x="331" y="1010"/>
                      <a:pt x="321" y="1022"/>
                      <a:pt x="321" y="1022"/>
                    </a:cubicBezTo>
                    <a:cubicBezTo>
                      <a:pt x="0" y="1556"/>
                      <a:pt x="0" y="1556"/>
                      <a:pt x="0" y="1556"/>
                    </a:cubicBezTo>
                    <a:lnTo>
                      <a:pt x="979" y="1556"/>
                    </a:ln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198" name="Freeform 51">
                <a:extLst>
                  <a:ext uri="{FF2B5EF4-FFF2-40B4-BE49-F238E27FC236}">
                    <a16:creationId xmlns:a16="http://schemas.microsoft.com/office/drawing/2014/main" id="{BF6036D3-2FAA-4370-81A8-8C3B4028CAD0}"/>
                  </a:ext>
                </a:extLst>
              </p:cNvPr>
              <p:cNvSpPr>
                <a:spLocks/>
              </p:cNvSpPr>
              <p:nvPr/>
            </p:nvSpPr>
            <p:spPr bwMode="auto">
              <a:xfrm>
                <a:off x="4216400" y="1325563"/>
                <a:ext cx="614363" cy="336550"/>
              </a:xfrm>
              <a:custGeom>
                <a:avLst/>
                <a:gdLst>
                  <a:gd name="T0" fmla="*/ 834 w 894"/>
                  <a:gd name="T1" fmla="*/ 490 h 490"/>
                  <a:gd name="T2" fmla="*/ 679 w 894"/>
                  <a:gd name="T3" fmla="*/ 77 h 490"/>
                  <a:gd name="T4" fmla="*/ 430 w 894"/>
                  <a:gd name="T5" fmla="*/ 0 h 490"/>
                  <a:gd name="T6" fmla="*/ 198 w 894"/>
                  <a:gd name="T7" fmla="*/ 77 h 490"/>
                  <a:gd name="T8" fmla="*/ 51 w 894"/>
                  <a:gd name="T9" fmla="*/ 490 h 490"/>
                  <a:gd name="T10" fmla="*/ 834 w 894"/>
                  <a:gd name="T11" fmla="*/ 490 h 490"/>
                </a:gdLst>
                <a:ahLst/>
                <a:cxnLst>
                  <a:cxn ang="0">
                    <a:pos x="T0" y="T1"/>
                  </a:cxn>
                  <a:cxn ang="0">
                    <a:pos x="T2" y="T3"/>
                  </a:cxn>
                  <a:cxn ang="0">
                    <a:pos x="T4" y="T5"/>
                  </a:cxn>
                  <a:cxn ang="0">
                    <a:pos x="T6" y="T7"/>
                  </a:cxn>
                  <a:cxn ang="0">
                    <a:pos x="T8" y="T9"/>
                  </a:cxn>
                  <a:cxn ang="0">
                    <a:pos x="T10" y="T11"/>
                  </a:cxn>
                </a:cxnLst>
                <a:rect l="0" t="0" r="r" b="b"/>
                <a:pathLst>
                  <a:path w="894" h="490">
                    <a:moveTo>
                      <a:pt x="834" y="490"/>
                    </a:moveTo>
                    <a:cubicBezTo>
                      <a:pt x="834" y="490"/>
                      <a:pt x="894" y="241"/>
                      <a:pt x="679" y="77"/>
                    </a:cubicBezTo>
                    <a:cubicBezTo>
                      <a:pt x="679" y="77"/>
                      <a:pt x="593" y="0"/>
                      <a:pt x="430" y="0"/>
                    </a:cubicBezTo>
                    <a:cubicBezTo>
                      <a:pt x="284" y="0"/>
                      <a:pt x="198" y="77"/>
                      <a:pt x="198" y="77"/>
                    </a:cubicBezTo>
                    <a:cubicBezTo>
                      <a:pt x="0" y="215"/>
                      <a:pt x="51" y="490"/>
                      <a:pt x="51" y="490"/>
                    </a:cubicBezTo>
                    <a:lnTo>
                      <a:pt x="834" y="490"/>
                    </a:ln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199" name="Freeform 52">
                <a:extLst>
                  <a:ext uri="{FF2B5EF4-FFF2-40B4-BE49-F238E27FC236}">
                    <a16:creationId xmlns:a16="http://schemas.microsoft.com/office/drawing/2014/main" id="{1FAE1B0F-4894-4C7B-AE0E-7FCDECDAF7FD}"/>
                  </a:ext>
                </a:extLst>
              </p:cNvPr>
              <p:cNvSpPr>
                <a:spLocks/>
              </p:cNvSpPr>
              <p:nvPr/>
            </p:nvSpPr>
            <p:spPr bwMode="auto">
              <a:xfrm>
                <a:off x="4257675" y="1679576"/>
                <a:ext cx="527050" cy="30163"/>
              </a:xfrm>
              <a:custGeom>
                <a:avLst/>
                <a:gdLst>
                  <a:gd name="T0" fmla="*/ 14 w 765"/>
                  <a:gd name="T1" fmla="*/ 43 h 43"/>
                  <a:gd name="T2" fmla="*/ 750 w 765"/>
                  <a:gd name="T3" fmla="*/ 43 h 43"/>
                  <a:gd name="T4" fmla="*/ 765 w 765"/>
                  <a:gd name="T5" fmla="*/ 0 h 43"/>
                  <a:gd name="T6" fmla="*/ 0 w 765"/>
                  <a:gd name="T7" fmla="*/ 0 h 43"/>
                  <a:gd name="T8" fmla="*/ 14 w 765"/>
                  <a:gd name="T9" fmla="*/ 43 h 43"/>
                </a:gdLst>
                <a:ahLst/>
                <a:cxnLst>
                  <a:cxn ang="0">
                    <a:pos x="T0" y="T1"/>
                  </a:cxn>
                  <a:cxn ang="0">
                    <a:pos x="T2" y="T3"/>
                  </a:cxn>
                  <a:cxn ang="0">
                    <a:pos x="T4" y="T5"/>
                  </a:cxn>
                  <a:cxn ang="0">
                    <a:pos x="T6" y="T7"/>
                  </a:cxn>
                  <a:cxn ang="0">
                    <a:pos x="T8" y="T9"/>
                  </a:cxn>
                </a:cxnLst>
                <a:rect l="0" t="0" r="r" b="b"/>
                <a:pathLst>
                  <a:path w="765" h="43">
                    <a:moveTo>
                      <a:pt x="14" y="43"/>
                    </a:moveTo>
                    <a:cubicBezTo>
                      <a:pt x="750" y="43"/>
                      <a:pt x="750" y="43"/>
                      <a:pt x="750" y="43"/>
                    </a:cubicBezTo>
                    <a:cubicBezTo>
                      <a:pt x="756" y="29"/>
                      <a:pt x="761" y="15"/>
                      <a:pt x="765" y="0"/>
                    </a:cubicBezTo>
                    <a:cubicBezTo>
                      <a:pt x="0" y="0"/>
                      <a:pt x="0" y="0"/>
                      <a:pt x="0" y="0"/>
                    </a:cubicBezTo>
                    <a:cubicBezTo>
                      <a:pt x="4" y="15"/>
                      <a:pt x="9" y="29"/>
                      <a:pt x="14" y="43"/>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0" name="Freeform 53">
                <a:extLst>
                  <a:ext uri="{FF2B5EF4-FFF2-40B4-BE49-F238E27FC236}">
                    <a16:creationId xmlns:a16="http://schemas.microsoft.com/office/drawing/2014/main" id="{7995030E-AF74-4407-938E-0A34BCFC34C9}"/>
                  </a:ext>
                </a:extLst>
              </p:cNvPr>
              <p:cNvSpPr>
                <a:spLocks/>
              </p:cNvSpPr>
              <p:nvPr/>
            </p:nvSpPr>
            <p:spPr bwMode="auto">
              <a:xfrm>
                <a:off x="4276725" y="1727201"/>
                <a:ext cx="488950" cy="28575"/>
              </a:xfrm>
              <a:custGeom>
                <a:avLst/>
                <a:gdLst>
                  <a:gd name="T0" fmla="*/ 713 w 713"/>
                  <a:gd name="T1" fmla="*/ 0 h 43"/>
                  <a:gd name="T2" fmla="*/ 0 w 713"/>
                  <a:gd name="T3" fmla="*/ 0 h 43"/>
                  <a:gd name="T4" fmla="*/ 25 w 713"/>
                  <a:gd name="T5" fmla="*/ 43 h 43"/>
                  <a:gd name="T6" fmla="*/ 688 w 713"/>
                  <a:gd name="T7" fmla="*/ 43 h 43"/>
                  <a:gd name="T8" fmla="*/ 713 w 713"/>
                  <a:gd name="T9" fmla="*/ 0 h 43"/>
                </a:gdLst>
                <a:ahLst/>
                <a:cxnLst>
                  <a:cxn ang="0">
                    <a:pos x="T0" y="T1"/>
                  </a:cxn>
                  <a:cxn ang="0">
                    <a:pos x="T2" y="T3"/>
                  </a:cxn>
                  <a:cxn ang="0">
                    <a:pos x="T4" y="T5"/>
                  </a:cxn>
                  <a:cxn ang="0">
                    <a:pos x="T6" y="T7"/>
                  </a:cxn>
                  <a:cxn ang="0">
                    <a:pos x="T8" y="T9"/>
                  </a:cxn>
                </a:cxnLst>
                <a:rect l="0" t="0" r="r" b="b"/>
                <a:pathLst>
                  <a:path w="713" h="43">
                    <a:moveTo>
                      <a:pt x="713" y="0"/>
                    </a:moveTo>
                    <a:cubicBezTo>
                      <a:pt x="0" y="0"/>
                      <a:pt x="0" y="0"/>
                      <a:pt x="0" y="0"/>
                    </a:cubicBezTo>
                    <a:cubicBezTo>
                      <a:pt x="7" y="15"/>
                      <a:pt x="16" y="29"/>
                      <a:pt x="25" y="43"/>
                    </a:cubicBezTo>
                    <a:cubicBezTo>
                      <a:pt x="688" y="43"/>
                      <a:pt x="688" y="43"/>
                      <a:pt x="688" y="43"/>
                    </a:cubicBezTo>
                    <a:cubicBezTo>
                      <a:pt x="697" y="29"/>
                      <a:pt x="705" y="15"/>
                      <a:pt x="713" y="0"/>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1" name="Freeform 54">
                <a:extLst>
                  <a:ext uri="{FF2B5EF4-FFF2-40B4-BE49-F238E27FC236}">
                    <a16:creationId xmlns:a16="http://schemas.microsoft.com/office/drawing/2014/main" id="{A1267826-2A63-4820-B750-87DC129430A2}"/>
                  </a:ext>
                </a:extLst>
              </p:cNvPr>
              <p:cNvSpPr>
                <a:spLocks/>
              </p:cNvSpPr>
              <p:nvPr/>
            </p:nvSpPr>
            <p:spPr bwMode="auto">
              <a:xfrm>
                <a:off x="4305300" y="1774826"/>
                <a:ext cx="431800" cy="22225"/>
              </a:xfrm>
              <a:custGeom>
                <a:avLst/>
                <a:gdLst>
                  <a:gd name="T0" fmla="*/ 30 w 627"/>
                  <a:gd name="T1" fmla="*/ 34 h 34"/>
                  <a:gd name="T2" fmla="*/ 597 w 627"/>
                  <a:gd name="T3" fmla="*/ 34 h 34"/>
                  <a:gd name="T4" fmla="*/ 627 w 627"/>
                  <a:gd name="T5" fmla="*/ 0 h 34"/>
                  <a:gd name="T6" fmla="*/ 0 w 627"/>
                  <a:gd name="T7" fmla="*/ 0 h 34"/>
                  <a:gd name="T8" fmla="*/ 30 w 627"/>
                  <a:gd name="T9" fmla="*/ 34 h 34"/>
                </a:gdLst>
                <a:ahLst/>
                <a:cxnLst>
                  <a:cxn ang="0">
                    <a:pos x="T0" y="T1"/>
                  </a:cxn>
                  <a:cxn ang="0">
                    <a:pos x="T2" y="T3"/>
                  </a:cxn>
                  <a:cxn ang="0">
                    <a:pos x="T4" y="T5"/>
                  </a:cxn>
                  <a:cxn ang="0">
                    <a:pos x="T6" y="T7"/>
                  </a:cxn>
                  <a:cxn ang="0">
                    <a:pos x="T8" y="T9"/>
                  </a:cxn>
                </a:cxnLst>
                <a:rect l="0" t="0" r="r" b="b"/>
                <a:pathLst>
                  <a:path w="627" h="34">
                    <a:moveTo>
                      <a:pt x="30" y="34"/>
                    </a:moveTo>
                    <a:cubicBezTo>
                      <a:pt x="597" y="34"/>
                      <a:pt x="597" y="34"/>
                      <a:pt x="597" y="34"/>
                    </a:cubicBezTo>
                    <a:cubicBezTo>
                      <a:pt x="608" y="23"/>
                      <a:pt x="618" y="12"/>
                      <a:pt x="627" y="0"/>
                    </a:cubicBezTo>
                    <a:cubicBezTo>
                      <a:pt x="0" y="0"/>
                      <a:pt x="0" y="0"/>
                      <a:pt x="0" y="0"/>
                    </a:cubicBezTo>
                    <a:cubicBezTo>
                      <a:pt x="9" y="12"/>
                      <a:pt x="19" y="23"/>
                      <a:pt x="30" y="34"/>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2" name="Freeform 55">
                <a:extLst>
                  <a:ext uri="{FF2B5EF4-FFF2-40B4-BE49-F238E27FC236}">
                    <a16:creationId xmlns:a16="http://schemas.microsoft.com/office/drawing/2014/main" id="{F7007BC9-7469-4B06-A0FB-581E24BEDABC}"/>
                  </a:ext>
                </a:extLst>
              </p:cNvPr>
              <p:cNvSpPr>
                <a:spLocks/>
              </p:cNvSpPr>
              <p:nvPr/>
            </p:nvSpPr>
            <p:spPr bwMode="auto">
              <a:xfrm>
                <a:off x="4344988" y="1816101"/>
                <a:ext cx="352425" cy="17463"/>
              </a:xfrm>
              <a:custGeom>
                <a:avLst/>
                <a:gdLst>
                  <a:gd name="T0" fmla="*/ 33 w 511"/>
                  <a:gd name="T1" fmla="*/ 26 h 26"/>
                  <a:gd name="T2" fmla="*/ 478 w 511"/>
                  <a:gd name="T3" fmla="*/ 26 h 26"/>
                  <a:gd name="T4" fmla="*/ 511 w 511"/>
                  <a:gd name="T5" fmla="*/ 0 h 26"/>
                  <a:gd name="T6" fmla="*/ 0 w 511"/>
                  <a:gd name="T7" fmla="*/ 0 h 26"/>
                  <a:gd name="T8" fmla="*/ 33 w 511"/>
                  <a:gd name="T9" fmla="*/ 26 h 26"/>
                </a:gdLst>
                <a:ahLst/>
                <a:cxnLst>
                  <a:cxn ang="0">
                    <a:pos x="T0" y="T1"/>
                  </a:cxn>
                  <a:cxn ang="0">
                    <a:pos x="T2" y="T3"/>
                  </a:cxn>
                  <a:cxn ang="0">
                    <a:pos x="T4" y="T5"/>
                  </a:cxn>
                  <a:cxn ang="0">
                    <a:pos x="T6" y="T7"/>
                  </a:cxn>
                  <a:cxn ang="0">
                    <a:pos x="T8" y="T9"/>
                  </a:cxn>
                </a:cxnLst>
                <a:rect l="0" t="0" r="r" b="b"/>
                <a:pathLst>
                  <a:path w="511" h="26">
                    <a:moveTo>
                      <a:pt x="33" y="26"/>
                    </a:moveTo>
                    <a:cubicBezTo>
                      <a:pt x="478" y="26"/>
                      <a:pt x="478" y="26"/>
                      <a:pt x="478" y="26"/>
                    </a:cubicBezTo>
                    <a:cubicBezTo>
                      <a:pt x="489" y="18"/>
                      <a:pt x="501" y="9"/>
                      <a:pt x="511" y="0"/>
                    </a:cubicBezTo>
                    <a:cubicBezTo>
                      <a:pt x="0" y="0"/>
                      <a:pt x="0" y="0"/>
                      <a:pt x="0" y="0"/>
                    </a:cubicBezTo>
                    <a:cubicBezTo>
                      <a:pt x="10" y="9"/>
                      <a:pt x="22" y="18"/>
                      <a:pt x="33" y="26"/>
                    </a:cubicBez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3" name="Freeform 56">
                <a:extLst>
                  <a:ext uri="{FF2B5EF4-FFF2-40B4-BE49-F238E27FC236}">
                    <a16:creationId xmlns:a16="http://schemas.microsoft.com/office/drawing/2014/main" id="{0E139B23-7FB6-4DAB-B6B4-D1D891EC8FBC}"/>
                  </a:ext>
                </a:extLst>
              </p:cNvPr>
              <p:cNvSpPr>
                <a:spLocks/>
              </p:cNvSpPr>
              <p:nvPr/>
            </p:nvSpPr>
            <p:spPr bwMode="auto">
              <a:xfrm>
                <a:off x="4411663" y="1857376"/>
                <a:ext cx="220663" cy="23813"/>
              </a:xfrm>
              <a:custGeom>
                <a:avLst/>
                <a:gdLst>
                  <a:gd name="T0" fmla="*/ 0 w 321"/>
                  <a:gd name="T1" fmla="*/ 0 h 35"/>
                  <a:gd name="T2" fmla="*/ 160 w 321"/>
                  <a:gd name="T3" fmla="*/ 35 h 35"/>
                  <a:gd name="T4" fmla="*/ 321 w 321"/>
                  <a:gd name="T5" fmla="*/ 0 h 35"/>
                  <a:gd name="T6" fmla="*/ 0 w 321"/>
                  <a:gd name="T7" fmla="*/ 0 h 35"/>
                </a:gdLst>
                <a:ahLst/>
                <a:cxnLst>
                  <a:cxn ang="0">
                    <a:pos x="T0" y="T1"/>
                  </a:cxn>
                  <a:cxn ang="0">
                    <a:pos x="T2" y="T3"/>
                  </a:cxn>
                  <a:cxn ang="0">
                    <a:pos x="T4" y="T5"/>
                  </a:cxn>
                  <a:cxn ang="0">
                    <a:pos x="T6" y="T7"/>
                  </a:cxn>
                </a:cxnLst>
                <a:rect l="0" t="0" r="r" b="b"/>
                <a:pathLst>
                  <a:path w="321" h="35">
                    <a:moveTo>
                      <a:pt x="0" y="0"/>
                    </a:moveTo>
                    <a:cubicBezTo>
                      <a:pt x="49" y="22"/>
                      <a:pt x="103" y="35"/>
                      <a:pt x="160" y="35"/>
                    </a:cubicBezTo>
                    <a:cubicBezTo>
                      <a:pt x="218" y="35"/>
                      <a:pt x="272" y="22"/>
                      <a:pt x="321" y="0"/>
                    </a:cubicBezTo>
                    <a:lnTo>
                      <a:pt x="0" y="0"/>
                    </a:lnTo>
                    <a:close/>
                  </a:path>
                </a:pathLst>
              </a:custGeom>
              <a:solidFill>
                <a:srgbClr val="996600"/>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4" name="Freeform 57">
                <a:extLst>
                  <a:ext uri="{FF2B5EF4-FFF2-40B4-BE49-F238E27FC236}">
                    <a16:creationId xmlns:a16="http://schemas.microsoft.com/office/drawing/2014/main" id="{878C378C-DD69-49DB-A014-1F297FE36FFC}"/>
                  </a:ext>
                </a:extLst>
              </p:cNvPr>
              <p:cNvSpPr>
                <a:spLocks/>
              </p:cNvSpPr>
              <p:nvPr/>
            </p:nvSpPr>
            <p:spPr bwMode="auto">
              <a:xfrm>
                <a:off x="3914775" y="1893888"/>
                <a:ext cx="1214438" cy="209550"/>
              </a:xfrm>
              <a:custGeom>
                <a:avLst/>
                <a:gdLst>
                  <a:gd name="T0" fmla="*/ 1647 w 1767"/>
                  <a:gd name="T1" fmla="*/ 0 h 304"/>
                  <a:gd name="T2" fmla="*/ 1044 w 1767"/>
                  <a:gd name="T3" fmla="*/ 0 h 304"/>
                  <a:gd name="T4" fmla="*/ 944 w 1767"/>
                  <a:gd name="T5" fmla="*/ 30 h 304"/>
                  <a:gd name="T6" fmla="*/ 884 w 1767"/>
                  <a:gd name="T7" fmla="*/ 111 h 304"/>
                  <a:gd name="T8" fmla="*/ 884 w 1767"/>
                  <a:gd name="T9" fmla="*/ 111 h 304"/>
                  <a:gd name="T10" fmla="*/ 824 w 1767"/>
                  <a:gd name="T11" fmla="*/ 30 h 304"/>
                  <a:gd name="T12" fmla="*/ 723 w 1767"/>
                  <a:gd name="T13" fmla="*/ 0 h 304"/>
                  <a:gd name="T14" fmla="*/ 121 w 1767"/>
                  <a:gd name="T15" fmla="*/ 0 h 304"/>
                  <a:gd name="T16" fmla="*/ 0 w 1767"/>
                  <a:gd name="T17" fmla="*/ 193 h 304"/>
                  <a:gd name="T18" fmla="*/ 552 w 1767"/>
                  <a:gd name="T19" fmla="*/ 193 h 304"/>
                  <a:gd name="T20" fmla="*/ 579 w 1767"/>
                  <a:gd name="T21" fmla="*/ 194 h 304"/>
                  <a:gd name="T22" fmla="*/ 653 w 1767"/>
                  <a:gd name="T23" fmla="*/ 227 h 304"/>
                  <a:gd name="T24" fmla="*/ 715 w 1767"/>
                  <a:gd name="T25" fmla="*/ 282 h 304"/>
                  <a:gd name="T26" fmla="*/ 733 w 1767"/>
                  <a:gd name="T27" fmla="*/ 304 h 304"/>
                  <a:gd name="T28" fmla="*/ 869 w 1767"/>
                  <a:gd name="T29" fmla="*/ 304 h 304"/>
                  <a:gd name="T30" fmla="*/ 884 w 1767"/>
                  <a:gd name="T31" fmla="*/ 304 h 304"/>
                  <a:gd name="T32" fmla="*/ 884 w 1767"/>
                  <a:gd name="T33" fmla="*/ 304 h 304"/>
                  <a:gd name="T34" fmla="*/ 931 w 1767"/>
                  <a:gd name="T35" fmla="*/ 304 h 304"/>
                  <a:gd name="T36" fmla="*/ 1034 w 1767"/>
                  <a:gd name="T37" fmla="*/ 304 h 304"/>
                  <a:gd name="T38" fmla="*/ 1052 w 1767"/>
                  <a:gd name="T39" fmla="*/ 282 h 304"/>
                  <a:gd name="T40" fmla="*/ 1115 w 1767"/>
                  <a:gd name="T41" fmla="*/ 227 h 304"/>
                  <a:gd name="T42" fmla="*/ 1189 w 1767"/>
                  <a:gd name="T43" fmla="*/ 194 h 304"/>
                  <a:gd name="T44" fmla="*/ 1216 w 1767"/>
                  <a:gd name="T45" fmla="*/ 193 h 304"/>
                  <a:gd name="T46" fmla="*/ 1767 w 1767"/>
                  <a:gd name="T47" fmla="*/ 193 h 304"/>
                  <a:gd name="T48" fmla="*/ 1647 w 1767"/>
                  <a:gd name="T49"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67" h="304">
                    <a:moveTo>
                      <a:pt x="1647" y="0"/>
                    </a:moveTo>
                    <a:cubicBezTo>
                      <a:pt x="1044" y="0"/>
                      <a:pt x="1044" y="0"/>
                      <a:pt x="1044" y="0"/>
                    </a:cubicBezTo>
                    <a:cubicBezTo>
                      <a:pt x="1044" y="0"/>
                      <a:pt x="989" y="0"/>
                      <a:pt x="944" y="30"/>
                    </a:cubicBezTo>
                    <a:cubicBezTo>
                      <a:pt x="910" y="54"/>
                      <a:pt x="885" y="109"/>
                      <a:pt x="884" y="111"/>
                    </a:cubicBezTo>
                    <a:cubicBezTo>
                      <a:pt x="884" y="111"/>
                      <a:pt x="884" y="111"/>
                      <a:pt x="884" y="111"/>
                    </a:cubicBezTo>
                    <a:cubicBezTo>
                      <a:pt x="883" y="109"/>
                      <a:pt x="858" y="54"/>
                      <a:pt x="824" y="30"/>
                    </a:cubicBezTo>
                    <a:cubicBezTo>
                      <a:pt x="779" y="0"/>
                      <a:pt x="723" y="0"/>
                      <a:pt x="723" y="0"/>
                    </a:cubicBezTo>
                    <a:cubicBezTo>
                      <a:pt x="121" y="0"/>
                      <a:pt x="121" y="0"/>
                      <a:pt x="121" y="0"/>
                    </a:cubicBezTo>
                    <a:cubicBezTo>
                      <a:pt x="0" y="193"/>
                      <a:pt x="0" y="193"/>
                      <a:pt x="0" y="193"/>
                    </a:cubicBezTo>
                    <a:cubicBezTo>
                      <a:pt x="552" y="193"/>
                      <a:pt x="552" y="193"/>
                      <a:pt x="552" y="193"/>
                    </a:cubicBezTo>
                    <a:cubicBezTo>
                      <a:pt x="552" y="193"/>
                      <a:pt x="569" y="193"/>
                      <a:pt x="579" y="194"/>
                    </a:cubicBezTo>
                    <a:cubicBezTo>
                      <a:pt x="595" y="197"/>
                      <a:pt x="623" y="206"/>
                      <a:pt x="653" y="227"/>
                    </a:cubicBezTo>
                    <a:cubicBezTo>
                      <a:pt x="694" y="257"/>
                      <a:pt x="705" y="272"/>
                      <a:pt x="715" y="282"/>
                    </a:cubicBezTo>
                    <a:cubicBezTo>
                      <a:pt x="720" y="287"/>
                      <a:pt x="733" y="304"/>
                      <a:pt x="733" y="304"/>
                    </a:cubicBezTo>
                    <a:cubicBezTo>
                      <a:pt x="869" y="304"/>
                      <a:pt x="869" y="304"/>
                      <a:pt x="869" y="304"/>
                    </a:cubicBezTo>
                    <a:cubicBezTo>
                      <a:pt x="884" y="304"/>
                      <a:pt x="884" y="304"/>
                      <a:pt x="884" y="304"/>
                    </a:cubicBezTo>
                    <a:cubicBezTo>
                      <a:pt x="884" y="304"/>
                      <a:pt x="884" y="304"/>
                      <a:pt x="884" y="304"/>
                    </a:cubicBezTo>
                    <a:cubicBezTo>
                      <a:pt x="931" y="304"/>
                      <a:pt x="931" y="304"/>
                      <a:pt x="931" y="304"/>
                    </a:cubicBezTo>
                    <a:cubicBezTo>
                      <a:pt x="1034" y="304"/>
                      <a:pt x="1034" y="304"/>
                      <a:pt x="1034" y="304"/>
                    </a:cubicBezTo>
                    <a:cubicBezTo>
                      <a:pt x="1034" y="304"/>
                      <a:pt x="1047" y="287"/>
                      <a:pt x="1052" y="282"/>
                    </a:cubicBezTo>
                    <a:cubicBezTo>
                      <a:pt x="1062" y="272"/>
                      <a:pt x="1074" y="257"/>
                      <a:pt x="1115" y="227"/>
                    </a:cubicBezTo>
                    <a:cubicBezTo>
                      <a:pt x="1144" y="206"/>
                      <a:pt x="1173" y="197"/>
                      <a:pt x="1189" y="194"/>
                    </a:cubicBezTo>
                    <a:cubicBezTo>
                      <a:pt x="1199" y="193"/>
                      <a:pt x="1216" y="193"/>
                      <a:pt x="1216" y="193"/>
                    </a:cubicBezTo>
                    <a:cubicBezTo>
                      <a:pt x="1767" y="193"/>
                      <a:pt x="1767" y="193"/>
                      <a:pt x="1767" y="193"/>
                    </a:cubicBezTo>
                    <a:lnTo>
                      <a:pt x="1647"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5" name="Freeform 58">
                <a:extLst>
                  <a:ext uri="{FF2B5EF4-FFF2-40B4-BE49-F238E27FC236}">
                    <a16:creationId xmlns:a16="http://schemas.microsoft.com/office/drawing/2014/main" id="{241337B9-79B6-4BA4-BA41-B7D400D502C2}"/>
                  </a:ext>
                </a:extLst>
              </p:cNvPr>
              <p:cNvSpPr>
                <a:spLocks/>
              </p:cNvSpPr>
              <p:nvPr/>
            </p:nvSpPr>
            <p:spPr bwMode="auto">
              <a:xfrm>
                <a:off x="3956050" y="2066926"/>
                <a:ext cx="290513" cy="1000125"/>
              </a:xfrm>
              <a:custGeom>
                <a:avLst/>
                <a:gdLst>
                  <a:gd name="T0" fmla="*/ 0 w 422"/>
                  <a:gd name="T1" fmla="*/ 0 h 1456"/>
                  <a:gd name="T2" fmla="*/ 0 w 422"/>
                  <a:gd name="T3" fmla="*/ 904 h 1456"/>
                  <a:gd name="T4" fmla="*/ 0 w 422"/>
                  <a:gd name="T5" fmla="*/ 916 h 1456"/>
                  <a:gd name="T6" fmla="*/ 1 w 422"/>
                  <a:gd name="T7" fmla="*/ 943 h 1456"/>
                  <a:gd name="T8" fmla="*/ 98 w 422"/>
                  <a:gd name="T9" fmla="*/ 1206 h 1456"/>
                  <a:gd name="T10" fmla="*/ 347 w 422"/>
                  <a:gd name="T11" fmla="*/ 1456 h 1456"/>
                  <a:gd name="T12" fmla="*/ 422 w 422"/>
                  <a:gd name="T13" fmla="*/ 1336 h 1456"/>
                  <a:gd name="T14" fmla="*/ 238 w 422"/>
                  <a:gd name="T15" fmla="*/ 1156 h 1456"/>
                  <a:gd name="T16" fmla="*/ 194 w 422"/>
                  <a:gd name="T17" fmla="*/ 1084 h 1456"/>
                  <a:gd name="T18" fmla="*/ 169 w 422"/>
                  <a:gd name="T19" fmla="*/ 1025 h 1456"/>
                  <a:gd name="T20" fmla="*/ 157 w 422"/>
                  <a:gd name="T21" fmla="*/ 987 h 1456"/>
                  <a:gd name="T22" fmla="*/ 150 w 422"/>
                  <a:gd name="T23" fmla="*/ 941 h 1456"/>
                  <a:gd name="T24" fmla="*/ 149 w 422"/>
                  <a:gd name="T25" fmla="*/ 913 h 1456"/>
                  <a:gd name="T26" fmla="*/ 149 w 422"/>
                  <a:gd name="T27" fmla="*/ 909 h 1456"/>
                  <a:gd name="T28" fmla="*/ 149 w 422"/>
                  <a:gd name="T29" fmla="*/ 0 h 1456"/>
                  <a:gd name="T30" fmla="*/ 0 w 422"/>
                  <a:gd name="T31" fmla="*/ 0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2" h="1456">
                    <a:moveTo>
                      <a:pt x="0" y="0"/>
                    </a:moveTo>
                    <a:cubicBezTo>
                      <a:pt x="0" y="904"/>
                      <a:pt x="0" y="904"/>
                      <a:pt x="0" y="904"/>
                    </a:cubicBezTo>
                    <a:cubicBezTo>
                      <a:pt x="0" y="904"/>
                      <a:pt x="0" y="913"/>
                      <a:pt x="0" y="916"/>
                    </a:cubicBezTo>
                    <a:cubicBezTo>
                      <a:pt x="0" y="926"/>
                      <a:pt x="1" y="935"/>
                      <a:pt x="1" y="943"/>
                    </a:cubicBezTo>
                    <a:cubicBezTo>
                      <a:pt x="11" y="1040"/>
                      <a:pt x="42" y="1111"/>
                      <a:pt x="98" y="1206"/>
                    </a:cubicBezTo>
                    <a:cubicBezTo>
                      <a:pt x="186" y="1353"/>
                      <a:pt x="347" y="1456"/>
                      <a:pt x="347" y="1456"/>
                    </a:cubicBezTo>
                    <a:cubicBezTo>
                      <a:pt x="422" y="1336"/>
                      <a:pt x="422" y="1336"/>
                      <a:pt x="422" y="1336"/>
                    </a:cubicBezTo>
                    <a:cubicBezTo>
                      <a:pt x="422" y="1336"/>
                      <a:pt x="320" y="1281"/>
                      <a:pt x="238" y="1156"/>
                    </a:cubicBezTo>
                    <a:cubicBezTo>
                      <a:pt x="221" y="1130"/>
                      <a:pt x="205" y="1107"/>
                      <a:pt x="194" y="1084"/>
                    </a:cubicBezTo>
                    <a:cubicBezTo>
                      <a:pt x="183" y="1062"/>
                      <a:pt x="175" y="1044"/>
                      <a:pt x="169" y="1025"/>
                    </a:cubicBezTo>
                    <a:cubicBezTo>
                      <a:pt x="164" y="1011"/>
                      <a:pt x="160" y="998"/>
                      <a:pt x="157" y="987"/>
                    </a:cubicBezTo>
                    <a:cubicBezTo>
                      <a:pt x="153" y="970"/>
                      <a:pt x="151" y="957"/>
                      <a:pt x="150" y="941"/>
                    </a:cubicBezTo>
                    <a:cubicBezTo>
                      <a:pt x="150" y="936"/>
                      <a:pt x="149" y="913"/>
                      <a:pt x="149" y="913"/>
                    </a:cubicBezTo>
                    <a:cubicBezTo>
                      <a:pt x="149" y="909"/>
                      <a:pt x="149" y="909"/>
                      <a:pt x="149" y="909"/>
                    </a:cubicBezTo>
                    <a:cubicBezTo>
                      <a:pt x="149" y="0"/>
                      <a:pt x="149" y="0"/>
                      <a:pt x="149" y="0"/>
                    </a:cubicBezTo>
                    <a:lnTo>
                      <a:pt x="0"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6" name="Freeform 59">
                <a:extLst>
                  <a:ext uri="{FF2B5EF4-FFF2-40B4-BE49-F238E27FC236}">
                    <a16:creationId xmlns:a16="http://schemas.microsoft.com/office/drawing/2014/main" id="{055987C5-1628-4541-8B96-A74D5E7DC838}"/>
                  </a:ext>
                </a:extLst>
              </p:cNvPr>
              <p:cNvSpPr>
                <a:spLocks/>
              </p:cNvSpPr>
              <p:nvPr/>
            </p:nvSpPr>
            <p:spPr bwMode="auto">
              <a:xfrm>
                <a:off x="4113213" y="2066926"/>
                <a:ext cx="214313" cy="866775"/>
              </a:xfrm>
              <a:custGeom>
                <a:avLst/>
                <a:gdLst>
                  <a:gd name="T0" fmla="*/ 0 w 312"/>
                  <a:gd name="T1" fmla="*/ 0 h 1262"/>
                  <a:gd name="T2" fmla="*/ 0 w 312"/>
                  <a:gd name="T3" fmla="*/ 913 h 1262"/>
                  <a:gd name="T4" fmla="*/ 1 w 312"/>
                  <a:gd name="T5" fmla="*/ 920 h 1262"/>
                  <a:gd name="T6" fmla="*/ 2 w 312"/>
                  <a:gd name="T7" fmla="*/ 937 h 1262"/>
                  <a:gd name="T8" fmla="*/ 4 w 312"/>
                  <a:gd name="T9" fmla="*/ 946 h 1262"/>
                  <a:gd name="T10" fmla="*/ 16 w 312"/>
                  <a:gd name="T11" fmla="*/ 992 h 1262"/>
                  <a:gd name="T12" fmla="*/ 71 w 312"/>
                  <a:gd name="T13" fmla="*/ 1102 h 1262"/>
                  <a:gd name="T14" fmla="*/ 237 w 312"/>
                  <a:gd name="T15" fmla="*/ 1262 h 1262"/>
                  <a:gd name="T16" fmla="*/ 312 w 312"/>
                  <a:gd name="T17" fmla="*/ 1144 h 1262"/>
                  <a:gd name="T18" fmla="*/ 257 w 312"/>
                  <a:gd name="T19" fmla="*/ 1101 h 1262"/>
                  <a:gd name="T20" fmla="*/ 192 w 312"/>
                  <a:gd name="T21" fmla="*/ 1026 h 1262"/>
                  <a:gd name="T22" fmla="*/ 153 w 312"/>
                  <a:gd name="T23" fmla="*/ 940 h 1262"/>
                  <a:gd name="T24" fmla="*/ 145 w 312"/>
                  <a:gd name="T25" fmla="*/ 894 h 1262"/>
                  <a:gd name="T26" fmla="*/ 145 w 312"/>
                  <a:gd name="T27" fmla="*/ 881 h 1262"/>
                  <a:gd name="T28" fmla="*/ 145 w 312"/>
                  <a:gd name="T29" fmla="*/ 0 h 1262"/>
                  <a:gd name="T30" fmla="*/ 0 w 312"/>
                  <a:gd name="T31" fmla="*/ 0 h 1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2" h="1262">
                    <a:moveTo>
                      <a:pt x="0" y="0"/>
                    </a:moveTo>
                    <a:cubicBezTo>
                      <a:pt x="0" y="913"/>
                      <a:pt x="0" y="913"/>
                      <a:pt x="0" y="913"/>
                    </a:cubicBezTo>
                    <a:cubicBezTo>
                      <a:pt x="0" y="913"/>
                      <a:pt x="1" y="917"/>
                      <a:pt x="1" y="920"/>
                    </a:cubicBezTo>
                    <a:cubicBezTo>
                      <a:pt x="1" y="925"/>
                      <a:pt x="2" y="932"/>
                      <a:pt x="2" y="937"/>
                    </a:cubicBezTo>
                    <a:cubicBezTo>
                      <a:pt x="3" y="940"/>
                      <a:pt x="4" y="944"/>
                      <a:pt x="4" y="946"/>
                    </a:cubicBezTo>
                    <a:cubicBezTo>
                      <a:pt x="7" y="961"/>
                      <a:pt x="10" y="973"/>
                      <a:pt x="16" y="992"/>
                    </a:cubicBezTo>
                    <a:cubicBezTo>
                      <a:pt x="27" y="1023"/>
                      <a:pt x="45" y="1060"/>
                      <a:pt x="71" y="1102"/>
                    </a:cubicBezTo>
                    <a:cubicBezTo>
                      <a:pt x="139" y="1212"/>
                      <a:pt x="237" y="1262"/>
                      <a:pt x="237" y="1262"/>
                    </a:cubicBezTo>
                    <a:cubicBezTo>
                      <a:pt x="312" y="1144"/>
                      <a:pt x="312" y="1144"/>
                      <a:pt x="312" y="1144"/>
                    </a:cubicBezTo>
                    <a:cubicBezTo>
                      <a:pt x="312" y="1144"/>
                      <a:pt x="287" y="1130"/>
                      <a:pt x="257" y="1101"/>
                    </a:cubicBezTo>
                    <a:cubicBezTo>
                      <a:pt x="237" y="1082"/>
                      <a:pt x="213" y="1056"/>
                      <a:pt x="192" y="1026"/>
                    </a:cubicBezTo>
                    <a:cubicBezTo>
                      <a:pt x="172" y="995"/>
                      <a:pt x="160" y="963"/>
                      <a:pt x="153" y="940"/>
                    </a:cubicBezTo>
                    <a:cubicBezTo>
                      <a:pt x="147" y="920"/>
                      <a:pt x="146" y="904"/>
                      <a:pt x="145" y="894"/>
                    </a:cubicBezTo>
                    <a:cubicBezTo>
                      <a:pt x="145" y="885"/>
                      <a:pt x="145" y="881"/>
                      <a:pt x="145" y="881"/>
                    </a:cubicBezTo>
                    <a:cubicBezTo>
                      <a:pt x="145" y="0"/>
                      <a:pt x="145" y="0"/>
                      <a:pt x="145" y="0"/>
                    </a:cubicBezTo>
                    <a:lnTo>
                      <a:pt x="0"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7" name="Freeform 60">
                <a:extLst>
                  <a:ext uri="{FF2B5EF4-FFF2-40B4-BE49-F238E27FC236}">
                    <a16:creationId xmlns:a16="http://schemas.microsoft.com/office/drawing/2014/main" id="{43D613F3-D321-41B4-8638-F540C40F72F0}"/>
                  </a:ext>
                </a:extLst>
              </p:cNvPr>
              <p:cNvSpPr>
                <a:spLocks/>
              </p:cNvSpPr>
              <p:nvPr/>
            </p:nvSpPr>
            <p:spPr bwMode="auto">
              <a:xfrm>
                <a:off x="4795838" y="2066926"/>
                <a:ext cx="292100" cy="1000125"/>
              </a:xfrm>
              <a:custGeom>
                <a:avLst/>
                <a:gdLst>
                  <a:gd name="T0" fmla="*/ 423 w 423"/>
                  <a:gd name="T1" fmla="*/ 0 h 1456"/>
                  <a:gd name="T2" fmla="*/ 423 w 423"/>
                  <a:gd name="T3" fmla="*/ 904 h 1456"/>
                  <a:gd name="T4" fmla="*/ 423 w 423"/>
                  <a:gd name="T5" fmla="*/ 916 h 1456"/>
                  <a:gd name="T6" fmla="*/ 421 w 423"/>
                  <a:gd name="T7" fmla="*/ 943 h 1456"/>
                  <a:gd name="T8" fmla="*/ 325 w 423"/>
                  <a:gd name="T9" fmla="*/ 1206 h 1456"/>
                  <a:gd name="T10" fmla="*/ 76 w 423"/>
                  <a:gd name="T11" fmla="*/ 1456 h 1456"/>
                  <a:gd name="T12" fmla="*/ 0 w 423"/>
                  <a:gd name="T13" fmla="*/ 1336 h 1456"/>
                  <a:gd name="T14" fmla="*/ 185 w 423"/>
                  <a:gd name="T15" fmla="*/ 1156 h 1456"/>
                  <a:gd name="T16" fmla="*/ 229 w 423"/>
                  <a:gd name="T17" fmla="*/ 1084 h 1456"/>
                  <a:gd name="T18" fmla="*/ 254 w 423"/>
                  <a:gd name="T19" fmla="*/ 1025 h 1456"/>
                  <a:gd name="T20" fmla="*/ 265 w 423"/>
                  <a:gd name="T21" fmla="*/ 987 h 1456"/>
                  <a:gd name="T22" fmla="*/ 272 w 423"/>
                  <a:gd name="T23" fmla="*/ 941 h 1456"/>
                  <a:gd name="T24" fmla="*/ 273 w 423"/>
                  <a:gd name="T25" fmla="*/ 913 h 1456"/>
                  <a:gd name="T26" fmla="*/ 273 w 423"/>
                  <a:gd name="T27" fmla="*/ 909 h 1456"/>
                  <a:gd name="T28" fmla="*/ 273 w 423"/>
                  <a:gd name="T29" fmla="*/ 0 h 1456"/>
                  <a:gd name="T30" fmla="*/ 423 w 423"/>
                  <a:gd name="T31" fmla="*/ 0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3" h="1456">
                    <a:moveTo>
                      <a:pt x="423" y="0"/>
                    </a:moveTo>
                    <a:cubicBezTo>
                      <a:pt x="423" y="904"/>
                      <a:pt x="423" y="904"/>
                      <a:pt x="423" y="904"/>
                    </a:cubicBezTo>
                    <a:cubicBezTo>
                      <a:pt x="423" y="904"/>
                      <a:pt x="423" y="913"/>
                      <a:pt x="423" y="916"/>
                    </a:cubicBezTo>
                    <a:cubicBezTo>
                      <a:pt x="423" y="926"/>
                      <a:pt x="422" y="935"/>
                      <a:pt x="421" y="943"/>
                    </a:cubicBezTo>
                    <a:cubicBezTo>
                      <a:pt x="411" y="1040"/>
                      <a:pt x="381" y="1111"/>
                      <a:pt x="325" y="1206"/>
                    </a:cubicBezTo>
                    <a:cubicBezTo>
                      <a:pt x="236" y="1353"/>
                      <a:pt x="76" y="1456"/>
                      <a:pt x="76" y="1456"/>
                    </a:cubicBezTo>
                    <a:cubicBezTo>
                      <a:pt x="0" y="1336"/>
                      <a:pt x="0" y="1336"/>
                      <a:pt x="0" y="1336"/>
                    </a:cubicBezTo>
                    <a:cubicBezTo>
                      <a:pt x="0" y="1336"/>
                      <a:pt x="103" y="1281"/>
                      <a:pt x="185" y="1156"/>
                    </a:cubicBezTo>
                    <a:cubicBezTo>
                      <a:pt x="202" y="1130"/>
                      <a:pt x="218" y="1107"/>
                      <a:pt x="229" y="1084"/>
                    </a:cubicBezTo>
                    <a:cubicBezTo>
                      <a:pt x="240" y="1062"/>
                      <a:pt x="248" y="1044"/>
                      <a:pt x="254" y="1025"/>
                    </a:cubicBezTo>
                    <a:cubicBezTo>
                      <a:pt x="259" y="1011"/>
                      <a:pt x="263" y="998"/>
                      <a:pt x="265" y="987"/>
                    </a:cubicBezTo>
                    <a:cubicBezTo>
                      <a:pt x="270" y="970"/>
                      <a:pt x="271" y="957"/>
                      <a:pt x="272" y="941"/>
                    </a:cubicBezTo>
                    <a:cubicBezTo>
                      <a:pt x="273" y="936"/>
                      <a:pt x="273" y="913"/>
                      <a:pt x="273" y="913"/>
                    </a:cubicBezTo>
                    <a:cubicBezTo>
                      <a:pt x="273" y="909"/>
                      <a:pt x="273" y="909"/>
                      <a:pt x="273" y="909"/>
                    </a:cubicBezTo>
                    <a:cubicBezTo>
                      <a:pt x="273" y="0"/>
                      <a:pt x="273" y="0"/>
                      <a:pt x="273" y="0"/>
                    </a:cubicBezTo>
                    <a:lnTo>
                      <a:pt x="423"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sp>
            <p:nvSpPr>
              <p:cNvPr id="208" name="Freeform 61">
                <a:extLst>
                  <a:ext uri="{FF2B5EF4-FFF2-40B4-BE49-F238E27FC236}">
                    <a16:creationId xmlns:a16="http://schemas.microsoft.com/office/drawing/2014/main" id="{3C997131-225D-4092-871C-72EDD13F0D28}"/>
                  </a:ext>
                </a:extLst>
              </p:cNvPr>
              <p:cNvSpPr>
                <a:spLocks/>
              </p:cNvSpPr>
              <p:nvPr/>
            </p:nvSpPr>
            <p:spPr bwMode="auto">
              <a:xfrm>
                <a:off x="4714875" y="2066926"/>
                <a:ext cx="214313" cy="866775"/>
              </a:xfrm>
              <a:custGeom>
                <a:avLst/>
                <a:gdLst>
                  <a:gd name="T0" fmla="*/ 311 w 311"/>
                  <a:gd name="T1" fmla="*/ 0 h 1262"/>
                  <a:gd name="T2" fmla="*/ 311 w 311"/>
                  <a:gd name="T3" fmla="*/ 913 h 1262"/>
                  <a:gd name="T4" fmla="*/ 311 w 311"/>
                  <a:gd name="T5" fmla="*/ 920 h 1262"/>
                  <a:gd name="T6" fmla="*/ 309 w 311"/>
                  <a:gd name="T7" fmla="*/ 937 h 1262"/>
                  <a:gd name="T8" fmla="*/ 308 w 311"/>
                  <a:gd name="T9" fmla="*/ 946 h 1262"/>
                  <a:gd name="T10" fmla="*/ 295 w 311"/>
                  <a:gd name="T11" fmla="*/ 992 h 1262"/>
                  <a:gd name="T12" fmla="*/ 241 w 311"/>
                  <a:gd name="T13" fmla="*/ 1102 h 1262"/>
                  <a:gd name="T14" fmla="*/ 75 w 311"/>
                  <a:gd name="T15" fmla="*/ 1262 h 1262"/>
                  <a:gd name="T16" fmla="*/ 0 w 311"/>
                  <a:gd name="T17" fmla="*/ 1144 h 1262"/>
                  <a:gd name="T18" fmla="*/ 55 w 311"/>
                  <a:gd name="T19" fmla="*/ 1101 h 1262"/>
                  <a:gd name="T20" fmla="*/ 120 w 311"/>
                  <a:gd name="T21" fmla="*/ 1026 h 1262"/>
                  <a:gd name="T22" fmla="*/ 159 w 311"/>
                  <a:gd name="T23" fmla="*/ 940 h 1262"/>
                  <a:gd name="T24" fmla="*/ 166 w 311"/>
                  <a:gd name="T25" fmla="*/ 894 h 1262"/>
                  <a:gd name="T26" fmla="*/ 166 w 311"/>
                  <a:gd name="T27" fmla="*/ 881 h 1262"/>
                  <a:gd name="T28" fmla="*/ 166 w 311"/>
                  <a:gd name="T29" fmla="*/ 0 h 1262"/>
                  <a:gd name="T30" fmla="*/ 311 w 311"/>
                  <a:gd name="T31" fmla="*/ 0 h 1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1" h="1262">
                    <a:moveTo>
                      <a:pt x="311" y="0"/>
                    </a:moveTo>
                    <a:cubicBezTo>
                      <a:pt x="311" y="913"/>
                      <a:pt x="311" y="913"/>
                      <a:pt x="311" y="913"/>
                    </a:cubicBezTo>
                    <a:cubicBezTo>
                      <a:pt x="311" y="913"/>
                      <a:pt x="311" y="917"/>
                      <a:pt x="311" y="920"/>
                    </a:cubicBezTo>
                    <a:cubicBezTo>
                      <a:pt x="310" y="925"/>
                      <a:pt x="310" y="932"/>
                      <a:pt x="309" y="937"/>
                    </a:cubicBezTo>
                    <a:cubicBezTo>
                      <a:pt x="309" y="940"/>
                      <a:pt x="308" y="944"/>
                      <a:pt x="308" y="946"/>
                    </a:cubicBezTo>
                    <a:cubicBezTo>
                      <a:pt x="305" y="961"/>
                      <a:pt x="302" y="973"/>
                      <a:pt x="295" y="992"/>
                    </a:cubicBezTo>
                    <a:cubicBezTo>
                      <a:pt x="285" y="1023"/>
                      <a:pt x="267" y="1060"/>
                      <a:pt x="241" y="1102"/>
                    </a:cubicBezTo>
                    <a:cubicBezTo>
                      <a:pt x="173" y="1212"/>
                      <a:pt x="75" y="1262"/>
                      <a:pt x="75" y="1262"/>
                    </a:cubicBezTo>
                    <a:cubicBezTo>
                      <a:pt x="0" y="1144"/>
                      <a:pt x="0" y="1144"/>
                      <a:pt x="0" y="1144"/>
                    </a:cubicBezTo>
                    <a:cubicBezTo>
                      <a:pt x="0" y="1144"/>
                      <a:pt x="25" y="1130"/>
                      <a:pt x="55" y="1101"/>
                    </a:cubicBezTo>
                    <a:cubicBezTo>
                      <a:pt x="75" y="1082"/>
                      <a:pt x="99" y="1056"/>
                      <a:pt x="120" y="1026"/>
                    </a:cubicBezTo>
                    <a:cubicBezTo>
                      <a:pt x="140" y="995"/>
                      <a:pt x="152" y="963"/>
                      <a:pt x="159" y="940"/>
                    </a:cubicBezTo>
                    <a:cubicBezTo>
                      <a:pt x="165" y="920"/>
                      <a:pt x="166" y="904"/>
                      <a:pt x="166" y="894"/>
                    </a:cubicBezTo>
                    <a:cubicBezTo>
                      <a:pt x="167" y="885"/>
                      <a:pt x="166" y="881"/>
                      <a:pt x="166" y="881"/>
                    </a:cubicBezTo>
                    <a:cubicBezTo>
                      <a:pt x="166" y="0"/>
                      <a:pt x="166" y="0"/>
                      <a:pt x="166" y="0"/>
                    </a:cubicBezTo>
                    <a:lnTo>
                      <a:pt x="311" y="0"/>
                    </a:lnTo>
                    <a:close/>
                  </a:path>
                </a:pathLst>
              </a:custGeom>
              <a:solidFill>
                <a:srgbClr val="003366"/>
              </a:solidFill>
              <a:ln>
                <a:noFill/>
              </a:ln>
            </p:spPr>
            <p:txBody>
              <a:bodyPr vert="horz" wrap="square" lIns="91440" tIns="45720" rIns="91440" bIns="45720" numCol="1" anchor="t" anchorCtr="0" compatLnSpc="1">
                <a:prstTxWarp prst="textNoShape">
                  <a:avLst/>
                </a:prstTxWarp>
              </a:bodyPr>
              <a:ls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HK" altLang="en-US"/>
              </a:p>
            </p:txBody>
          </p:sp>
        </p:grpSp>
        <p:sp>
          <p:nvSpPr>
            <p:cNvPr id="66" name="TextBox 65">
              <a:extLst>
                <a:ext uri="{FF2B5EF4-FFF2-40B4-BE49-F238E27FC236}">
                  <a16:creationId xmlns:a16="http://schemas.microsoft.com/office/drawing/2014/main" id="{B3EFB32E-1BDB-4C66-81B1-41F3FF47706C}"/>
                </a:ext>
              </a:extLst>
            </p:cNvPr>
            <p:cNvSpPr txBox="1"/>
            <p:nvPr/>
          </p:nvSpPr>
          <p:spPr>
            <a:xfrm>
              <a:off x="2242265" y="5007849"/>
              <a:ext cx="3919179" cy="646331"/>
            </a:xfrm>
            <a:prstGeom prst="rect">
              <a:avLst/>
            </a:prstGeom>
            <a:noFill/>
          </p:spPr>
          <p:txBody>
            <a:bodyPr wrap="square" rtlCol="0">
              <a:spAutoFit/>
            </a:bodyPr>
            <a:lstStyle/>
            <a:p>
              <a:r>
                <a:rPr lang="en-US" dirty="0">
                  <a:solidFill>
                    <a:schemeClr val="tx2"/>
                  </a:solidFill>
                  <a:latin typeface="Futura-Medium" panose="020B0600000000000000" pitchFamily="34" charset="0"/>
                </a:rPr>
                <a:t>THE HONG KONG UNIVERSITY OF SCIENCE AND TECHNOLOGY</a:t>
              </a:r>
            </a:p>
          </p:txBody>
        </p:sp>
      </p:grpSp>
    </p:spTree>
    <p:extLst>
      <p:ext uri="{BB962C8B-B14F-4D97-AF65-F5344CB8AC3E}">
        <p14:creationId xmlns:p14="http://schemas.microsoft.com/office/powerpoint/2010/main" val="3658253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Introduction: aircraft wing structure</a:t>
            </a:r>
            <a:endParaRPr lang="en-US" sz="3200" dirty="0">
              <a:solidFill>
                <a:srgbClr val="FF0000"/>
              </a:solidFill>
            </a:endParaRP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2</a:t>
            </a:fld>
            <a:endParaRPr lang="en-US"/>
          </a:p>
        </p:txBody>
      </p:sp>
      <p:sp>
        <p:nvSpPr>
          <p:cNvPr id="16" name="Content Placeholder 2">
            <a:extLst>
              <a:ext uri="{FF2B5EF4-FFF2-40B4-BE49-F238E27FC236}">
                <a16:creationId xmlns:a16="http://schemas.microsoft.com/office/drawing/2014/main" id="{6E7E1CDE-04E1-C88B-BB4D-5C6DFD18BC9F}"/>
              </a:ext>
            </a:extLst>
          </p:cNvPr>
          <p:cNvSpPr>
            <a:spLocks noGrp="1"/>
          </p:cNvSpPr>
          <p:nvPr>
            <p:ph idx="1"/>
          </p:nvPr>
        </p:nvSpPr>
        <p:spPr>
          <a:xfrm>
            <a:off x="369404" y="1637296"/>
            <a:ext cx="4626666" cy="4215990"/>
          </a:xfrm>
        </p:spPr>
        <p:txBody>
          <a:bodyPr>
            <a:normAutofit/>
          </a:bodyPr>
          <a:lstStyle/>
          <a:p>
            <a:r>
              <a:rPr lang="en-US" dirty="0"/>
              <a:t>An aircraft wing structure must withstand various loads:</a:t>
            </a:r>
          </a:p>
          <a:p>
            <a:pPr lvl="1"/>
            <a:r>
              <a:rPr lang="en-US" dirty="0"/>
              <a:t>Aerodynamics</a:t>
            </a:r>
          </a:p>
          <a:p>
            <a:pPr lvl="1"/>
            <a:r>
              <a:rPr lang="en-US" dirty="0"/>
              <a:t>Inertial load (self-weight)</a:t>
            </a:r>
          </a:p>
          <a:p>
            <a:pPr lvl="1"/>
            <a:r>
              <a:rPr lang="en-US" dirty="0"/>
              <a:t>Operational loads (gust, maneuver, etc.)</a:t>
            </a:r>
          </a:p>
          <a:p>
            <a:pPr lvl="1"/>
            <a:endParaRPr lang="en-US" dirty="0"/>
          </a:p>
          <a:p>
            <a:r>
              <a:rPr lang="en-US" dirty="0"/>
              <a:t>Main components:</a:t>
            </a:r>
          </a:p>
          <a:p>
            <a:pPr lvl="1"/>
            <a:r>
              <a:rPr lang="en-US" b="1" dirty="0"/>
              <a:t>Outer skin</a:t>
            </a:r>
            <a:r>
              <a:rPr lang="en-US" dirty="0"/>
              <a:t>: transfer aero load</a:t>
            </a:r>
          </a:p>
          <a:p>
            <a:pPr lvl="1"/>
            <a:r>
              <a:rPr lang="en-US" b="1" dirty="0"/>
              <a:t>Spars</a:t>
            </a:r>
            <a:r>
              <a:rPr lang="en-US" dirty="0"/>
              <a:t>: resist bending and shear</a:t>
            </a:r>
          </a:p>
          <a:p>
            <a:pPr lvl="1"/>
            <a:r>
              <a:rPr lang="en-US" b="1" dirty="0"/>
              <a:t>Ribs</a:t>
            </a:r>
            <a:r>
              <a:rPr lang="en-US" dirty="0"/>
              <a:t>: maintain airfoil shapes</a:t>
            </a:r>
            <a:endParaRPr lang="en-US" b="1" dirty="0"/>
          </a:p>
          <a:p>
            <a:pPr lvl="1"/>
            <a:r>
              <a:rPr lang="en-US" b="1" dirty="0"/>
              <a:t>Stringers</a:t>
            </a:r>
            <a:r>
              <a:rPr lang="en-US" dirty="0"/>
              <a:t>: handle torsions</a:t>
            </a:r>
            <a:endParaRPr lang="en-US" b="1" dirty="0"/>
          </a:p>
        </p:txBody>
      </p:sp>
      <p:pic>
        <p:nvPicPr>
          <p:cNvPr id="6" name="Picture 5">
            <a:extLst>
              <a:ext uri="{FF2B5EF4-FFF2-40B4-BE49-F238E27FC236}">
                <a16:creationId xmlns:a16="http://schemas.microsoft.com/office/drawing/2014/main" id="{718043CE-A3F7-A402-803F-832038DE1222}"/>
              </a:ext>
            </a:extLst>
          </p:cNvPr>
          <p:cNvPicPr>
            <a:picLocks noChangeAspect="1"/>
          </p:cNvPicPr>
          <p:nvPr/>
        </p:nvPicPr>
        <p:blipFill>
          <a:blip r:embed="rId3"/>
          <a:stretch>
            <a:fillRect/>
          </a:stretch>
        </p:blipFill>
        <p:spPr>
          <a:xfrm>
            <a:off x="5115339" y="1619137"/>
            <a:ext cx="6707257" cy="4215990"/>
          </a:xfrm>
          <a:prstGeom prst="rect">
            <a:avLst/>
          </a:prstGeom>
        </p:spPr>
      </p:pic>
      <p:pic>
        <p:nvPicPr>
          <p:cNvPr id="7" name="Picture 6">
            <a:extLst>
              <a:ext uri="{FF2B5EF4-FFF2-40B4-BE49-F238E27FC236}">
                <a16:creationId xmlns:a16="http://schemas.microsoft.com/office/drawing/2014/main" id="{BC8F8F75-08BA-D95E-3275-50D4B533E29C}"/>
              </a:ext>
            </a:extLst>
          </p:cNvPr>
          <p:cNvPicPr>
            <a:picLocks noChangeAspect="1"/>
          </p:cNvPicPr>
          <p:nvPr/>
        </p:nvPicPr>
        <p:blipFill>
          <a:blip r:embed="rId4"/>
          <a:stretch>
            <a:fillRect/>
          </a:stretch>
        </p:blipFill>
        <p:spPr>
          <a:xfrm>
            <a:off x="5268567" y="6091453"/>
            <a:ext cx="6400800" cy="406502"/>
          </a:xfrm>
          <a:prstGeom prst="rect">
            <a:avLst/>
          </a:prstGeom>
        </p:spPr>
      </p:pic>
    </p:spTree>
    <p:extLst>
      <p:ext uri="{BB962C8B-B14F-4D97-AF65-F5344CB8AC3E}">
        <p14:creationId xmlns:p14="http://schemas.microsoft.com/office/powerpoint/2010/main" val="1690532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Introduction: structural sizing</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3</a:t>
            </a:fld>
            <a:endParaRPr lang="en-US"/>
          </a:p>
        </p:txBody>
      </p:sp>
      <p:sp>
        <p:nvSpPr>
          <p:cNvPr id="8" name="Content Placeholder 2">
            <a:extLst>
              <a:ext uri="{FF2B5EF4-FFF2-40B4-BE49-F238E27FC236}">
                <a16:creationId xmlns:a16="http://schemas.microsoft.com/office/drawing/2014/main" id="{4EBDDC86-5AD7-9A62-2445-B82715233178}"/>
              </a:ext>
            </a:extLst>
          </p:cNvPr>
          <p:cNvSpPr>
            <a:spLocks noGrp="1"/>
          </p:cNvSpPr>
          <p:nvPr>
            <p:ph idx="1"/>
          </p:nvPr>
        </p:nvSpPr>
        <p:spPr>
          <a:xfrm>
            <a:off x="684536" y="1623104"/>
            <a:ext cx="4770867" cy="4215990"/>
          </a:xfrm>
        </p:spPr>
        <p:txBody>
          <a:bodyPr>
            <a:normAutofit fontScale="92500"/>
          </a:bodyPr>
          <a:lstStyle/>
          <a:p>
            <a:r>
              <a:rPr lang="en-US" b="1" dirty="0"/>
              <a:t>Structural sizing</a:t>
            </a:r>
            <a:r>
              <a:rPr lang="en-US" dirty="0"/>
              <a:t>: an optimization process </a:t>
            </a:r>
            <a:r>
              <a:rPr lang="en-US" dirty="0">
                <a:solidFill>
                  <a:srgbClr val="FF0000"/>
                </a:solidFill>
              </a:rPr>
              <a:t>determining the optimal dimensions</a:t>
            </a:r>
            <a:r>
              <a:rPr lang="en-US" dirty="0"/>
              <a:t> for the structures (e.g., skin thickness, spar cross-sections, rib placement)</a:t>
            </a:r>
          </a:p>
          <a:p>
            <a:r>
              <a:rPr lang="en-US" b="1" dirty="0"/>
              <a:t>FSI</a:t>
            </a:r>
            <a:r>
              <a:rPr lang="en-US" dirty="0"/>
              <a:t>: fluid structure interaction</a:t>
            </a:r>
          </a:p>
          <a:p>
            <a:r>
              <a:rPr lang="en-US" b="1" dirty="0"/>
              <a:t>One-way FSI</a:t>
            </a:r>
            <a:r>
              <a:rPr lang="en-US" dirty="0"/>
              <a:t>: FEA and CFD </a:t>
            </a:r>
            <a:r>
              <a:rPr lang="en-US" i="1" dirty="0">
                <a:solidFill>
                  <a:srgbClr val="FF0000"/>
                </a:solidFill>
              </a:rPr>
              <a:t>are </a:t>
            </a:r>
            <a:r>
              <a:rPr lang="en-US" b="1" i="1" dirty="0">
                <a:solidFill>
                  <a:srgbClr val="FF0000"/>
                </a:solidFill>
              </a:rPr>
              <a:t>not</a:t>
            </a:r>
            <a:r>
              <a:rPr lang="en-US" i="1" dirty="0">
                <a:solidFill>
                  <a:srgbClr val="FF0000"/>
                </a:solidFill>
              </a:rPr>
              <a:t> coupled</a:t>
            </a:r>
            <a:r>
              <a:rPr lang="en-US" dirty="0"/>
              <a:t>, sizing iteration is only with FEA</a:t>
            </a:r>
          </a:p>
          <a:p>
            <a:r>
              <a:rPr lang="en-US" b="1" dirty="0"/>
              <a:t>Two-way FSI</a:t>
            </a:r>
            <a:r>
              <a:rPr lang="en-US" dirty="0"/>
              <a:t>: FEA and CFD </a:t>
            </a:r>
            <a:r>
              <a:rPr lang="en-US" i="1" dirty="0">
                <a:solidFill>
                  <a:srgbClr val="FF0000"/>
                </a:solidFill>
              </a:rPr>
              <a:t>are coupled</a:t>
            </a:r>
            <a:r>
              <a:rPr lang="en-US" dirty="0"/>
              <a:t>, sizing iteration is with both CFD and FEA</a:t>
            </a:r>
          </a:p>
        </p:txBody>
      </p:sp>
      <p:grpSp>
        <p:nvGrpSpPr>
          <p:cNvPr id="13" name="Group 12">
            <a:extLst>
              <a:ext uri="{FF2B5EF4-FFF2-40B4-BE49-F238E27FC236}">
                <a16:creationId xmlns:a16="http://schemas.microsoft.com/office/drawing/2014/main" id="{4CB5C3A1-49B4-A7AE-C1A7-4F420A7303E0}"/>
              </a:ext>
            </a:extLst>
          </p:cNvPr>
          <p:cNvGrpSpPr/>
          <p:nvPr/>
        </p:nvGrpSpPr>
        <p:grpSpPr>
          <a:xfrm>
            <a:off x="5631051" y="975360"/>
            <a:ext cx="6560949" cy="5799104"/>
            <a:chOff x="5631051" y="1004502"/>
            <a:chExt cx="6560949" cy="5799104"/>
          </a:xfrm>
        </p:grpSpPr>
        <p:grpSp>
          <p:nvGrpSpPr>
            <p:cNvPr id="11" name="Group 10">
              <a:extLst>
                <a:ext uri="{FF2B5EF4-FFF2-40B4-BE49-F238E27FC236}">
                  <a16:creationId xmlns:a16="http://schemas.microsoft.com/office/drawing/2014/main" id="{11F31123-FCC9-98D8-6382-90010E00574C}"/>
                </a:ext>
              </a:extLst>
            </p:cNvPr>
            <p:cNvGrpSpPr/>
            <p:nvPr/>
          </p:nvGrpSpPr>
          <p:grpSpPr>
            <a:xfrm>
              <a:off x="5631051" y="1004502"/>
              <a:ext cx="6560949" cy="5137484"/>
              <a:chOff x="5631051" y="1158390"/>
              <a:chExt cx="6560949" cy="5137484"/>
            </a:xfrm>
          </p:grpSpPr>
          <p:pic>
            <p:nvPicPr>
              <p:cNvPr id="6" name="Picture 5">
                <a:extLst>
                  <a:ext uri="{FF2B5EF4-FFF2-40B4-BE49-F238E27FC236}">
                    <a16:creationId xmlns:a16="http://schemas.microsoft.com/office/drawing/2014/main" id="{7784DB53-E784-8760-CE81-278CD02F5C9C}"/>
                  </a:ext>
                </a:extLst>
              </p:cNvPr>
              <p:cNvPicPr>
                <a:picLocks noChangeAspect="1"/>
              </p:cNvPicPr>
              <p:nvPr/>
            </p:nvPicPr>
            <p:blipFill rotWithShape="1">
              <a:blip r:embed="rId3"/>
              <a:srcRect r="63028"/>
              <a:stretch/>
            </p:blipFill>
            <p:spPr>
              <a:xfrm>
                <a:off x="5631051" y="1158390"/>
                <a:ext cx="2873644" cy="5137484"/>
              </a:xfrm>
              <a:prstGeom prst="rect">
                <a:avLst/>
              </a:prstGeom>
            </p:spPr>
          </p:pic>
          <p:pic>
            <p:nvPicPr>
              <p:cNvPr id="7" name="Picture 6">
                <a:extLst>
                  <a:ext uri="{FF2B5EF4-FFF2-40B4-BE49-F238E27FC236}">
                    <a16:creationId xmlns:a16="http://schemas.microsoft.com/office/drawing/2014/main" id="{D617BA37-BA38-A4DB-A995-8D4B2E17213E}"/>
                  </a:ext>
                </a:extLst>
              </p:cNvPr>
              <p:cNvPicPr>
                <a:picLocks noChangeAspect="1"/>
              </p:cNvPicPr>
              <p:nvPr/>
            </p:nvPicPr>
            <p:blipFill rotWithShape="1">
              <a:blip r:embed="rId3"/>
              <a:srcRect l="52559"/>
              <a:stretch/>
            </p:blipFill>
            <p:spPr>
              <a:xfrm>
                <a:off x="8504695" y="1158390"/>
                <a:ext cx="3687305" cy="5137484"/>
              </a:xfrm>
              <a:prstGeom prst="rect">
                <a:avLst/>
              </a:prstGeom>
            </p:spPr>
          </p:pic>
        </p:grpSp>
        <p:grpSp>
          <p:nvGrpSpPr>
            <p:cNvPr id="12" name="Group 11">
              <a:extLst>
                <a:ext uri="{FF2B5EF4-FFF2-40B4-BE49-F238E27FC236}">
                  <a16:creationId xmlns:a16="http://schemas.microsoft.com/office/drawing/2014/main" id="{751EC716-CBAD-066A-FFB4-90CF622264EA}"/>
                </a:ext>
              </a:extLst>
            </p:cNvPr>
            <p:cNvGrpSpPr/>
            <p:nvPr/>
          </p:nvGrpSpPr>
          <p:grpSpPr>
            <a:xfrm>
              <a:off x="6351076" y="6239610"/>
              <a:ext cx="4906505" cy="563996"/>
              <a:chOff x="6351076" y="6239610"/>
              <a:chExt cx="4906505" cy="563996"/>
            </a:xfrm>
          </p:grpSpPr>
          <p:pic>
            <p:nvPicPr>
              <p:cNvPr id="9" name="Picture 8">
                <a:extLst>
                  <a:ext uri="{FF2B5EF4-FFF2-40B4-BE49-F238E27FC236}">
                    <a16:creationId xmlns:a16="http://schemas.microsoft.com/office/drawing/2014/main" id="{449E0EDB-9EF7-E4EC-EAF9-8436CE69095B}"/>
                  </a:ext>
                </a:extLst>
              </p:cNvPr>
              <p:cNvPicPr>
                <a:picLocks noChangeAspect="1"/>
              </p:cNvPicPr>
              <p:nvPr/>
            </p:nvPicPr>
            <p:blipFill rotWithShape="1">
              <a:blip r:embed="rId4"/>
              <a:srcRect l="63028"/>
              <a:stretch/>
            </p:blipFill>
            <p:spPr>
              <a:xfrm>
                <a:off x="7367506" y="6508047"/>
                <a:ext cx="2873644" cy="295559"/>
              </a:xfrm>
              <a:prstGeom prst="rect">
                <a:avLst/>
              </a:prstGeom>
            </p:spPr>
          </p:pic>
          <p:pic>
            <p:nvPicPr>
              <p:cNvPr id="10" name="Picture 9">
                <a:extLst>
                  <a:ext uri="{FF2B5EF4-FFF2-40B4-BE49-F238E27FC236}">
                    <a16:creationId xmlns:a16="http://schemas.microsoft.com/office/drawing/2014/main" id="{4AC304D5-8908-9A3E-1A86-B26F171B6F92}"/>
                  </a:ext>
                </a:extLst>
              </p:cNvPr>
              <p:cNvPicPr>
                <a:picLocks noChangeAspect="1"/>
              </p:cNvPicPr>
              <p:nvPr/>
            </p:nvPicPr>
            <p:blipFill rotWithShape="1">
              <a:blip r:embed="rId4"/>
              <a:srcRect r="36873"/>
              <a:stretch/>
            </p:blipFill>
            <p:spPr>
              <a:xfrm>
                <a:off x="6351076" y="6239610"/>
                <a:ext cx="4906505" cy="295559"/>
              </a:xfrm>
              <a:prstGeom prst="rect">
                <a:avLst/>
              </a:prstGeom>
            </p:spPr>
          </p:pic>
        </p:grpSp>
      </p:grpSp>
    </p:spTree>
    <p:extLst>
      <p:ext uri="{BB962C8B-B14F-4D97-AF65-F5344CB8AC3E}">
        <p14:creationId xmlns:p14="http://schemas.microsoft.com/office/powerpoint/2010/main" val="402585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Introduction: problem description</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4</a:t>
            </a:fld>
            <a:endParaRPr lang="en-US"/>
          </a:p>
        </p:txBody>
      </p:sp>
      <p:sp>
        <p:nvSpPr>
          <p:cNvPr id="10" name="TextBox 9">
            <a:extLst>
              <a:ext uri="{FF2B5EF4-FFF2-40B4-BE49-F238E27FC236}">
                <a16:creationId xmlns:a16="http://schemas.microsoft.com/office/drawing/2014/main" id="{835F69D2-F3D3-2CFF-6296-BF2CF88DECEB}"/>
              </a:ext>
            </a:extLst>
          </p:cNvPr>
          <p:cNvSpPr txBox="1"/>
          <p:nvPr/>
        </p:nvSpPr>
        <p:spPr>
          <a:xfrm>
            <a:off x="838200" y="1219569"/>
            <a:ext cx="10863470" cy="1107996"/>
          </a:xfrm>
          <a:prstGeom prst="rect">
            <a:avLst/>
          </a:prstGeom>
          <a:noFill/>
        </p:spPr>
        <p:txBody>
          <a:bodyPr wrap="square">
            <a:spAutoFit/>
          </a:bodyPr>
          <a:lstStyle/>
          <a:p>
            <a:r>
              <a:rPr lang="en-US" sz="2200" dirty="0"/>
              <a:t>The wing geometry </a:t>
            </a:r>
            <a:r>
              <a:rPr lang="en-US" sz="2200" b="1" u="sng" dirty="0"/>
              <a:t>is adopted from the Piper PA-38 Tomahawk</a:t>
            </a:r>
            <a:r>
              <a:rPr lang="en-US" sz="2200" dirty="0"/>
              <a:t>. The structural model is a </a:t>
            </a:r>
            <a:r>
              <a:rPr lang="en-US" sz="2200" i="1" dirty="0"/>
              <a:t>cantilevered half-wing</a:t>
            </a:r>
            <a:r>
              <a:rPr lang="en-US" sz="2200" dirty="0"/>
              <a:t> with a closed wing box formed by upper and lower skins, two spanwise spars, and ten chordwise ribs (</a:t>
            </a:r>
            <a:r>
              <a:rPr lang="en-US" sz="2200" dirty="0">
                <a:solidFill>
                  <a:srgbClr val="FF0000"/>
                </a:solidFill>
              </a:rPr>
              <a:t>shared topology, no need contact elements</a:t>
            </a:r>
            <a:r>
              <a:rPr lang="en-US" sz="2200" dirty="0"/>
              <a:t>).</a:t>
            </a:r>
          </a:p>
        </p:txBody>
      </p:sp>
      <p:pic>
        <p:nvPicPr>
          <p:cNvPr id="5" name="Picture 4" descr="A white plane with wings&#10;&#10;Description automatically generated with medium confidence">
            <a:extLst>
              <a:ext uri="{FF2B5EF4-FFF2-40B4-BE49-F238E27FC236}">
                <a16:creationId xmlns:a16="http://schemas.microsoft.com/office/drawing/2014/main" id="{99B62A7F-8296-7F37-C484-DF3CCBEDB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40" y="2571774"/>
            <a:ext cx="5019261" cy="3635485"/>
          </a:xfrm>
          <a:prstGeom prst="rect">
            <a:avLst/>
          </a:prstGeom>
        </p:spPr>
      </p:pic>
      <p:pic>
        <p:nvPicPr>
          <p:cNvPr id="9" name="Picture 8">
            <a:extLst>
              <a:ext uri="{FF2B5EF4-FFF2-40B4-BE49-F238E27FC236}">
                <a16:creationId xmlns:a16="http://schemas.microsoft.com/office/drawing/2014/main" id="{1E524622-407F-02A8-AF0B-A38A6C4280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9700" y="2576965"/>
            <a:ext cx="5019260" cy="3657731"/>
          </a:xfrm>
          <a:prstGeom prst="rect">
            <a:avLst/>
          </a:prstGeom>
        </p:spPr>
      </p:pic>
      <p:sp>
        <p:nvSpPr>
          <p:cNvPr id="11" name="TextBox 10">
            <a:extLst>
              <a:ext uri="{FF2B5EF4-FFF2-40B4-BE49-F238E27FC236}">
                <a16:creationId xmlns:a16="http://schemas.microsoft.com/office/drawing/2014/main" id="{A23A3D56-A26D-C45A-C6C7-3FD4E7D2F57C}"/>
              </a:ext>
            </a:extLst>
          </p:cNvPr>
          <p:cNvSpPr txBox="1"/>
          <p:nvPr/>
        </p:nvSpPr>
        <p:spPr>
          <a:xfrm>
            <a:off x="9448800" y="5176766"/>
            <a:ext cx="2060160" cy="923330"/>
          </a:xfrm>
          <a:prstGeom prst="rect">
            <a:avLst/>
          </a:prstGeom>
          <a:noFill/>
        </p:spPr>
        <p:txBody>
          <a:bodyPr wrap="square" rtlCol="0">
            <a:spAutoFit/>
          </a:bodyPr>
          <a:lstStyle/>
          <a:p>
            <a:r>
              <a:rPr lang="en-US" dirty="0">
                <a:solidFill>
                  <a:srgbClr val="FFFF00"/>
                </a:solidFill>
              </a:rPr>
              <a:t>Material:</a:t>
            </a:r>
          </a:p>
          <a:p>
            <a:r>
              <a:rPr lang="en-US" dirty="0">
                <a:solidFill>
                  <a:srgbClr val="FFFF00"/>
                </a:solidFill>
              </a:rPr>
              <a:t>aerospace-grade isotropic </a:t>
            </a:r>
            <a:r>
              <a:rPr lang="en-US" b="1" dirty="0">
                <a:solidFill>
                  <a:srgbClr val="FFFF00"/>
                </a:solidFill>
              </a:rPr>
              <a:t>Al 2024-T3</a:t>
            </a:r>
          </a:p>
        </p:txBody>
      </p:sp>
      <p:sp>
        <p:nvSpPr>
          <p:cNvPr id="12" name="TextBox 11">
            <a:extLst>
              <a:ext uri="{FF2B5EF4-FFF2-40B4-BE49-F238E27FC236}">
                <a16:creationId xmlns:a16="http://schemas.microsoft.com/office/drawing/2014/main" id="{B6DDB647-9E5F-E6BA-8A71-9A7A5FFEB42B}"/>
              </a:ext>
            </a:extLst>
          </p:cNvPr>
          <p:cNvSpPr txBox="1"/>
          <p:nvPr/>
        </p:nvSpPr>
        <p:spPr>
          <a:xfrm>
            <a:off x="6632713" y="3663722"/>
            <a:ext cx="2060160" cy="646331"/>
          </a:xfrm>
          <a:prstGeom prst="rect">
            <a:avLst/>
          </a:prstGeom>
          <a:noFill/>
        </p:spPr>
        <p:txBody>
          <a:bodyPr wrap="square" rtlCol="0">
            <a:spAutoFit/>
          </a:bodyPr>
          <a:lstStyle/>
          <a:p>
            <a:r>
              <a:rPr lang="en-US" b="1" dirty="0">
                <a:solidFill>
                  <a:schemeClr val="bg1"/>
                </a:solidFill>
              </a:rPr>
              <a:t>Stringers are not modeled !!!</a:t>
            </a:r>
          </a:p>
        </p:txBody>
      </p:sp>
      <p:sp>
        <p:nvSpPr>
          <p:cNvPr id="13" name="TextBox 12">
            <a:extLst>
              <a:ext uri="{FF2B5EF4-FFF2-40B4-BE49-F238E27FC236}">
                <a16:creationId xmlns:a16="http://schemas.microsoft.com/office/drawing/2014/main" id="{87930448-274E-FA01-9F93-2E0AA47AE859}"/>
              </a:ext>
            </a:extLst>
          </p:cNvPr>
          <p:cNvSpPr txBox="1"/>
          <p:nvPr/>
        </p:nvSpPr>
        <p:spPr>
          <a:xfrm>
            <a:off x="857527" y="6294239"/>
            <a:ext cx="4844774" cy="369332"/>
          </a:xfrm>
          <a:prstGeom prst="rect">
            <a:avLst/>
          </a:prstGeom>
          <a:noFill/>
        </p:spPr>
        <p:txBody>
          <a:bodyPr wrap="square" rtlCol="0">
            <a:spAutoFit/>
          </a:bodyPr>
          <a:lstStyle/>
          <a:p>
            <a:r>
              <a:rPr lang="en-US" b="1" dirty="0"/>
              <a:t>G</a:t>
            </a:r>
            <a:r>
              <a:rPr lang="en-US" dirty="0"/>
              <a:t>eneral </a:t>
            </a:r>
            <a:r>
              <a:rPr lang="en-US" b="1" dirty="0"/>
              <a:t>A</a:t>
            </a:r>
            <a:r>
              <a:rPr lang="en-US" dirty="0"/>
              <a:t>viation airplane: PA-38 3-view drawing</a:t>
            </a:r>
          </a:p>
        </p:txBody>
      </p:sp>
    </p:spTree>
    <p:extLst>
      <p:ext uri="{BB962C8B-B14F-4D97-AF65-F5344CB8AC3E}">
        <p14:creationId xmlns:p14="http://schemas.microsoft.com/office/powerpoint/2010/main" val="2616206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fontScale="90000"/>
          </a:bodyPr>
          <a:lstStyle/>
          <a:p>
            <a:r>
              <a:rPr lang="en-US" dirty="0"/>
              <a:t>Governing Equations and Boundary Conditions</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5</a:t>
            </a:fld>
            <a:endParaRPr lang="en-US"/>
          </a:p>
        </p:txBody>
      </p:sp>
      <p:grpSp>
        <p:nvGrpSpPr>
          <p:cNvPr id="24" name="Group 23">
            <a:extLst>
              <a:ext uri="{FF2B5EF4-FFF2-40B4-BE49-F238E27FC236}">
                <a16:creationId xmlns:a16="http://schemas.microsoft.com/office/drawing/2014/main" id="{CC4B58C1-CDAC-557D-9FD7-701A9DE4487D}"/>
              </a:ext>
            </a:extLst>
          </p:cNvPr>
          <p:cNvGrpSpPr/>
          <p:nvPr/>
        </p:nvGrpSpPr>
        <p:grpSpPr>
          <a:xfrm>
            <a:off x="620687" y="1314690"/>
            <a:ext cx="4660900" cy="4267083"/>
            <a:chOff x="481954" y="1268300"/>
            <a:chExt cx="4660900" cy="4267083"/>
          </a:xfrm>
        </p:grpSpPr>
        <p:grpSp>
          <p:nvGrpSpPr>
            <p:cNvPr id="14" name="Group 13">
              <a:extLst>
                <a:ext uri="{FF2B5EF4-FFF2-40B4-BE49-F238E27FC236}">
                  <a16:creationId xmlns:a16="http://schemas.microsoft.com/office/drawing/2014/main" id="{EB3605DF-6F44-01D9-ACAA-550A2424CB26}"/>
                </a:ext>
              </a:extLst>
            </p:cNvPr>
            <p:cNvGrpSpPr/>
            <p:nvPr/>
          </p:nvGrpSpPr>
          <p:grpSpPr>
            <a:xfrm>
              <a:off x="481954" y="2100386"/>
              <a:ext cx="4660900" cy="3434997"/>
              <a:chOff x="3829588" y="3076198"/>
              <a:chExt cx="4660900" cy="3434997"/>
            </a:xfrm>
          </p:grpSpPr>
          <p:pic>
            <p:nvPicPr>
              <p:cNvPr id="3" name="Picture 2">
                <a:extLst>
                  <a:ext uri="{FF2B5EF4-FFF2-40B4-BE49-F238E27FC236}">
                    <a16:creationId xmlns:a16="http://schemas.microsoft.com/office/drawing/2014/main" id="{DBA90AA8-8BB4-D157-D818-928A8ACCBEA5}"/>
                  </a:ext>
                </a:extLst>
              </p:cNvPr>
              <p:cNvPicPr>
                <a:picLocks noChangeAspect="1"/>
              </p:cNvPicPr>
              <p:nvPr/>
            </p:nvPicPr>
            <p:blipFill>
              <a:blip r:embed="rId3"/>
              <a:stretch>
                <a:fillRect/>
              </a:stretch>
            </p:blipFill>
            <p:spPr>
              <a:xfrm>
                <a:off x="4679950" y="3076198"/>
                <a:ext cx="2832100" cy="736600"/>
              </a:xfrm>
              <a:prstGeom prst="rect">
                <a:avLst/>
              </a:prstGeom>
            </p:spPr>
          </p:pic>
          <p:pic>
            <p:nvPicPr>
              <p:cNvPr id="5" name="Picture 4">
                <a:extLst>
                  <a:ext uri="{FF2B5EF4-FFF2-40B4-BE49-F238E27FC236}">
                    <a16:creationId xmlns:a16="http://schemas.microsoft.com/office/drawing/2014/main" id="{766C666A-9358-D35B-8B2D-4E7AA82A5C40}"/>
                  </a:ext>
                </a:extLst>
              </p:cNvPr>
              <p:cNvPicPr>
                <a:picLocks noChangeAspect="1"/>
              </p:cNvPicPr>
              <p:nvPr/>
            </p:nvPicPr>
            <p:blipFill>
              <a:blip r:embed="rId4"/>
              <a:stretch>
                <a:fillRect/>
              </a:stretch>
            </p:blipFill>
            <p:spPr>
              <a:xfrm>
                <a:off x="5505450" y="3828296"/>
                <a:ext cx="1181100" cy="342900"/>
              </a:xfrm>
              <a:prstGeom prst="rect">
                <a:avLst/>
              </a:prstGeom>
            </p:spPr>
          </p:pic>
          <p:pic>
            <p:nvPicPr>
              <p:cNvPr id="6" name="Picture 5">
                <a:extLst>
                  <a:ext uri="{FF2B5EF4-FFF2-40B4-BE49-F238E27FC236}">
                    <a16:creationId xmlns:a16="http://schemas.microsoft.com/office/drawing/2014/main" id="{1C313272-D42D-D483-973B-9B0E157DA034}"/>
                  </a:ext>
                </a:extLst>
              </p:cNvPr>
              <p:cNvPicPr>
                <a:picLocks noChangeAspect="1"/>
              </p:cNvPicPr>
              <p:nvPr/>
            </p:nvPicPr>
            <p:blipFill>
              <a:blip r:embed="rId5"/>
              <a:stretch>
                <a:fillRect/>
              </a:stretch>
            </p:blipFill>
            <p:spPr>
              <a:xfrm>
                <a:off x="4908550" y="4297765"/>
                <a:ext cx="2374900" cy="317500"/>
              </a:xfrm>
              <a:prstGeom prst="rect">
                <a:avLst/>
              </a:prstGeom>
            </p:spPr>
          </p:pic>
          <p:pic>
            <p:nvPicPr>
              <p:cNvPr id="9" name="Picture 8">
                <a:extLst>
                  <a:ext uri="{FF2B5EF4-FFF2-40B4-BE49-F238E27FC236}">
                    <a16:creationId xmlns:a16="http://schemas.microsoft.com/office/drawing/2014/main" id="{2DCD9B55-0D57-7DE6-A509-06F701111CFF}"/>
                  </a:ext>
                </a:extLst>
              </p:cNvPr>
              <p:cNvPicPr>
                <a:picLocks noChangeAspect="1"/>
              </p:cNvPicPr>
              <p:nvPr/>
            </p:nvPicPr>
            <p:blipFill>
              <a:blip r:embed="rId6"/>
              <a:stretch>
                <a:fillRect/>
              </a:stretch>
            </p:blipFill>
            <p:spPr>
              <a:xfrm>
                <a:off x="4832350" y="5531770"/>
                <a:ext cx="2527300" cy="508000"/>
              </a:xfrm>
              <a:prstGeom prst="rect">
                <a:avLst/>
              </a:prstGeom>
            </p:spPr>
          </p:pic>
          <p:pic>
            <p:nvPicPr>
              <p:cNvPr id="11" name="Picture 10">
                <a:extLst>
                  <a:ext uri="{FF2B5EF4-FFF2-40B4-BE49-F238E27FC236}">
                    <a16:creationId xmlns:a16="http://schemas.microsoft.com/office/drawing/2014/main" id="{24D798CF-229E-A539-DA70-CBD9FB576FC8}"/>
                  </a:ext>
                </a:extLst>
              </p:cNvPr>
              <p:cNvPicPr>
                <a:picLocks noChangeAspect="1"/>
              </p:cNvPicPr>
              <p:nvPr/>
            </p:nvPicPr>
            <p:blipFill>
              <a:blip r:embed="rId7"/>
              <a:stretch>
                <a:fillRect/>
              </a:stretch>
            </p:blipFill>
            <p:spPr>
              <a:xfrm>
                <a:off x="4076700" y="6092095"/>
                <a:ext cx="4038600" cy="419100"/>
              </a:xfrm>
              <a:prstGeom prst="rect">
                <a:avLst/>
              </a:prstGeom>
            </p:spPr>
          </p:pic>
          <p:pic>
            <p:nvPicPr>
              <p:cNvPr id="12" name="Picture 11">
                <a:extLst>
                  <a:ext uri="{FF2B5EF4-FFF2-40B4-BE49-F238E27FC236}">
                    <a16:creationId xmlns:a16="http://schemas.microsoft.com/office/drawing/2014/main" id="{45DD6EA8-362C-E3BA-60AE-1B1AE70883CD}"/>
                  </a:ext>
                </a:extLst>
              </p:cNvPr>
              <p:cNvPicPr>
                <a:picLocks noChangeAspect="1"/>
              </p:cNvPicPr>
              <p:nvPr/>
            </p:nvPicPr>
            <p:blipFill rotWithShape="1">
              <a:blip r:embed="rId8"/>
              <a:srcRect t="14706"/>
              <a:stretch/>
            </p:blipFill>
            <p:spPr>
              <a:xfrm>
                <a:off x="3829588" y="4763356"/>
                <a:ext cx="4660900" cy="736601"/>
              </a:xfrm>
              <a:prstGeom prst="rect">
                <a:avLst/>
              </a:prstGeom>
            </p:spPr>
          </p:pic>
        </p:grpSp>
        <p:sp>
          <p:nvSpPr>
            <p:cNvPr id="18" name="TextBox 17">
              <a:extLst>
                <a:ext uri="{FF2B5EF4-FFF2-40B4-BE49-F238E27FC236}">
                  <a16:creationId xmlns:a16="http://schemas.microsoft.com/office/drawing/2014/main" id="{787E84A2-8786-479D-4926-2579DF7D3BF4}"/>
                </a:ext>
              </a:extLst>
            </p:cNvPr>
            <p:cNvSpPr txBox="1"/>
            <p:nvPr/>
          </p:nvSpPr>
          <p:spPr>
            <a:xfrm>
              <a:off x="1104496" y="1268300"/>
              <a:ext cx="3415815" cy="523220"/>
            </a:xfrm>
            <a:prstGeom prst="rect">
              <a:avLst/>
            </a:prstGeom>
            <a:noFill/>
          </p:spPr>
          <p:txBody>
            <a:bodyPr wrap="square">
              <a:spAutoFit/>
            </a:bodyPr>
            <a:lstStyle/>
            <a:p>
              <a:pPr algn="ctr"/>
              <a:r>
                <a:rPr lang="en-US" sz="2800" b="1" dirty="0">
                  <a:solidFill>
                    <a:srgbClr val="FF0000"/>
                  </a:solidFill>
                </a:rPr>
                <a:t>FEA: Linear Elasticity</a:t>
              </a:r>
              <a:endParaRPr lang="en-US" sz="2800" dirty="0">
                <a:solidFill>
                  <a:srgbClr val="FF0000"/>
                </a:solidFill>
              </a:endParaRPr>
            </a:p>
          </p:txBody>
        </p:sp>
      </p:grpSp>
      <p:grpSp>
        <p:nvGrpSpPr>
          <p:cNvPr id="28" name="Group 27">
            <a:extLst>
              <a:ext uri="{FF2B5EF4-FFF2-40B4-BE49-F238E27FC236}">
                <a16:creationId xmlns:a16="http://schemas.microsoft.com/office/drawing/2014/main" id="{6E62627A-A1B1-B61E-BFDD-74B6E618A544}"/>
              </a:ext>
            </a:extLst>
          </p:cNvPr>
          <p:cNvGrpSpPr/>
          <p:nvPr/>
        </p:nvGrpSpPr>
        <p:grpSpPr>
          <a:xfrm>
            <a:off x="6910414" y="1240433"/>
            <a:ext cx="5076771" cy="2476222"/>
            <a:chOff x="6910413" y="1395167"/>
            <a:chExt cx="5076771" cy="2476222"/>
          </a:xfrm>
        </p:grpSpPr>
        <p:grpSp>
          <p:nvGrpSpPr>
            <p:cNvPr id="26" name="Group 25">
              <a:extLst>
                <a:ext uri="{FF2B5EF4-FFF2-40B4-BE49-F238E27FC236}">
                  <a16:creationId xmlns:a16="http://schemas.microsoft.com/office/drawing/2014/main" id="{6D057713-3F74-F2E4-2FEA-6ECCB1C96F66}"/>
                </a:ext>
              </a:extLst>
            </p:cNvPr>
            <p:cNvGrpSpPr/>
            <p:nvPr/>
          </p:nvGrpSpPr>
          <p:grpSpPr>
            <a:xfrm>
              <a:off x="6910413" y="1395167"/>
              <a:ext cx="5076771" cy="1830183"/>
              <a:chOff x="6910413" y="1395167"/>
              <a:chExt cx="5076771" cy="1830183"/>
            </a:xfrm>
          </p:grpSpPr>
          <p:grpSp>
            <p:nvGrpSpPr>
              <p:cNvPr id="16" name="Group 15">
                <a:extLst>
                  <a:ext uri="{FF2B5EF4-FFF2-40B4-BE49-F238E27FC236}">
                    <a16:creationId xmlns:a16="http://schemas.microsoft.com/office/drawing/2014/main" id="{201769E4-3FC7-97CB-A09D-4E2F0B86A8A6}"/>
                  </a:ext>
                </a:extLst>
              </p:cNvPr>
              <p:cNvGrpSpPr/>
              <p:nvPr/>
            </p:nvGrpSpPr>
            <p:grpSpPr>
              <a:xfrm>
                <a:off x="7404582" y="1958413"/>
                <a:ext cx="4088429" cy="1266937"/>
                <a:chOff x="7404585" y="2565321"/>
                <a:chExt cx="4088429" cy="1266937"/>
              </a:xfrm>
            </p:grpSpPr>
            <p:pic>
              <p:nvPicPr>
                <p:cNvPr id="13" name="Picture 12">
                  <a:extLst>
                    <a:ext uri="{FF2B5EF4-FFF2-40B4-BE49-F238E27FC236}">
                      <a16:creationId xmlns:a16="http://schemas.microsoft.com/office/drawing/2014/main" id="{FF820FB0-A4E2-8F5C-9280-496813DFBF77}"/>
                    </a:ext>
                  </a:extLst>
                </p:cNvPr>
                <p:cNvPicPr>
                  <a:picLocks noChangeAspect="1"/>
                </p:cNvPicPr>
                <p:nvPr/>
              </p:nvPicPr>
              <p:blipFill rotWithShape="1">
                <a:blip r:embed="rId9"/>
                <a:srcRect t="-1" r="32369" b="-4172"/>
                <a:stretch/>
              </p:blipFill>
              <p:spPr>
                <a:xfrm>
                  <a:off x="7404585" y="2565321"/>
                  <a:ext cx="4088429" cy="833478"/>
                </a:xfrm>
                <a:prstGeom prst="rect">
                  <a:avLst/>
                </a:prstGeom>
              </p:spPr>
            </p:pic>
            <p:pic>
              <p:nvPicPr>
                <p:cNvPr id="15" name="Picture 14">
                  <a:extLst>
                    <a:ext uri="{FF2B5EF4-FFF2-40B4-BE49-F238E27FC236}">
                      <a16:creationId xmlns:a16="http://schemas.microsoft.com/office/drawing/2014/main" id="{5BF6BC18-ABEE-DD8E-8481-4714A92DB92F}"/>
                    </a:ext>
                  </a:extLst>
                </p:cNvPr>
                <p:cNvPicPr>
                  <a:picLocks noChangeAspect="1"/>
                </p:cNvPicPr>
                <p:nvPr/>
              </p:nvPicPr>
              <p:blipFill rotWithShape="1">
                <a:blip r:embed="rId9"/>
                <a:srcRect l="68195" t="15820" b="11237"/>
                <a:stretch/>
              </p:blipFill>
              <p:spPr>
                <a:xfrm>
                  <a:off x="8487474" y="3248637"/>
                  <a:ext cx="1922651" cy="583621"/>
                </a:xfrm>
                <a:prstGeom prst="rect">
                  <a:avLst/>
                </a:prstGeom>
              </p:spPr>
            </p:pic>
          </p:grpSp>
          <p:sp>
            <p:nvSpPr>
              <p:cNvPr id="19" name="TextBox 18">
                <a:extLst>
                  <a:ext uri="{FF2B5EF4-FFF2-40B4-BE49-F238E27FC236}">
                    <a16:creationId xmlns:a16="http://schemas.microsoft.com/office/drawing/2014/main" id="{6F27D4C5-1861-BE87-C6BB-74B6942E8CCD}"/>
                  </a:ext>
                </a:extLst>
              </p:cNvPr>
              <p:cNvSpPr txBox="1"/>
              <p:nvPr/>
            </p:nvSpPr>
            <p:spPr>
              <a:xfrm>
                <a:off x="6910413" y="1395167"/>
                <a:ext cx="5076771" cy="523220"/>
              </a:xfrm>
              <a:prstGeom prst="rect">
                <a:avLst/>
              </a:prstGeom>
              <a:noFill/>
            </p:spPr>
            <p:txBody>
              <a:bodyPr wrap="square">
                <a:spAutoFit/>
              </a:bodyPr>
              <a:lstStyle/>
              <a:p>
                <a:pPr algn="ctr"/>
                <a:r>
                  <a:rPr lang="en-US" sz="2800" b="1" dirty="0">
                    <a:solidFill>
                      <a:srgbClr val="FF0000"/>
                    </a:solidFill>
                  </a:rPr>
                  <a:t>CFD: Compressible Navier-Stokes</a:t>
                </a:r>
                <a:endParaRPr lang="en-US" sz="2800" dirty="0">
                  <a:solidFill>
                    <a:srgbClr val="FF0000"/>
                  </a:solidFill>
                </a:endParaRPr>
              </a:p>
            </p:txBody>
          </p:sp>
        </p:grpSp>
        <p:sp>
          <p:nvSpPr>
            <p:cNvPr id="27" name="TextBox 26">
              <a:extLst>
                <a:ext uri="{FF2B5EF4-FFF2-40B4-BE49-F238E27FC236}">
                  <a16:creationId xmlns:a16="http://schemas.microsoft.com/office/drawing/2014/main" id="{5ED6A926-79C0-0CD9-7BB1-EA1E7FB74D6F}"/>
                </a:ext>
              </a:extLst>
            </p:cNvPr>
            <p:cNvSpPr txBox="1"/>
            <p:nvPr/>
          </p:nvSpPr>
          <p:spPr>
            <a:xfrm>
              <a:off x="7429827" y="3225058"/>
              <a:ext cx="4088429" cy="646331"/>
            </a:xfrm>
            <a:prstGeom prst="rect">
              <a:avLst/>
            </a:prstGeom>
            <a:noFill/>
          </p:spPr>
          <p:txBody>
            <a:bodyPr wrap="square">
              <a:spAutoFit/>
            </a:bodyPr>
            <a:lstStyle/>
            <a:p>
              <a:pPr algn="ctr"/>
              <a:r>
                <a:rPr lang="en-US" dirty="0"/>
                <a:t>Reynolds-Averaged Navier Stokes</a:t>
              </a:r>
            </a:p>
            <a:p>
              <a:pPr algn="ctr"/>
              <a:r>
                <a:rPr lang="en-US" dirty="0"/>
                <a:t>with SST k-omega turbulence model</a:t>
              </a:r>
            </a:p>
          </p:txBody>
        </p:sp>
      </p:grpSp>
      <p:cxnSp>
        <p:nvCxnSpPr>
          <p:cNvPr id="31" name="Straight Connector 30">
            <a:extLst>
              <a:ext uri="{FF2B5EF4-FFF2-40B4-BE49-F238E27FC236}">
                <a16:creationId xmlns:a16="http://schemas.microsoft.com/office/drawing/2014/main" id="{45B2DD44-35FD-87AF-D74A-456E1644C133}"/>
              </a:ext>
            </a:extLst>
          </p:cNvPr>
          <p:cNvCxnSpPr>
            <a:cxnSpLocks/>
          </p:cNvCxnSpPr>
          <p:nvPr/>
        </p:nvCxnSpPr>
        <p:spPr>
          <a:xfrm>
            <a:off x="6096000" y="1240433"/>
            <a:ext cx="0" cy="508287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80B11120-323C-F3A2-EC81-7D19D60F0916}"/>
              </a:ext>
            </a:extLst>
          </p:cNvPr>
          <p:cNvGrpSpPr/>
          <p:nvPr/>
        </p:nvGrpSpPr>
        <p:grpSpPr>
          <a:xfrm>
            <a:off x="6471188" y="3827951"/>
            <a:ext cx="5399527" cy="2719671"/>
            <a:chOff x="6587656" y="3851054"/>
            <a:chExt cx="5399527" cy="2719671"/>
          </a:xfrm>
        </p:grpSpPr>
        <p:grpSp>
          <p:nvGrpSpPr>
            <p:cNvPr id="29" name="Group 28">
              <a:extLst>
                <a:ext uri="{FF2B5EF4-FFF2-40B4-BE49-F238E27FC236}">
                  <a16:creationId xmlns:a16="http://schemas.microsoft.com/office/drawing/2014/main" id="{24057D1B-D57A-4D96-989F-7F50E0FC985E}"/>
                </a:ext>
              </a:extLst>
            </p:cNvPr>
            <p:cNvGrpSpPr/>
            <p:nvPr/>
          </p:nvGrpSpPr>
          <p:grpSpPr>
            <a:xfrm>
              <a:off x="6587656" y="3851054"/>
              <a:ext cx="5399527" cy="1521169"/>
              <a:chOff x="6600142" y="3687039"/>
              <a:chExt cx="5722282" cy="1521169"/>
            </a:xfrm>
          </p:grpSpPr>
          <p:sp>
            <p:nvSpPr>
              <p:cNvPr id="21" name="TextBox 20">
                <a:extLst>
                  <a:ext uri="{FF2B5EF4-FFF2-40B4-BE49-F238E27FC236}">
                    <a16:creationId xmlns:a16="http://schemas.microsoft.com/office/drawing/2014/main" id="{EF6EAF0D-6CDC-EC86-60AE-C1DD06357F9B}"/>
                  </a:ext>
                </a:extLst>
              </p:cNvPr>
              <p:cNvSpPr txBox="1"/>
              <p:nvPr/>
            </p:nvSpPr>
            <p:spPr>
              <a:xfrm>
                <a:off x="6731029" y="3687039"/>
                <a:ext cx="5076771" cy="523220"/>
              </a:xfrm>
              <a:prstGeom prst="rect">
                <a:avLst/>
              </a:prstGeom>
              <a:noFill/>
            </p:spPr>
            <p:txBody>
              <a:bodyPr wrap="square">
                <a:spAutoFit/>
              </a:bodyPr>
              <a:lstStyle/>
              <a:p>
                <a:pPr algn="ctr"/>
                <a:r>
                  <a:rPr lang="en-US" sz="2800" b="1" dirty="0">
                    <a:solidFill>
                      <a:srgbClr val="FF0000"/>
                    </a:solidFill>
                  </a:rPr>
                  <a:t>Boundary Conditions</a:t>
                </a:r>
                <a:endParaRPr lang="en-US" sz="2800" dirty="0">
                  <a:solidFill>
                    <a:srgbClr val="FF0000"/>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D48F07E-1497-6EFC-71E6-183F222C14AC}"/>
                      </a:ext>
                    </a:extLst>
                  </p:cNvPr>
                  <p:cNvSpPr txBox="1"/>
                  <p:nvPr/>
                </p:nvSpPr>
                <p:spPr>
                  <a:xfrm>
                    <a:off x="6600142" y="4262949"/>
                    <a:ext cx="5722282" cy="945259"/>
                  </a:xfrm>
                  <a:prstGeom prst="rect">
                    <a:avLst/>
                  </a:prstGeom>
                  <a:noFill/>
                </p:spPr>
                <p:txBody>
                  <a:bodyPr wrap="square">
                    <a:spAutoFit/>
                  </a:bodyPr>
                  <a:lstStyle/>
                  <a:p>
                    <a:r>
                      <a:rPr lang="en-US" dirty="0"/>
                      <a:t>Fixed support at wing root, pressure from CFD, </a:t>
                    </a:r>
                    <a:r>
                      <a:rPr lang="en-US" i="1" dirty="0"/>
                      <a:t>p</a:t>
                    </a:r>
                    <a:r>
                      <a:rPr lang="en-US" dirty="0"/>
                      <a:t>(</a:t>
                    </a:r>
                    <a:r>
                      <a:rPr lang="en-US" b="1" dirty="0"/>
                      <a:t>x</a:t>
                    </a:r>
                    <a:r>
                      <a:rPr lang="en-US" dirty="0"/>
                      <a:t>), is applied to the wing skin, and inertial load (</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𝒇</m:t>
                            </m:r>
                          </m:e>
                          <m:sub>
                            <m:r>
                              <m:rPr>
                                <m:sty m:val="p"/>
                              </m:rPr>
                              <a:rPr lang="en-US" b="0" i="0" smtClean="0">
                                <a:latin typeface="Cambria Math" panose="02040503050406030204" pitchFamily="18" charset="0"/>
                              </a:rPr>
                              <m:t>body</m:t>
                            </m:r>
                          </m:sub>
                        </m:sSub>
                      </m:oMath>
                    </a14:m>
                    <a:r>
                      <a:rPr lang="en-US" dirty="0"/>
                      <a:t>) due to self-weight is applied on the solid body.</a:t>
                    </a:r>
                  </a:p>
                </p:txBody>
              </p:sp>
            </mc:Choice>
            <mc:Fallback xmlns="">
              <p:sp>
                <p:nvSpPr>
                  <p:cNvPr id="23" name="TextBox 22">
                    <a:extLst>
                      <a:ext uri="{FF2B5EF4-FFF2-40B4-BE49-F238E27FC236}">
                        <a16:creationId xmlns:a16="http://schemas.microsoft.com/office/drawing/2014/main" id="{AD48F07E-1497-6EFC-71E6-183F222C14AC}"/>
                      </a:ext>
                    </a:extLst>
                  </p:cNvPr>
                  <p:cNvSpPr txBox="1">
                    <a:spLocks noRot="1" noChangeAspect="1" noMove="1" noResize="1" noEditPoints="1" noAdjustHandles="1" noChangeArrowheads="1" noChangeShapeType="1" noTextEdit="1"/>
                  </p:cNvSpPr>
                  <p:nvPr/>
                </p:nvSpPr>
                <p:spPr>
                  <a:xfrm>
                    <a:off x="6600142" y="4262949"/>
                    <a:ext cx="5722282" cy="945259"/>
                  </a:xfrm>
                  <a:prstGeom prst="rect">
                    <a:avLst/>
                  </a:prstGeom>
                  <a:blipFill>
                    <a:blip r:embed="rId10"/>
                    <a:stretch>
                      <a:fillRect l="-939" t="-2667" b="-10667"/>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DB06ACEF-3676-7D11-DC2A-E5B015A5DB21}"/>
                </a:ext>
              </a:extLst>
            </p:cNvPr>
            <p:cNvGrpSpPr/>
            <p:nvPr/>
          </p:nvGrpSpPr>
          <p:grpSpPr>
            <a:xfrm>
              <a:off x="7726742" y="5510021"/>
              <a:ext cx="3181815" cy="1060704"/>
              <a:chOff x="7404583" y="5496150"/>
              <a:chExt cx="3181815" cy="1060704"/>
            </a:xfrm>
          </p:grpSpPr>
          <p:pic>
            <p:nvPicPr>
              <p:cNvPr id="7" name="Picture 6">
                <a:extLst>
                  <a:ext uri="{FF2B5EF4-FFF2-40B4-BE49-F238E27FC236}">
                    <a16:creationId xmlns:a16="http://schemas.microsoft.com/office/drawing/2014/main" id="{C2C8B971-80A1-A466-626F-916161227ED8}"/>
                  </a:ext>
                </a:extLst>
              </p:cNvPr>
              <p:cNvPicPr>
                <a:picLocks noChangeAspect="1"/>
              </p:cNvPicPr>
              <p:nvPr/>
            </p:nvPicPr>
            <p:blipFill rotWithShape="1">
              <a:blip r:embed="rId11"/>
              <a:srcRect r="65115"/>
              <a:stretch/>
            </p:blipFill>
            <p:spPr>
              <a:xfrm>
                <a:off x="7404583" y="5496947"/>
                <a:ext cx="1863769" cy="1059111"/>
              </a:xfrm>
              <a:prstGeom prst="rect">
                <a:avLst/>
              </a:prstGeom>
            </p:spPr>
          </p:pic>
          <p:pic>
            <p:nvPicPr>
              <p:cNvPr id="8" name="Picture 7">
                <a:extLst>
                  <a:ext uri="{FF2B5EF4-FFF2-40B4-BE49-F238E27FC236}">
                    <a16:creationId xmlns:a16="http://schemas.microsoft.com/office/drawing/2014/main" id="{51802285-39A0-57F6-06DB-6573BA2F1DF9}"/>
                  </a:ext>
                </a:extLst>
              </p:cNvPr>
              <p:cNvPicPr>
                <a:picLocks noChangeAspect="1"/>
              </p:cNvPicPr>
              <p:nvPr/>
            </p:nvPicPr>
            <p:blipFill rotWithShape="1">
              <a:blip r:embed="rId11"/>
              <a:srcRect l="79902"/>
              <a:stretch/>
            </p:blipFill>
            <p:spPr>
              <a:xfrm>
                <a:off x="9511000" y="5496150"/>
                <a:ext cx="1075398" cy="1060704"/>
              </a:xfrm>
              <a:prstGeom prst="rect">
                <a:avLst/>
              </a:prstGeom>
            </p:spPr>
          </p:pic>
        </p:grpSp>
      </p:grpSp>
    </p:spTree>
    <p:extLst>
      <p:ext uri="{BB962C8B-B14F-4D97-AF65-F5344CB8AC3E}">
        <p14:creationId xmlns:p14="http://schemas.microsoft.com/office/powerpoint/2010/main" val="756690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dirty="0"/>
              <a:t>Loads and Boundary Conditions</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6</a:t>
            </a:fld>
            <a:endParaRPr lang="en-US"/>
          </a:p>
        </p:txBody>
      </p:sp>
      <p:pic>
        <p:nvPicPr>
          <p:cNvPr id="20" name="Picture 19">
            <a:extLst>
              <a:ext uri="{FF2B5EF4-FFF2-40B4-BE49-F238E27FC236}">
                <a16:creationId xmlns:a16="http://schemas.microsoft.com/office/drawing/2014/main" id="{8F8CA094-818D-6744-DD5D-1A082F2670C2}"/>
              </a:ext>
            </a:extLst>
          </p:cNvPr>
          <p:cNvPicPr>
            <a:picLocks noChangeAspect="1"/>
          </p:cNvPicPr>
          <p:nvPr/>
        </p:nvPicPr>
        <p:blipFill>
          <a:blip r:embed="rId3"/>
          <a:stretch>
            <a:fillRect/>
          </a:stretch>
        </p:blipFill>
        <p:spPr>
          <a:xfrm>
            <a:off x="197496" y="1693296"/>
            <a:ext cx="11797008" cy="3759784"/>
          </a:xfrm>
          <a:prstGeom prst="rect">
            <a:avLst/>
          </a:prstGeom>
        </p:spPr>
      </p:pic>
      <p:sp>
        <p:nvSpPr>
          <p:cNvPr id="22" name="TextBox 21">
            <a:extLst>
              <a:ext uri="{FF2B5EF4-FFF2-40B4-BE49-F238E27FC236}">
                <a16:creationId xmlns:a16="http://schemas.microsoft.com/office/drawing/2014/main" id="{0A155D14-C6E0-B158-1827-D64632BCDE66}"/>
              </a:ext>
            </a:extLst>
          </p:cNvPr>
          <p:cNvSpPr txBox="1"/>
          <p:nvPr/>
        </p:nvSpPr>
        <p:spPr>
          <a:xfrm>
            <a:off x="1545535" y="6166519"/>
            <a:ext cx="9100930" cy="430887"/>
          </a:xfrm>
          <a:prstGeom prst="rect">
            <a:avLst/>
          </a:prstGeom>
          <a:noFill/>
          <a:ln>
            <a:solidFill>
              <a:srgbClr val="FF0000"/>
            </a:solidFill>
          </a:ln>
        </p:spPr>
        <p:txBody>
          <a:bodyPr wrap="square">
            <a:spAutoFit/>
          </a:bodyPr>
          <a:lstStyle/>
          <a:p>
            <a:pPr algn="ctr"/>
            <a:r>
              <a:rPr lang="en-US" sz="2200" dirty="0"/>
              <a:t>Structural boundary conditions and pressure mapping strategy.</a:t>
            </a:r>
          </a:p>
        </p:txBody>
      </p:sp>
      <p:sp>
        <p:nvSpPr>
          <p:cNvPr id="25" name="Down Arrow 24">
            <a:extLst>
              <a:ext uri="{FF2B5EF4-FFF2-40B4-BE49-F238E27FC236}">
                <a16:creationId xmlns:a16="http://schemas.microsoft.com/office/drawing/2014/main" id="{A3397E66-0C3F-831A-1BC5-89E91297E415}"/>
              </a:ext>
            </a:extLst>
          </p:cNvPr>
          <p:cNvSpPr/>
          <p:nvPr/>
        </p:nvSpPr>
        <p:spPr>
          <a:xfrm>
            <a:off x="4585252" y="1855304"/>
            <a:ext cx="265044" cy="424070"/>
          </a:xfrm>
          <a:prstGeom prst="downArrow">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1450D11-C5E9-A9BC-F46D-93D7EA080C9C}"/>
              </a:ext>
            </a:extLst>
          </p:cNvPr>
          <p:cNvSpPr txBox="1"/>
          <p:nvPr/>
        </p:nvSpPr>
        <p:spPr>
          <a:xfrm>
            <a:off x="4015409" y="1404920"/>
            <a:ext cx="1669774" cy="369332"/>
          </a:xfrm>
          <a:prstGeom prst="rect">
            <a:avLst/>
          </a:prstGeom>
          <a:noFill/>
        </p:spPr>
        <p:txBody>
          <a:bodyPr wrap="square" rtlCol="0">
            <a:spAutoFit/>
          </a:bodyPr>
          <a:lstStyle/>
          <a:p>
            <a:r>
              <a:rPr lang="en-US" b="1" dirty="0">
                <a:solidFill>
                  <a:srgbClr val="FF0000"/>
                </a:solidFill>
              </a:rPr>
              <a:t>Fixed support</a:t>
            </a:r>
          </a:p>
        </p:txBody>
      </p:sp>
      <p:sp>
        <p:nvSpPr>
          <p:cNvPr id="32" name="Down Arrow 31">
            <a:extLst>
              <a:ext uri="{FF2B5EF4-FFF2-40B4-BE49-F238E27FC236}">
                <a16:creationId xmlns:a16="http://schemas.microsoft.com/office/drawing/2014/main" id="{6DEA93FE-6055-D19F-6BB0-DFF5DAC50D24}"/>
              </a:ext>
            </a:extLst>
          </p:cNvPr>
          <p:cNvSpPr/>
          <p:nvPr/>
        </p:nvSpPr>
        <p:spPr>
          <a:xfrm rot="18748970">
            <a:off x="2657060" y="2749827"/>
            <a:ext cx="265044" cy="424070"/>
          </a:xfrm>
          <a:prstGeom prst="downArrow">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FF7640D-1457-5EC5-D757-D237E00A47BB}"/>
              </a:ext>
            </a:extLst>
          </p:cNvPr>
          <p:cNvSpPr txBox="1"/>
          <p:nvPr/>
        </p:nvSpPr>
        <p:spPr>
          <a:xfrm>
            <a:off x="440039" y="2223198"/>
            <a:ext cx="2210991" cy="1477328"/>
          </a:xfrm>
          <a:prstGeom prst="rect">
            <a:avLst/>
          </a:prstGeom>
          <a:noFill/>
        </p:spPr>
        <p:txBody>
          <a:bodyPr wrap="square" rtlCol="0">
            <a:spAutoFit/>
          </a:bodyPr>
          <a:lstStyle/>
          <a:p>
            <a:r>
              <a:rPr lang="en-US" b="1" dirty="0">
                <a:solidFill>
                  <a:srgbClr val="FFFF00"/>
                </a:solidFill>
              </a:rPr>
              <a:t>Upward inertial</a:t>
            </a:r>
          </a:p>
          <a:p>
            <a:r>
              <a:rPr lang="en-US" b="1" dirty="0">
                <a:solidFill>
                  <a:srgbClr val="FFFF00"/>
                </a:solidFill>
              </a:rPr>
              <a:t>acceleration (n * g) creates downward inertial load (self-weight)</a:t>
            </a:r>
          </a:p>
        </p:txBody>
      </p:sp>
    </p:spTree>
    <p:extLst>
      <p:ext uri="{BB962C8B-B14F-4D97-AF65-F5344CB8AC3E}">
        <p14:creationId xmlns:p14="http://schemas.microsoft.com/office/powerpoint/2010/main" val="162484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dirty="0"/>
              <a:t>Aerodynamic Analysis in ANSYS Fluent</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7</a:t>
            </a:fld>
            <a:endParaRPr lang="en-US"/>
          </a:p>
        </p:txBody>
      </p:sp>
      <p:pic>
        <p:nvPicPr>
          <p:cNvPr id="6" name="Picture 5">
            <a:extLst>
              <a:ext uri="{FF2B5EF4-FFF2-40B4-BE49-F238E27FC236}">
                <a16:creationId xmlns:a16="http://schemas.microsoft.com/office/drawing/2014/main" id="{FC2F2B0A-F58B-5A5F-60A6-80E8B4CC7B14}"/>
              </a:ext>
            </a:extLst>
          </p:cNvPr>
          <p:cNvPicPr>
            <a:picLocks noChangeAspect="1"/>
          </p:cNvPicPr>
          <p:nvPr/>
        </p:nvPicPr>
        <p:blipFill>
          <a:blip r:embed="rId3"/>
          <a:stretch>
            <a:fillRect/>
          </a:stretch>
        </p:blipFill>
        <p:spPr>
          <a:xfrm>
            <a:off x="602974" y="2608123"/>
            <a:ext cx="10986052" cy="2677347"/>
          </a:xfrm>
          <a:prstGeom prst="rect">
            <a:avLst/>
          </a:prstGeom>
        </p:spPr>
      </p:pic>
      <p:sp>
        <p:nvSpPr>
          <p:cNvPr id="8" name="TextBox 7">
            <a:extLst>
              <a:ext uri="{FF2B5EF4-FFF2-40B4-BE49-F238E27FC236}">
                <a16:creationId xmlns:a16="http://schemas.microsoft.com/office/drawing/2014/main" id="{0D175A66-91BD-0A9A-C916-0CDE47FA13D1}"/>
              </a:ext>
            </a:extLst>
          </p:cNvPr>
          <p:cNvSpPr txBox="1"/>
          <p:nvPr/>
        </p:nvSpPr>
        <p:spPr>
          <a:xfrm>
            <a:off x="838200" y="1737908"/>
            <a:ext cx="10863470" cy="430887"/>
          </a:xfrm>
          <a:prstGeom prst="rect">
            <a:avLst/>
          </a:prstGeom>
          <a:noFill/>
        </p:spPr>
        <p:txBody>
          <a:bodyPr wrap="square">
            <a:spAutoFit/>
          </a:bodyPr>
          <a:lstStyle/>
          <a:p>
            <a:r>
              <a:rPr lang="en-US" sz="2200" dirty="0"/>
              <a:t>Unstructured mesh for CFD analysis contains ~760,000 cells </a:t>
            </a:r>
            <a:r>
              <a:rPr lang="en-US" sz="2200" dirty="0">
                <a:sym typeface="Wingdings" pitchFamily="2" charset="2"/>
              </a:rPr>
              <a:t> </a:t>
            </a:r>
            <a:r>
              <a:rPr lang="en-US" sz="2200" u="sng" dirty="0">
                <a:sym typeface="Wingdings" pitchFamily="2" charset="2"/>
              </a:rPr>
              <a:t>10 minutes</a:t>
            </a:r>
            <a:r>
              <a:rPr lang="en-US" sz="2200" dirty="0">
                <a:sym typeface="Wingdings" pitchFamily="2" charset="2"/>
              </a:rPr>
              <a:t> on Virtual Barn.</a:t>
            </a:r>
            <a:endParaRPr lang="en-US" sz="2200" dirty="0"/>
          </a:p>
        </p:txBody>
      </p:sp>
    </p:spTree>
    <p:extLst>
      <p:ext uri="{BB962C8B-B14F-4D97-AF65-F5344CB8AC3E}">
        <p14:creationId xmlns:p14="http://schemas.microsoft.com/office/powerpoint/2010/main" val="306512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dirty="0"/>
              <a:t>Aerodynamic Analyses: </a:t>
            </a:r>
            <a:r>
              <a:rPr lang="en-US" dirty="0" err="1"/>
              <a:t>AoA</a:t>
            </a:r>
            <a:r>
              <a:rPr lang="en-US" dirty="0"/>
              <a:t> Sweep</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8</a:t>
            </a:fld>
            <a:endParaRPr lang="en-US"/>
          </a:p>
        </p:txBody>
      </p:sp>
      <p:sp>
        <p:nvSpPr>
          <p:cNvPr id="8" name="TextBox 7">
            <a:extLst>
              <a:ext uri="{FF2B5EF4-FFF2-40B4-BE49-F238E27FC236}">
                <a16:creationId xmlns:a16="http://schemas.microsoft.com/office/drawing/2014/main" id="{0D175A66-91BD-0A9A-C916-0CDE47FA13D1}"/>
              </a:ext>
            </a:extLst>
          </p:cNvPr>
          <p:cNvSpPr txBox="1"/>
          <p:nvPr/>
        </p:nvSpPr>
        <p:spPr>
          <a:xfrm>
            <a:off x="838200" y="1197134"/>
            <a:ext cx="9100930" cy="430887"/>
          </a:xfrm>
          <a:prstGeom prst="rect">
            <a:avLst/>
          </a:prstGeom>
          <a:noFill/>
        </p:spPr>
        <p:txBody>
          <a:bodyPr wrap="square">
            <a:spAutoFit/>
          </a:bodyPr>
          <a:lstStyle/>
          <a:p>
            <a:r>
              <a:rPr lang="en-US" sz="2200" b="1" dirty="0"/>
              <a:t>CFD conditions: </a:t>
            </a:r>
            <a:r>
              <a:rPr lang="en-US" sz="2200" dirty="0"/>
              <a:t>cruise altitude (10,500 ft); cruise speed (51.39 m/s, </a:t>
            </a:r>
            <a:r>
              <a:rPr lang="en-US" sz="2200" u="sng" dirty="0"/>
              <a:t>subsonic</a:t>
            </a:r>
            <a:r>
              <a:rPr lang="en-US" sz="2200" dirty="0"/>
              <a:t>)</a:t>
            </a:r>
          </a:p>
        </p:txBody>
      </p:sp>
      <p:pic>
        <p:nvPicPr>
          <p:cNvPr id="3" name="Picture 2">
            <a:extLst>
              <a:ext uri="{FF2B5EF4-FFF2-40B4-BE49-F238E27FC236}">
                <a16:creationId xmlns:a16="http://schemas.microsoft.com/office/drawing/2014/main" id="{7D220C8D-355F-E9D5-6111-057E8FCB93F8}"/>
              </a:ext>
            </a:extLst>
          </p:cNvPr>
          <p:cNvPicPr>
            <a:picLocks noChangeAspect="1"/>
          </p:cNvPicPr>
          <p:nvPr/>
        </p:nvPicPr>
        <p:blipFill>
          <a:blip r:embed="rId3"/>
          <a:stretch>
            <a:fillRect/>
          </a:stretch>
        </p:blipFill>
        <p:spPr>
          <a:xfrm>
            <a:off x="1455025" y="1953354"/>
            <a:ext cx="9281950" cy="4086333"/>
          </a:xfrm>
          <a:prstGeom prst="rect">
            <a:avLst/>
          </a:prstGeom>
        </p:spPr>
      </p:pic>
      <p:sp>
        <p:nvSpPr>
          <p:cNvPr id="5" name="TextBox 4">
            <a:extLst>
              <a:ext uri="{FF2B5EF4-FFF2-40B4-BE49-F238E27FC236}">
                <a16:creationId xmlns:a16="http://schemas.microsoft.com/office/drawing/2014/main" id="{583432D2-9259-7AD0-64F9-3AE249E5B0C5}"/>
              </a:ext>
            </a:extLst>
          </p:cNvPr>
          <p:cNvSpPr txBox="1"/>
          <p:nvPr/>
        </p:nvSpPr>
        <p:spPr>
          <a:xfrm>
            <a:off x="1545535" y="6149576"/>
            <a:ext cx="9100930" cy="430887"/>
          </a:xfrm>
          <a:prstGeom prst="rect">
            <a:avLst/>
          </a:prstGeom>
          <a:noFill/>
        </p:spPr>
        <p:txBody>
          <a:bodyPr wrap="square">
            <a:spAutoFit/>
          </a:bodyPr>
          <a:lstStyle/>
          <a:p>
            <a:pPr algn="ctr"/>
            <a:r>
              <a:rPr lang="en-US" sz="2200" dirty="0"/>
              <a:t>Aerodynamic Polar Curves obtained from CFD analyses</a:t>
            </a:r>
          </a:p>
        </p:txBody>
      </p:sp>
    </p:spTree>
    <p:extLst>
      <p:ext uri="{BB962C8B-B14F-4D97-AF65-F5344CB8AC3E}">
        <p14:creationId xmlns:p14="http://schemas.microsoft.com/office/powerpoint/2010/main" val="4209061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dirty="0"/>
              <a:t>Load Case Selection</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9</a:t>
            </a:fld>
            <a:endParaRPr lang="en-US"/>
          </a:p>
        </p:txBody>
      </p:sp>
      <p:sp>
        <p:nvSpPr>
          <p:cNvPr id="8" name="TextBox 7">
            <a:extLst>
              <a:ext uri="{FF2B5EF4-FFF2-40B4-BE49-F238E27FC236}">
                <a16:creationId xmlns:a16="http://schemas.microsoft.com/office/drawing/2014/main" id="{0D175A66-91BD-0A9A-C916-0CDE47FA13D1}"/>
              </a:ext>
            </a:extLst>
          </p:cNvPr>
          <p:cNvSpPr txBox="1"/>
          <p:nvPr/>
        </p:nvSpPr>
        <p:spPr>
          <a:xfrm>
            <a:off x="838200" y="1197134"/>
            <a:ext cx="9100930" cy="430887"/>
          </a:xfrm>
          <a:prstGeom prst="rect">
            <a:avLst/>
          </a:prstGeom>
          <a:noFill/>
        </p:spPr>
        <p:txBody>
          <a:bodyPr wrap="square">
            <a:spAutoFit/>
          </a:bodyPr>
          <a:lstStyle/>
          <a:p>
            <a:r>
              <a:rPr lang="en-US" sz="2200" b="1" dirty="0"/>
              <a:t>Two flight conditions: </a:t>
            </a:r>
            <a:r>
              <a:rPr lang="en-US" sz="2200" dirty="0"/>
              <a:t>1G steady level flight &amp; 3G pull-up maneuver</a:t>
            </a:r>
          </a:p>
        </p:txBody>
      </p:sp>
      <p:grpSp>
        <p:nvGrpSpPr>
          <p:cNvPr id="9" name="Group 8">
            <a:extLst>
              <a:ext uri="{FF2B5EF4-FFF2-40B4-BE49-F238E27FC236}">
                <a16:creationId xmlns:a16="http://schemas.microsoft.com/office/drawing/2014/main" id="{2640C827-75E5-5F8C-B6C1-3C0230882E24}"/>
              </a:ext>
            </a:extLst>
          </p:cNvPr>
          <p:cNvGrpSpPr/>
          <p:nvPr/>
        </p:nvGrpSpPr>
        <p:grpSpPr>
          <a:xfrm>
            <a:off x="1295760" y="1849795"/>
            <a:ext cx="10058040" cy="4752108"/>
            <a:chOff x="1335516" y="1948069"/>
            <a:chExt cx="10058040" cy="4752108"/>
          </a:xfrm>
        </p:grpSpPr>
        <p:sp>
          <p:nvSpPr>
            <p:cNvPr id="5" name="TextBox 4">
              <a:extLst>
                <a:ext uri="{FF2B5EF4-FFF2-40B4-BE49-F238E27FC236}">
                  <a16:creationId xmlns:a16="http://schemas.microsoft.com/office/drawing/2014/main" id="{583432D2-9259-7AD0-64F9-3AE249E5B0C5}"/>
                </a:ext>
              </a:extLst>
            </p:cNvPr>
            <p:cNvSpPr txBox="1"/>
            <p:nvPr/>
          </p:nvSpPr>
          <p:spPr>
            <a:xfrm>
              <a:off x="1545535" y="6269290"/>
              <a:ext cx="9100930" cy="430887"/>
            </a:xfrm>
            <a:prstGeom prst="rect">
              <a:avLst/>
            </a:prstGeom>
            <a:noFill/>
            <a:ln>
              <a:solidFill>
                <a:srgbClr val="FF0000"/>
              </a:solidFill>
            </a:ln>
          </p:spPr>
          <p:txBody>
            <a:bodyPr wrap="square">
              <a:spAutoFit/>
            </a:bodyPr>
            <a:lstStyle/>
            <a:p>
              <a:pPr algn="ctr"/>
              <a:r>
                <a:rPr lang="en-US" sz="2200" dirty="0"/>
                <a:t>We pick the </a:t>
              </a:r>
              <a:r>
                <a:rPr lang="en-US" sz="2200" u="sng" dirty="0">
                  <a:solidFill>
                    <a:srgbClr val="FF0000"/>
                  </a:solidFill>
                </a:rPr>
                <a:t>3G load</a:t>
              </a:r>
              <a:r>
                <a:rPr lang="en-US" sz="2200" dirty="0">
                  <a:solidFill>
                    <a:srgbClr val="FF0000"/>
                  </a:solidFill>
                </a:rPr>
                <a:t> </a:t>
              </a:r>
              <a:r>
                <a:rPr lang="en-US" sz="2200" dirty="0"/>
                <a:t>for performing the subsequent design and analyses. </a:t>
              </a:r>
            </a:p>
          </p:txBody>
        </p:sp>
        <p:pic>
          <p:nvPicPr>
            <p:cNvPr id="6" name="Picture 5">
              <a:extLst>
                <a:ext uri="{FF2B5EF4-FFF2-40B4-BE49-F238E27FC236}">
                  <a16:creationId xmlns:a16="http://schemas.microsoft.com/office/drawing/2014/main" id="{9B4F31F2-47E9-8716-D943-3AE0F3E21671}"/>
                </a:ext>
              </a:extLst>
            </p:cNvPr>
            <p:cNvPicPr>
              <a:picLocks noChangeAspect="1"/>
            </p:cNvPicPr>
            <p:nvPr/>
          </p:nvPicPr>
          <p:blipFill>
            <a:blip r:embed="rId3"/>
            <a:stretch>
              <a:fillRect/>
            </a:stretch>
          </p:blipFill>
          <p:spPr>
            <a:xfrm>
              <a:off x="1335516" y="1970776"/>
              <a:ext cx="10018284" cy="4014136"/>
            </a:xfrm>
            <a:prstGeom prst="rect">
              <a:avLst/>
            </a:prstGeom>
          </p:spPr>
        </p:pic>
        <p:sp>
          <p:nvSpPr>
            <p:cNvPr id="7" name="Rectangle 6">
              <a:extLst>
                <a:ext uri="{FF2B5EF4-FFF2-40B4-BE49-F238E27FC236}">
                  <a16:creationId xmlns:a16="http://schemas.microsoft.com/office/drawing/2014/main" id="{84098D68-1111-3026-F32B-06F63433A215}"/>
                </a:ext>
              </a:extLst>
            </p:cNvPr>
            <p:cNvSpPr/>
            <p:nvPr/>
          </p:nvSpPr>
          <p:spPr>
            <a:xfrm>
              <a:off x="6384415" y="1948069"/>
              <a:ext cx="5009141" cy="4116355"/>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640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dirty="0"/>
              <a:t>Imported 3G Load Case</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10</a:t>
            </a:fld>
            <a:endParaRPr lang="en-US"/>
          </a:p>
        </p:txBody>
      </p:sp>
      <p:pic>
        <p:nvPicPr>
          <p:cNvPr id="3" name="Picture 2">
            <a:extLst>
              <a:ext uri="{FF2B5EF4-FFF2-40B4-BE49-F238E27FC236}">
                <a16:creationId xmlns:a16="http://schemas.microsoft.com/office/drawing/2014/main" id="{05717146-2DB5-ABAA-86D6-3D1AB90999E4}"/>
              </a:ext>
            </a:extLst>
          </p:cNvPr>
          <p:cNvPicPr>
            <a:picLocks noChangeAspect="1"/>
          </p:cNvPicPr>
          <p:nvPr/>
        </p:nvPicPr>
        <p:blipFill>
          <a:blip r:embed="rId3"/>
          <a:stretch>
            <a:fillRect/>
          </a:stretch>
        </p:blipFill>
        <p:spPr>
          <a:xfrm>
            <a:off x="2209800" y="1230945"/>
            <a:ext cx="7772400" cy="4396109"/>
          </a:xfrm>
          <a:prstGeom prst="rect">
            <a:avLst/>
          </a:prstGeom>
        </p:spPr>
      </p:pic>
      <p:sp>
        <p:nvSpPr>
          <p:cNvPr id="10" name="TextBox 9">
            <a:extLst>
              <a:ext uri="{FF2B5EF4-FFF2-40B4-BE49-F238E27FC236}">
                <a16:creationId xmlns:a16="http://schemas.microsoft.com/office/drawing/2014/main" id="{1429EDCE-E266-B611-3168-D8E9D69864E1}"/>
              </a:ext>
            </a:extLst>
          </p:cNvPr>
          <p:cNvSpPr txBox="1"/>
          <p:nvPr/>
        </p:nvSpPr>
        <p:spPr>
          <a:xfrm>
            <a:off x="1545535" y="6048018"/>
            <a:ext cx="9100930" cy="430887"/>
          </a:xfrm>
          <a:prstGeom prst="rect">
            <a:avLst/>
          </a:prstGeom>
          <a:noFill/>
        </p:spPr>
        <p:txBody>
          <a:bodyPr wrap="square">
            <a:spAutoFit/>
          </a:bodyPr>
          <a:lstStyle/>
          <a:p>
            <a:pPr algn="ctr"/>
            <a:r>
              <a:rPr lang="en-US" sz="2200" dirty="0"/>
              <a:t>The 3G load case was then mapped into the FEA model (one-way FSI).</a:t>
            </a:r>
          </a:p>
        </p:txBody>
      </p:sp>
    </p:spTree>
    <p:extLst>
      <p:ext uri="{BB962C8B-B14F-4D97-AF65-F5344CB8AC3E}">
        <p14:creationId xmlns:p14="http://schemas.microsoft.com/office/powerpoint/2010/main" val="3071701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Finite Element Mesh: Grid Convergence Study (1/2)</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11</a:t>
            </a:fld>
            <a:endParaRPr lang="en-US"/>
          </a:p>
        </p:txBody>
      </p:sp>
      <p:sp>
        <p:nvSpPr>
          <p:cNvPr id="5" name="TextBox 4">
            <a:extLst>
              <a:ext uri="{FF2B5EF4-FFF2-40B4-BE49-F238E27FC236}">
                <a16:creationId xmlns:a16="http://schemas.microsoft.com/office/drawing/2014/main" id="{95C44B23-3424-78C4-7128-626FCB6691D5}"/>
              </a:ext>
            </a:extLst>
          </p:cNvPr>
          <p:cNvSpPr txBox="1"/>
          <p:nvPr/>
        </p:nvSpPr>
        <p:spPr>
          <a:xfrm>
            <a:off x="0" y="858858"/>
            <a:ext cx="12192000" cy="584775"/>
          </a:xfrm>
          <a:prstGeom prst="rect">
            <a:avLst/>
          </a:prstGeom>
          <a:noFill/>
        </p:spPr>
        <p:txBody>
          <a:bodyPr wrap="square">
            <a:spAutoFit/>
          </a:bodyPr>
          <a:lstStyle/>
          <a:p>
            <a:r>
              <a:rPr lang="en-US" altLang="zh-CN" sz="1600" dirty="0"/>
              <a:t>A</a:t>
            </a:r>
            <a:r>
              <a:rPr lang="en-US" sz="1600" dirty="0"/>
              <a:t> mesh refinement study was performed on the structural finite element model. The global shell element size was varied from 100 mm to 10 mm, and the corresponding number of elements, wing tip deflection, and maximum von Mises stress were recorded.</a:t>
            </a:r>
            <a:endParaRPr lang="en-HK" sz="1600" dirty="0"/>
          </a:p>
        </p:txBody>
      </p:sp>
      <p:sp>
        <p:nvSpPr>
          <p:cNvPr id="13" name="TextBox 12">
            <a:extLst>
              <a:ext uri="{FF2B5EF4-FFF2-40B4-BE49-F238E27FC236}">
                <a16:creationId xmlns:a16="http://schemas.microsoft.com/office/drawing/2014/main" id="{06C19989-914E-EE90-17CF-2887DC5076E7}"/>
              </a:ext>
            </a:extLst>
          </p:cNvPr>
          <p:cNvSpPr txBox="1"/>
          <p:nvPr/>
        </p:nvSpPr>
        <p:spPr>
          <a:xfrm>
            <a:off x="0" y="4657058"/>
            <a:ext cx="7825740" cy="1754326"/>
          </a:xfrm>
          <a:prstGeom prst="rect">
            <a:avLst/>
          </a:prstGeom>
          <a:noFill/>
        </p:spPr>
        <p:txBody>
          <a:bodyPr wrap="square">
            <a:spAutoFit/>
          </a:bodyPr>
          <a:lstStyle/>
          <a:p>
            <a:r>
              <a:rPr lang="en-US" dirty="0"/>
              <a:t>Mesh refinement has a strong influence at coarse levels, but both tip deflection and stress plateau once the global element size falls below ~35 mm, with tip deflection varying by less than 0.15% between the 30–15 mm meshes. Maximum von Mises stress increases monotonically with refinement (197.7 MPa → 243.27 MPa), though further gains beyond the 15–10 mm meshes diminish relative to the added computational cost.</a:t>
            </a:r>
            <a:endParaRPr lang="en-HK" dirty="0"/>
          </a:p>
        </p:txBody>
      </p:sp>
      <p:pic>
        <p:nvPicPr>
          <p:cNvPr id="6" name="Picture 5">
            <a:extLst>
              <a:ext uri="{FF2B5EF4-FFF2-40B4-BE49-F238E27FC236}">
                <a16:creationId xmlns:a16="http://schemas.microsoft.com/office/drawing/2014/main" id="{B4D51984-7B4B-C37A-840A-32CD1AA900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5740" y="1469093"/>
            <a:ext cx="4114800" cy="2553753"/>
          </a:xfrm>
          <a:prstGeom prst="rect">
            <a:avLst/>
          </a:prstGeom>
        </p:spPr>
      </p:pic>
      <p:pic>
        <p:nvPicPr>
          <p:cNvPr id="10" name="Picture 9">
            <a:extLst>
              <a:ext uri="{FF2B5EF4-FFF2-40B4-BE49-F238E27FC236}">
                <a16:creationId xmlns:a16="http://schemas.microsoft.com/office/drawing/2014/main" id="{19C9E374-3EDD-EF88-ADD3-1D9E240393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5740" y="3939123"/>
            <a:ext cx="4114800" cy="2553752"/>
          </a:xfrm>
          <a:prstGeom prst="rect">
            <a:avLst/>
          </a:prstGeom>
        </p:spPr>
      </p:pic>
      <p:pic>
        <p:nvPicPr>
          <p:cNvPr id="12" name="Picture 11">
            <a:extLst>
              <a:ext uri="{FF2B5EF4-FFF2-40B4-BE49-F238E27FC236}">
                <a16:creationId xmlns:a16="http://schemas.microsoft.com/office/drawing/2014/main" id="{C357046D-E071-D75A-FB97-05D33FAFAF13}"/>
              </a:ext>
            </a:extLst>
          </p:cNvPr>
          <p:cNvPicPr>
            <a:picLocks noChangeAspect="1"/>
          </p:cNvPicPr>
          <p:nvPr/>
        </p:nvPicPr>
        <p:blipFill>
          <a:blip r:embed="rId5"/>
          <a:stretch>
            <a:fillRect/>
          </a:stretch>
        </p:blipFill>
        <p:spPr>
          <a:xfrm>
            <a:off x="259080" y="1500844"/>
            <a:ext cx="7315200" cy="3099002"/>
          </a:xfrm>
          <a:prstGeom prst="rect">
            <a:avLst/>
          </a:prstGeom>
        </p:spPr>
      </p:pic>
    </p:spTree>
    <p:extLst>
      <p:ext uri="{BB962C8B-B14F-4D97-AF65-F5344CB8AC3E}">
        <p14:creationId xmlns:p14="http://schemas.microsoft.com/office/powerpoint/2010/main" val="155868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Finite Element Mesh: Grid Convergence Study (2/2)</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12</a:t>
            </a:fld>
            <a:endParaRPr lang="en-US"/>
          </a:p>
        </p:txBody>
      </p:sp>
      <p:pic>
        <p:nvPicPr>
          <p:cNvPr id="8" name="Picture 7">
            <a:extLst>
              <a:ext uri="{FF2B5EF4-FFF2-40B4-BE49-F238E27FC236}">
                <a16:creationId xmlns:a16="http://schemas.microsoft.com/office/drawing/2014/main" id="{20BC3834-44A8-FAEC-7BFE-DAC672FEF357}"/>
              </a:ext>
            </a:extLst>
          </p:cNvPr>
          <p:cNvPicPr>
            <a:picLocks noChangeAspect="1"/>
          </p:cNvPicPr>
          <p:nvPr/>
        </p:nvPicPr>
        <p:blipFill>
          <a:blip r:embed="rId3"/>
          <a:stretch>
            <a:fillRect/>
          </a:stretch>
        </p:blipFill>
        <p:spPr>
          <a:xfrm>
            <a:off x="244702" y="1561469"/>
            <a:ext cx="11702596" cy="3735062"/>
          </a:xfrm>
          <a:prstGeom prst="rect">
            <a:avLst/>
          </a:prstGeom>
        </p:spPr>
      </p:pic>
      <p:sp>
        <p:nvSpPr>
          <p:cNvPr id="9" name="TextBox 8">
            <a:extLst>
              <a:ext uri="{FF2B5EF4-FFF2-40B4-BE49-F238E27FC236}">
                <a16:creationId xmlns:a16="http://schemas.microsoft.com/office/drawing/2014/main" id="{BA8CC061-A8BD-C3D9-8034-F921C8932965}"/>
              </a:ext>
            </a:extLst>
          </p:cNvPr>
          <p:cNvSpPr txBox="1"/>
          <p:nvPr/>
        </p:nvSpPr>
        <p:spPr>
          <a:xfrm>
            <a:off x="474593" y="5882640"/>
            <a:ext cx="11242813" cy="430887"/>
          </a:xfrm>
          <a:prstGeom prst="rect">
            <a:avLst/>
          </a:prstGeom>
          <a:noFill/>
        </p:spPr>
        <p:txBody>
          <a:bodyPr wrap="square">
            <a:spAutoFit/>
          </a:bodyPr>
          <a:lstStyle/>
          <a:p>
            <a:pPr algn="ctr"/>
            <a:r>
              <a:rPr lang="en-US" sz="2200" dirty="0">
                <a:latin typeface="Consolas" panose="020B0609020204030204" pitchFamily="49" charset="0"/>
                <a:ea typeface="SimSun" panose="02010600030101010101" pitchFamily="2" charset="-122"/>
                <a:cs typeface="Consolas" panose="020B0609020204030204" pitchFamily="49" charset="0"/>
              </a:rPr>
              <a:t>SHELL181</a:t>
            </a:r>
            <a:r>
              <a:rPr lang="en-US" sz="2200" dirty="0">
                <a:latin typeface="Arial" panose="020B0604020202020204" pitchFamily="34" charset="0"/>
                <a:ea typeface="SimSun" panose="02010600030101010101" pitchFamily="2" charset="-122"/>
                <a:cs typeface="Arial" panose="020B0604020202020204" pitchFamily="34" charset="0"/>
              </a:rPr>
              <a:t> (4-node, linear) elements with </a:t>
            </a:r>
            <a:r>
              <a:rPr lang="en-US" sz="2200" dirty="0">
                <a:solidFill>
                  <a:srgbClr val="FF0000"/>
                </a:solidFill>
                <a:latin typeface="Arial" panose="020B0604020202020204" pitchFamily="34" charset="0"/>
                <a:ea typeface="SimSun" panose="02010600030101010101" pitchFamily="2" charset="-122"/>
                <a:cs typeface="Arial" panose="020B0604020202020204" pitchFamily="34" charset="0"/>
              </a:rPr>
              <a:t>a</a:t>
            </a:r>
            <a:r>
              <a:rPr lang="en-US" sz="2200" dirty="0">
                <a:latin typeface="Arial" panose="020B0604020202020204" pitchFamily="34" charset="0"/>
                <a:ea typeface="SimSun" panose="02010600030101010101" pitchFamily="2" charset="-122"/>
                <a:cs typeface="Arial" panose="020B0604020202020204" pitchFamily="34" charset="0"/>
              </a:rPr>
              <a:t> </a:t>
            </a:r>
            <a:r>
              <a:rPr lang="en-US" sz="2200" dirty="0">
                <a:solidFill>
                  <a:srgbClr val="FF0000"/>
                </a:solidFill>
                <a:latin typeface="Arial" panose="020B0604020202020204" pitchFamily="34" charset="0"/>
                <a:ea typeface="SimSun" panose="02010600030101010101" pitchFamily="2" charset="-122"/>
                <a:cs typeface="Arial" panose="020B0604020202020204" pitchFamily="34" charset="0"/>
              </a:rPr>
              <a:t>global size of 20 mm (L3 Mesh) </a:t>
            </a:r>
            <a:r>
              <a:rPr lang="en-US" sz="2200" dirty="0">
                <a:latin typeface="Arial" panose="020B0604020202020204" pitchFamily="34" charset="0"/>
                <a:ea typeface="SimSun" panose="02010600030101010101" pitchFamily="2" charset="-122"/>
                <a:cs typeface="Arial" panose="020B0604020202020204" pitchFamily="34" charset="0"/>
              </a:rPr>
              <a:t>was selected.</a:t>
            </a:r>
            <a:endParaRPr lang="en-US" sz="2200" dirty="0"/>
          </a:p>
        </p:txBody>
      </p:sp>
    </p:spTree>
    <p:extLst>
      <p:ext uri="{BB962C8B-B14F-4D97-AF65-F5344CB8AC3E}">
        <p14:creationId xmlns:p14="http://schemas.microsoft.com/office/powerpoint/2010/main" val="1018428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Phase 1: Rib Layout Selection (1/2)</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13</a:t>
            </a:fld>
            <a:endParaRPr lang="en-US"/>
          </a:p>
        </p:txBody>
      </p:sp>
      <p:sp>
        <p:nvSpPr>
          <p:cNvPr id="9" name="TextBox 8">
            <a:extLst>
              <a:ext uri="{FF2B5EF4-FFF2-40B4-BE49-F238E27FC236}">
                <a16:creationId xmlns:a16="http://schemas.microsoft.com/office/drawing/2014/main" id="{8A0CA744-31DF-6286-BEB7-17E24CC04BC9}"/>
              </a:ext>
            </a:extLst>
          </p:cNvPr>
          <p:cNvSpPr txBox="1"/>
          <p:nvPr/>
        </p:nvSpPr>
        <p:spPr>
          <a:xfrm>
            <a:off x="0" y="858858"/>
            <a:ext cx="12192000" cy="1200329"/>
          </a:xfrm>
          <a:prstGeom prst="rect">
            <a:avLst/>
          </a:prstGeom>
          <a:noFill/>
        </p:spPr>
        <p:txBody>
          <a:bodyPr wrap="square">
            <a:spAutoFit/>
          </a:bodyPr>
          <a:lstStyle/>
          <a:p>
            <a:pPr algn="just"/>
            <a:r>
              <a:rPr lang="en-US" altLang="zh-CN" dirty="0"/>
              <a:t>Phase 1 aims to identify the optimal arrangement of the eight intermediate ribs to improve structural performance under the 3G load case, evaluating six rib-layout strategies. For each layout, </a:t>
            </a:r>
            <a:r>
              <a:rPr lang="en-US" altLang="zh-CN" i="1" dirty="0"/>
              <a:t>mass</a:t>
            </a:r>
            <a:r>
              <a:rPr lang="en-US" altLang="zh-CN" dirty="0"/>
              <a:t>, </a:t>
            </a:r>
            <a:r>
              <a:rPr lang="en-US" altLang="zh-CN" i="1" dirty="0"/>
              <a:t>maximum von Mises stress</a:t>
            </a:r>
            <a:r>
              <a:rPr lang="en-US" altLang="zh-CN" dirty="0"/>
              <a:t>, </a:t>
            </a:r>
            <a:r>
              <a:rPr lang="en-US" altLang="zh-CN" i="1" dirty="0"/>
              <a:t>tip deflection</a:t>
            </a:r>
            <a:r>
              <a:rPr lang="en-US" altLang="zh-CN" dirty="0"/>
              <a:t>, and </a:t>
            </a:r>
            <a:r>
              <a:rPr lang="en-US" altLang="zh-CN" i="1" dirty="0"/>
              <a:t>Factor of Safety</a:t>
            </a:r>
            <a:r>
              <a:rPr lang="en-US" altLang="zh-CN" dirty="0"/>
              <a:t> were computed, and the best configuration is selected based on achieving high </a:t>
            </a:r>
            <a:r>
              <a:rPr lang="en-US" altLang="zh-CN" dirty="0" err="1"/>
              <a:t>FoS</a:t>
            </a:r>
            <a:r>
              <a:rPr lang="en-US" altLang="zh-CN" dirty="0"/>
              <a:t> and low deflection while keeping rib thicknesses equal.</a:t>
            </a:r>
            <a:endParaRPr lang="en-HK" dirty="0"/>
          </a:p>
        </p:txBody>
      </p:sp>
      <p:sp>
        <p:nvSpPr>
          <p:cNvPr id="11" name="TextBox 10">
            <a:extLst>
              <a:ext uri="{FF2B5EF4-FFF2-40B4-BE49-F238E27FC236}">
                <a16:creationId xmlns:a16="http://schemas.microsoft.com/office/drawing/2014/main" id="{54D90381-B6FF-5AC5-D690-AB6BDB95F1E4}"/>
              </a:ext>
            </a:extLst>
          </p:cNvPr>
          <p:cNvSpPr txBox="1"/>
          <p:nvPr/>
        </p:nvSpPr>
        <p:spPr>
          <a:xfrm>
            <a:off x="7870956" y="2567018"/>
            <a:ext cx="3762454" cy="830997"/>
          </a:xfrm>
          <a:prstGeom prst="rect">
            <a:avLst/>
          </a:prstGeom>
          <a:noFill/>
        </p:spPr>
        <p:txBody>
          <a:bodyPr wrap="square">
            <a:spAutoFit/>
          </a:bodyPr>
          <a:lstStyle/>
          <a:p>
            <a:pPr algn="just">
              <a:buNone/>
            </a:pPr>
            <a:r>
              <a:rPr lang="en-US" sz="1600" dirty="0">
                <a:solidFill>
                  <a:srgbClr val="000000"/>
                </a:solidFill>
                <a:effectLst/>
                <a:latin typeface="CMR10"/>
              </a:rPr>
              <a:t>The Factor of Safety is based on the material yield stress of Aluminum 2024-T3 (324 MPa), using:</a:t>
            </a:r>
            <a:endParaRPr lang="en-HK" sz="1600" dirty="0"/>
          </a:p>
        </p:txBody>
      </p:sp>
      <p:pic>
        <p:nvPicPr>
          <p:cNvPr id="8" name="Picture 7">
            <a:extLst>
              <a:ext uri="{FF2B5EF4-FFF2-40B4-BE49-F238E27FC236}">
                <a16:creationId xmlns:a16="http://schemas.microsoft.com/office/drawing/2014/main" id="{C1A5B633-60B1-E5F9-9941-69E921A0FB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996" y="2112975"/>
            <a:ext cx="7680960" cy="4608576"/>
          </a:xfrm>
          <a:prstGeom prst="rect">
            <a:avLst/>
          </a:prstGeom>
        </p:spPr>
      </p:pic>
      <p:pic>
        <p:nvPicPr>
          <p:cNvPr id="10" name="Picture 9">
            <a:extLst>
              <a:ext uri="{FF2B5EF4-FFF2-40B4-BE49-F238E27FC236}">
                <a16:creationId xmlns:a16="http://schemas.microsoft.com/office/drawing/2014/main" id="{C612B700-D972-51F7-13F8-851B8962ED38}"/>
              </a:ext>
            </a:extLst>
          </p:cNvPr>
          <p:cNvPicPr>
            <a:picLocks noChangeAspect="1"/>
          </p:cNvPicPr>
          <p:nvPr/>
        </p:nvPicPr>
        <p:blipFill>
          <a:blip r:embed="rId4"/>
          <a:stretch>
            <a:fillRect/>
          </a:stretch>
        </p:blipFill>
        <p:spPr>
          <a:xfrm>
            <a:off x="9541636" y="3257761"/>
            <a:ext cx="1517904" cy="683741"/>
          </a:xfrm>
          <a:prstGeom prst="rect">
            <a:avLst/>
          </a:prstGeom>
        </p:spPr>
      </p:pic>
    </p:spTree>
    <p:extLst>
      <p:ext uri="{BB962C8B-B14F-4D97-AF65-F5344CB8AC3E}">
        <p14:creationId xmlns:p14="http://schemas.microsoft.com/office/powerpoint/2010/main" val="343520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37B9-F247-6787-9D9F-444A41219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556D3-2ABE-1B1F-2A0A-6CAECB3FCCA8}"/>
              </a:ext>
            </a:extLst>
          </p:cNvPr>
          <p:cNvSpPr>
            <a:spLocks noGrp="1"/>
          </p:cNvSpPr>
          <p:nvPr>
            <p:ph type="title"/>
          </p:nvPr>
        </p:nvSpPr>
        <p:spPr/>
        <p:txBody>
          <a:bodyPr>
            <a:normAutofit/>
          </a:bodyPr>
          <a:lstStyle/>
          <a:p>
            <a:r>
              <a:rPr lang="en-US" sz="3200" dirty="0"/>
              <a:t>Phase 1: Rib Layout Selection (2/2)</a:t>
            </a:r>
          </a:p>
        </p:txBody>
      </p:sp>
      <p:sp>
        <p:nvSpPr>
          <p:cNvPr id="4" name="Slide Number Placeholder 3">
            <a:extLst>
              <a:ext uri="{FF2B5EF4-FFF2-40B4-BE49-F238E27FC236}">
                <a16:creationId xmlns:a16="http://schemas.microsoft.com/office/drawing/2014/main" id="{58A07192-EF42-C58E-E2F1-B327445FC66D}"/>
              </a:ext>
            </a:extLst>
          </p:cNvPr>
          <p:cNvSpPr>
            <a:spLocks noGrp="1"/>
          </p:cNvSpPr>
          <p:nvPr>
            <p:ph type="sldNum" sz="quarter" idx="12"/>
          </p:nvPr>
        </p:nvSpPr>
        <p:spPr/>
        <p:txBody>
          <a:bodyPr/>
          <a:lstStyle/>
          <a:p>
            <a:fld id="{F604EB7E-39DE-4DF6-A7F4-895A2CEA7BDE}" type="slidenum">
              <a:rPr lang="en-US" smtClean="0"/>
              <a:t>14</a:t>
            </a:fld>
            <a:endParaRPr lang="en-US"/>
          </a:p>
        </p:txBody>
      </p:sp>
      <p:sp>
        <p:nvSpPr>
          <p:cNvPr id="9" name="TextBox 8">
            <a:extLst>
              <a:ext uri="{FF2B5EF4-FFF2-40B4-BE49-F238E27FC236}">
                <a16:creationId xmlns:a16="http://schemas.microsoft.com/office/drawing/2014/main" id="{633D9ACA-0993-4F05-6F3E-A0BF103C2FD9}"/>
              </a:ext>
            </a:extLst>
          </p:cNvPr>
          <p:cNvSpPr txBox="1"/>
          <p:nvPr/>
        </p:nvSpPr>
        <p:spPr>
          <a:xfrm>
            <a:off x="0" y="858858"/>
            <a:ext cx="3377990" cy="646331"/>
          </a:xfrm>
          <a:prstGeom prst="rect">
            <a:avLst/>
          </a:prstGeom>
          <a:noFill/>
        </p:spPr>
        <p:txBody>
          <a:bodyPr wrap="square">
            <a:spAutoFit/>
          </a:bodyPr>
          <a:lstStyle/>
          <a:p>
            <a:pPr algn="just"/>
            <a:r>
              <a:rPr lang="en-US" altLang="zh-CN" dirty="0"/>
              <a:t>Results</a:t>
            </a:r>
            <a:r>
              <a:rPr lang="en-HK" altLang="zh-CN" dirty="0"/>
              <a:t>: </a:t>
            </a:r>
            <a:r>
              <a:rPr lang="en-US" altLang="zh-CN" dirty="0"/>
              <a:t>Performance comparison of different rib layout strategies</a:t>
            </a:r>
            <a:endParaRPr lang="en-HK" dirty="0"/>
          </a:p>
        </p:txBody>
      </p:sp>
      <p:pic>
        <p:nvPicPr>
          <p:cNvPr id="12" name="Picture 11" descr="A comparison of a diagram&#10;&#10;AI-generated content may be incorrect.">
            <a:extLst>
              <a:ext uri="{FF2B5EF4-FFF2-40B4-BE49-F238E27FC236}">
                <a16:creationId xmlns:a16="http://schemas.microsoft.com/office/drawing/2014/main" id="{3D74A1EC-ECA9-BE44-C786-CDB49D07B1BB}"/>
              </a:ext>
            </a:extLst>
          </p:cNvPr>
          <p:cNvPicPr>
            <a:picLocks noChangeAspect="1"/>
          </p:cNvPicPr>
          <p:nvPr/>
        </p:nvPicPr>
        <p:blipFill>
          <a:blip r:embed="rId3"/>
          <a:stretch>
            <a:fillRect/>
          </a:stretch>
        </p:blipFill>
        <p:spPr>
          <a:xfrm>
            <a:off x="3541173" y="2649098"/>
            <a:ext cx="6350973" cy="1988790"/>
          </a:xfrm>
          <a:prstGeom prst="rect">
            <a:avLst/>
          </a:prstGeom>
        </p:spPr>
      </p:pic>
      <p:pic>
        <p:nvPicPr>
          <p:cNvPr id="15" name="Picture 14" descr="A screenshot of a computer generated image&#10;&#10;AI-generated content may be incorrect.">
            <a:extLst>
              <a:ext uri="{FF2B5EF4-FFF2-40B4-BE49-F238E27FC236}">
                <a16:creationId xmlns:a16="http://schemas.microsoft.com/office/drawing/2014/main" id="{E4F2F40E-B76F-85A1-2AD5-4D0B56DDFFCE}"/>
              </a:ext>
            </a:extLst>
          </p:cNvPr>
          <p:cNvPicPr>
            <a:picLocks noChangeAspect="1"/>
          </p:cNvPicPr>
          <p:nvPr/>
        </p:nvPicPr>
        <p:blipFill>
          <a:blip r:embed="rId4"/>
          <a:stretch>
            <a:fillRect/>
          </a:stretch>
        </p:blipFill>
        <p:spPr>
          <a:xfrm>
            <a:off x="3541173" y="4733282"/>
            <a:ext cx="6350972" cy="2004510"/>
          </a:xfrm>
          <a:prstGeom prst="rect">
            <a:avLst/>
          </a:prstGeom>
        </p:spPr>
      </p:pic>
      <p:sp>
        <p:nvSpPr>
          <p:cNvPr id="16" name="TextBox 15">
            <a:extLst>
              <a:ext uri="{FF2B5EF4-FFF2-40B4-BE49-F238E27FC236}">
                <a16:creationId xmlns:a16="http://schemas.microsoft.com/office/drawing/2014/main" id="{ADD730D3-CC0D-AC82-2243-071FD472E184}"/>
              </a:ext>
            </a:extLst>
          </p:cNvPr>
          <p:cNvSpPr txBox="1"/>
          <p:nvPr/>
        </p:nvSpPr>
        <p:spPr>
          <a:xfrm>
            <a:off x="0" y="2636518"/>
            <a:ext cx="3377990" cy="923330"/>
          </a:xfrm>
          <a:prstGeom prst="rect">
            <a:avLst/>
          </a:prstGeom>
          <a:noFill/>
        </p:spPr>
        <p:txBody>
          <a:bodyPr wrap="square">
            <a:spAutoFit/>
          </a:bodyPr>
          <a:lstStyle/>
          <a:p>
            <a:pPr algn="just"/>
            <a:r>
              <a:rPr lang="en-US" altLang="zh-CN" dirty="0"/>
              <a:t>Comparison of wing tip deflection and internal rib arrangement (skin hidden for clarity) </a:t>
            </a:r>
            <a:endParaRPr lang="en-HK" dirty="0"/>
          </a:p>
        </p:txBody>
      </p:sp>
      <p:sp>
        <p:nvSpPr>
          <p:cNvPr id="17" name="TextBox 16">
            <a:extLst>
              <a:ext uri="{FF2B5EF4-FFF2-40B4-BE49-F238E27FC236}">
                <a16:creationId xmlns:a16="http://schemas.microsoft.com/office/drawing/2014/main" id="{98A295FC-91EB-909A-DBA5-52B94407C3B6}"/>
              </a:ext>
            </a:extLst>
          </p:cNvPr>
          <p:cNvSpPr txBox="1"/>
          <p:nvPr/>
        </p:nvSpPr>
        <p:spPr>
          <a:xfrm>
            <a:off x="-1" y="4785975"/>
            <a:ext cx="3377990" cy="646331"/>
          </a:xfrm>
          <a:prstGeom prst="rect">
            <a:avLst/>
          </a:prstGeom>
          <a:noFill/>
        </p:spPr>
        <p:txBody>
          <a:bodyPr wrap="square">
            <a:spAutoFit/>
          </a:bodyPr>
          <a:lstStyle/>
          <a:p>
            <a:pPr algn="just"/>
            <a:r>
              <a:rPr lang="en-US" altLang="zh-CN" dirty="0"/>
              <a:t>Comparison of maximum von Mises stress distributions</a:t>
            </a:r>
            <a:endParaRPr lang="en-HK" dirty="0"/>
          </a:p>
        </p:txBody>
      </p:sp>
      <p:pic>
        <p:nvPicPr>
          <p:cNvPr id="3" name="Picture 2">
            <a:extLst>
              <a:ext uri="{FF2B5EF4-FFF2-40B4-BE49-F238E27FC236}">
                <a16:creationId xmlns:a16="http://schemas.microsoft.com/office/drawing/2014/main" id="{A7E5202D-FB3A-1845-D764-1BC9581CE183}"/>
              </a:ext>
            </a:extLst>
          </p:cNvPr>
          <p:cNvPicPr>
            <a:picLocks noChangeAspect="1"/>
          </p:cNvPicPr>
          <p:nvPr/>
        </p:nvPicPr>
        <p:blipFill>
          <a:blip r:embed="rId5"/>
          <a:stretch>
            <a:fillRect/>
          </a:stretch>
        </p:blipFill>
        <p:spPr>
          <a:xfrm>
            <a:off x="3541173" y="886558"/>
            <a:ext cx="7772400" cy="1749960"/>
          </a:xfrm>
          <a:prstGeom prst="rect">
            <a:avLst/>
          </a:prstGeom>
        </p:spPr>
      </p:pic>
    </p:spTree>
    <p:extLst>
      <p:ext uri="{BB962C8B-B14F-4D97-AF65-F5344CB8AC3E}">
        <p14:creationId xmlns:p14="http://schemas.microsoft.com/office/powerpoint/2010/main" val="3066748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Phase 2: Structural Sizing Optimization (1/4)</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15</a:t>
            </a:fld>
            <a:endParaRPr lang="en-US"/>
          </a:p>
        </p:txBody>
      </p:sp>
      <p:grpSp>
        <p:nvGrpSpPr>
          <p:cNvPr id="15" name="Group 14">
            <a:extLst>
              <a:ext uri="{FF2B5EF4-FFF2-40B4-BE49-F238E27FC236}">
                <a16:creationId xmlns:a16="http://schemas.microsoft.com/office/drawing/2014/main" id="{3128C94A-64A9-9FD6-9F84-66F1C66EEFCC}"/>
              </a:ext>
            </a:extLst>
          </p:cNvPr>
          <p:cNvGrpSpPr/>
          <p:nvPr/>
        </p:nvGrpSpPr>
        <p:grpSpPr>
          <a:xfrm>
            <a:off x="649506" y="1536263"/>
            <a:ext cx="10840129" cy="4381738"/>
            <a:chOff x="649506" y="1536263"/>
            <a:chExt cx="10840129" cy="4381738"/>
          </a:xfrm>
        </p:grpSpPr>
        <p:pic>
          <p:nvPicPr>
            <p:cNvPr id="6" name="Picture 5">
              <a:extLst>
                <a:ext uri="{FF2B5EF4-FFF2-40B4-BE49-F238E27FC236}">
                  <a16:creationId xmlns:a16="http://schemas.microsoft.com/office/drawing/2014/main" id="{E16B9ED3-4BAF-DF3B-8977-5AA5370AC91D}"/>
                </a:ext>
              </a:extLst>
            </p:cNvPr>
            <p:cNvPicPr>
              <a:picLocks noChangeAspect="1"/>
            </p:cNvPicPr>
            <p:nvPr/>
          </p:nvPicPr>
          <p:blipFill>
            <a:blip r:embed="rId3"/>
            <a:stretch>
              <a:fillRect/>
            </a:stretch>
          </p:blipFill>
          <p:spPr>
            <a:xfrm>
              <a:off x="649506" y="1536263"/>
              <a:ext cx="10840129" cy="4381738"/>
            </a:xfrm>
            <a:prstGeom prst="rect">
              <a:avLst/>
            </a:prstGeom>
          </p:spPr>
        </p:pic>
        <p:sp>
          <p:nvSpPr>
            <p:cNvPr id="8" name="Rectangle 7">
              <a:extLst>
                <a:ext uri="{FF2B5EF4-FFF2-40B4-BE49-F238E27FC236}">
                  <a16:creationId xmlns:a16="http://schemas.microsoft.com/office/drawing/2014/main" id="{82FA633C-D33B-058A-C306-4F85DB45F397}"/>
                </a:ext>
              </a:extLst>
            </p:cNvPr>
            <p:cNvSpPr/>
            <p:nvPr/>
          </p:nvSpPr>
          <p:spPr>
            <a:xfrm>
              <a:off x="11042374" y="2406594"/>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a:t>
              </a:r>
            </a:p>
          </p:txBody>
        </p:sp>
        <p:sp>
          <p:nvSpPr>
            <p:cNvPr id="9" name="Rectangle 8">
              <a:extLst>
                <a:ext uri="{FF2B5EF4-FFF2-40B4-BE49-F238E27FC236}">
                  <a16:creationId xmlns:a16="http://schemas.microsoft.com/office/drawing/2014/main" id="{0807E859-749C-987F-72CC-B67D38D8FE59}"/>
                </a:ext>
              </a:extLst>
            </p:cNvPr>
            <p:cNvSpPr/>
            <p:nvPr/>
          </p:nvSpPr>
          <p:spPr>
            <a:xfrm>
              <a:off x="11039061" y="3362738"/>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a:t>
              </a:r>
            </a:p>
          </p:txBody>
        </p:sp>
        <p:sp>
          <p:nvSpPr>
            <p:cNvPr id="10" name="Rectangle 9">
              <a:extLst>
                <a:ext uri="{FF2B5EF4-FFF2-40B4-BE49-F238E27FC236}">
                  <a16:creationId xmlns:a16="http://schemas.microsoft.com/office/drawing/2014/main" id="{D6A3A369-ED1F-AE10-A38A-043B57791B8C}"/>
                </a:ext>
              </a:extLst>
            </p:cNvPr>
            <p:cNvSpPr/>
            <p:nvPr/>
          </p:nvSpPr>
          <p:spPr>
            <a:xfrm>
              <a:off x="11032437" y="3952461"/>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a:t>
              </a:r>
            </a:p>
          </p:txBody>
        </p:sp>
        <p:sp>
          <p:nvSpPr>
            <p:cNvPr id="11" name="Rectangle 10">
              <a:extLst>
                <a:ext uri="{FF2B5EF4-FFF2-40B4-BE49-F238E27FC236}">
                  <a16:creationId xmlns:a16="http://schemas.microsoft.com/office/drawing/2014/main" id="{224927BE-141D-92C9-2C71-06A658373D75}"/>
                </a:ext>
              </a:extLst>
            </p:cNvPr>
            <p:cNvSpPr/>
            <p:nvPr/>
          </p:nvSpPr>
          <p:spPr>
            <a:xfrm>
              <a:off x="11025813" y="4489174"/>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a:t>
              </a:r>
            </a:p>
          </p:txBody>
        </p:sp>
        <p:sp>
          <p:nvSpPr>
            <p:cNvPr id="12" name="Rectangle 11">
              <a:extLst>
                <a:ext uri="{FF2B5EF4-FFF2-40B4-BE49-F238E27FC236}">
                  <a16:creationId xmlns:a16="http://schemas.microsoft.com/office/drawing/2014/main" id="{4CE57A58-5DA0-DC54-8311-E35484A820B8}"/>
                </a:ext>
              </a:extLst>
            </p:cNvPr>
            <p:cNvSpPr/>
            <p:nvPr/>
          </p:nvSpPr>
          <p:spPr>
            <a:xfrm>
              <a:off x="11032440" y="4866861"/>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5</a:t>
              </a:r>
            </a:p>
          </p:txBody>
        </p:sp>
        <p:sp>
          <p:nvSpPr>
            <p:cNvPr id="13" name="Rectangle 12">
              <a:extLst>
                <a:ext uri="{FF2B5EF4-FFF2-40B4-BE49-F238E27FC236}">
                  <a16:creationId xmlns:a16="http://schemas.microsoft.com/office/drawing/2014/main" id="{772FB91F-3770-5F15-DC77-2C48C0299AD1}"/>
                </a:ext>
              </a:extLst>
            </p:cNvPr>
            <p:cNvSpPr/>
            <p:nvPr/>
          </p:nvSpPr>
          <p:spPr>
            <a:xfrm>
              <a:off x="11025815" y="5231296"/>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6</a:t>
              </a:r>
            </a:p>
          </p:txBody>
        </p:sp>
        <p:sp>
          <p:nvSpPr>
            <p:cNvPr id="14" name="Rectangle 13">
              <a:extLst>
                <a:ext uri="{FF2B5EF4-FFF2-40B4-BE49-F238E27FC236}">
                  <a16:creationId xmlns:a16="http://schemas.microsoft.com/office/drawing/2014/main" id="{550DA7AE-11C4-2CC6-42E6-972BB769B4AA}"/>
                </a:ext>
              </a:extLst>
            </p:cNvPr>
            <p:cNvSpPr/>
            <p:nvPr/>
          </p:nvSpPr>
          <p:spPr>
            <a:xfrm>
              <a:off x="11032439" y="5613295"/>
              <a:ext cx="271670" cy="185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7</a:t>
              </a:r>
            </a:p>
          </p:txBody>
        </p:sp>
      </p:grpSp>
    </p:spTree>
    <p:extLst>
      <p:ext uri="{BB962C8B-B14F-4D97-AF65-F5344CB8AC3E}">
        <p14:creationId xmlns:p14="http://schemas.microsoft.com/office/powerpoint/2010/main" val="71592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Phase 2: Structural Sizing Optimization (2/4)</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16</a:t>
            </a:fld>
            <a:endParaRPr lang="en-US"/>
          </a:p>
        </p:txBody>
      </p:sp>
      <p:pic>
        <p:nvPicPr>
          <p:cNvPr id="5" name="Picture 4">
            <a:extLst>
              <a:ext uri="{FF2B5EF4-FFF2-40B4-BE49-F238E27FC236}">
                <a16:creationId xmlns:a16="http://schemas.microsoft.com/office/drawing/2014/main" id="{0606C3E5-46BB-99F4-6C7B-CBD160139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2313" y="1068788"/>
            <a:ext cx="7867373" cy="4720424"/>
          </a:xfrm>
          <a:prstGeom prst="rect">
            <a:avLst/>
          </a:prstGeom>
        </p:spPr>
      </p:pic>
      <p:sp>
        <p:nvSpPr>
          <p:cNvPr id="7" name="TextBox 6">
            <a:extLst>
              <a:ext uri="{FF2B5EF4-FFF2-40B4-BE49-F238E27FC236}">
                <a16:creationId xmlns:a16="http://schemas.microsoft.com/office/drawing/2014/main" id="{CDC5D3D2-D0D0-9C3E-C1B2-8E195578807C}"/>
              </a:ext>
            </a:extLst>
          </p:cNvPr>
          <p:cNvSpPr txBox="1"/>
          <p:nvPr/>
        </p:nvSpPr>
        <p:spPr>
          <a:xfrm>
            <a:off x="1545534" y="5892026"/>
            <a:ext cx="9100930" cy="769441"/>
          </a:xfrm>
          <a:prstGeom prst="rect">
            <a:avLst/>
          </a:prstGeom>
          <a:noFill/>
        </p:spPr>
        <p:txBody>
          <a:bodyPr wrap="square">
            <a:spAutoFit/>
          </a:bodyPr>
          <a:lstStyle/>
          <a:p>
            <a:pPr algn="ctr"/>
            <a:r>
              <a:rPr lang="en-US" sz="2200" dirty="0"/>
              <a:t>Adaptive Single-Objective (</a:t>
            </a:r>
            <a:r>
              <a:rPr lang="en-US" sz="2200" b="1" dirty="0">
                <a:solidFill>
                  <a:srgbClr val="004B8E"/>
                </a:solidFill>
              </a:rPr>
              <a:t>Kriging</a:t>
            </a:r>
            <a:r>
              <a:rPr lang="en-US" sz="2200" dirty="0"/>
              <a:t> Surrogate + </a:t>
            </a:r>
            <a:r>
              <a:rPr lang="en-US" sz="2200" b="1" dirty="0">
                <a:solidFill>
                  <a:srgbClr val="004B8E"/>
                </a:solidFill>
              </a:rPr>
              <a:t>MISQP</a:t>
            </a:r>
            <a:r>
              <a:rPr lang="en-US" sz="2200" dirty="0"/>
              <a:t> optimizer):</a:t>
            </a:r>
          </a:p>
          <a:p>
            <a:pPr algn="ctr"/>
            <a:r>
              <a:rPr lang="en-US" sz="2200" b="1" dirty="0">
                <a:solidFill>
                  <a:srgbClr val="FF0000"/>
                </a:solidFill>
              </a:rPr>
              <a:t>150</a:t>
            </a:r>
            <a:r>
              <a:rPr lang="en-US" sz="2200" dirty="0"/>
              <a:t> DoE samples + </a:t>
            </a:r>
            <a:r>
              <a:rPr lang="en-US" sz="2200" b="1" dirty="0">
                <a:solidFill>
                  <a:srgbClr val="FF0000"/>
                </a:solidFill>
              </a:rPr>
              <a:t>350</a:t>
            </a:r>
            <a:r>
              <a:rPr lang="en-US" sz="2200" dirty="0"/>
              <a:t> infill samples = </a:t>
            </a:r>
            <a:r>
              <a:rPr lang="en-US" sz="2200" b="1" dirty="0">
                <a:solidFill>
                  <a:srgbClr val="FF0000"/>
                </a:solidFill>
              </a:rPr>
              <a:t>500</a:t>
            </a:r>
            <a:r>
              <a:rPr lang="en-US" sz="2200" dirty="0"/>
              <a:t> total samples</a:t>
            </a:r>
          </a:p>
        </p:txBody>
      </p:sp>
      <p:sp>
        <p:nvSpPr>
          <p:cNvPr id="16" name="Down Arrow 15">
            <a:extLst>
              <a:ext uri="{FF2B5EF4-FFF2-40B4-BE49-F238E27FC236}">
                <a16:creationId xmlns:a16="http://schemas.microsoft.com/office/drawing/2014/main" id="{E6B1E81E-7727-FC09-BD5B-04242507E586}"/>
              </a:ext>
            </a:extLst>
          </p:cNvPr>
          <p:cNvSpPr/>
          <p:nvPr/>
        </p:nvSpPr>
        <p:spPr>
          <a:xfrm>
            <a:off x="9297505" y="4066275"/>
            <a:ext cx="302590" cy="5830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5EAC3D9-A4C5-A12B-89EF-35658895AB15}"/>
              </a:ext>
            </a:extLst>
          </p:cNvPr>
          <p:cNvSpPr txBox="1"/>
          <p:nvPr/>
        </p:nvSpPr>
        <p:spPr>
          <a:xfrm>
            <a:off x="7611983" y="3326516"/>
            <a:ext cx="2224744" cy="646331"/>
          </a:xfrm>
          <a:prstGeom prst="rect">
            <a:avLst/>
          </a:prstGeom>
          <a:noFill/>
        </p:spPr>
        <p:txBody>
          <a:bodyPr wrap="square" rtlCol="0">
            <a:spAutoFit/>
          </a:bodyPr>
          <a:lstStyle/>
          <a:p>
            <a:r>
              <a:rPr lang="en-US" b="1" dirty="0"/>
              <a:t>Best Feasible Design: </a:t>
            </a:r>
            <a:r>
              <a:rPr lang="en-US" dirty="0"/>
              <a:t>Design Point (DP) </a:t>
            </a:r>
            <a:r>
              <a:rPr lang="en-US" b="1" dirty="0">
                <a:solidFill>
                  <a:srgbClr val="004B8E"/>
                </a:solidFill>
              </a:rPr>
              <a:t>482</a:t>
            </a:r>
          </a:p>
        </p:txBody>
      </p:sp>
    </p:spTree>
    <p:extLst>
      <p:ext uri="{BB962C8B-B14F-4D97-AF65-F5344CB8AC3E}">
        <p14:creationId xmlns:p14="http://schemas.microsoft.com/office/powerpoint/2010/main" val="2205089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Phase 2: Structural Sizing Optimization (3/4)</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17</a:t>
            </a:fld>
            <a:endParaRPr lang="en-US"/>
          </a:p>
        </p:txBody>
      </p:sp>
      <p:pic>
        <p:nvPicPr>
          <p:cNvPr id="3" name="Picture 2">
            <a:extLst>
              <a:ext uri="{FF2B5EF4-FFF2-40B4-BE49-F238E27FC236}">
                <a16:creationId xmlns:a16="http://schemas.microsoft.com/office/drawing/2014/main" id="{3D70B5DF-31F4-D98B-6E6C-CB96371B2ACE}"/>
              </a:ext>
            </a:extLst>
          </p:cNvPr>
          <p:cNvPicPr>
            <a:picLocks noChangeAspect="1"/>
          </p:cNvPicPr>
          <p:nvPr/>
        </p:nvPicPr>
        <p:blipFill>
          <a:blip r:embed="rId3"/>
          <a:stretch>
            <a:fillRect/>
          </a:stretch>
        </p:blipFill>
        <p:spPr>
          <a:xfrm>
            <a:off x="3789217" y="1113019"/>
            <a:ext cx="7772400" cy="1432854"/>
          </a:xfrm>
          <a:prstGeom prst="rect">
            <a:avLst/>
          </a:prstGeom>
        </p:spPr>
      </p:pic>
      <p:pic>
        <p:nvPicPr>
          <p:cNvPr id="5" name="Picture 4">
            <a:extLst>
              <a:ext uri="{FF2B5EF4-FFF2-40B4-BE49-F238E27FC236}">
                <a16:creationId xmlns:a16="http://schemas.microsoft.com/office/drawing/2014/main" id="{40C11155-E93E-F6C2-0BD3-45D9FE54DC9F}"/>
              </a:ext>
            </a:extLst>
          </p:cNvPr>
          <p:cNvPicPr>
            <a:picLocks noChangeAspect="1"/>
          </p:cNvPicPr>
          <p:nvPr/>
        </p:nvPicPr>
        <p:blipFill>
          <a:blip r:embed="rId4"/>
          <a:stretch>
            <a:fillRect/>
          </a:stretch>
        </p:blipFill>
        <p:spPr>
          <a:xfrm>
            <a:off x="3378840" y="2683532"/>
            <a:ext cx="8593155" cy="3779871"/>
          </a:xfrm>
          <a:prstGeom prst="rect">
            <a:avLst/>
          </a:prstGeom>
        </p:spPr>
      </p:pic>
      <p:sp>
        <p:nvSpPr>
          <p:cNvPr id="6" name="Content Placeholder 2">
            <a:extLst>
              <a:ext uri="{FF2B5EF4-FFF2-40B4-BE49-F238E27FC236}">
                <a16:creationId xmlns:a16="http://schemas.microsoft.com/office/drawing/2014/main" id="{C829F33A-CE80-CFA6-FE2D-995010FEFF0B}"/>
              </a:ext>
            </a:extLst>
          </p:cNvPr>
          <p:cNvSpPr>
            <a:spLocks noGrp="1"/>
          </p:cNvSpPr>
          <p:nvPr>
            <p:ph idx="1"/>
          </p:nvPr>
        </p:nvSpPr>
        <p:spPr>
          <a:xfrm>
            <a:off x="220005" y="1581878"/>
            <a:ext cx="3158835" cy="4215990"/>
          </a:xfrm>
        </p:spPr>
        <p:txBody>
          <a:bodyPr>
            <a:normAutofit/>
          </a:bodyPr>
          <a:lstStyle/>
          <a:p>
            <a:r>
              <a:rPr lang="en-US" sz="2000" dirty="0"/>
              <a:t>DP 482 (best feasible design) </a:t>
            </a:r>
            <a:r>
              <a:rPr lang="en-US" sz="2000" b="1" dirty="0"/>
              <a:t>reduces the mass by 7.8%</a:t>
            </a:r>
            <a:r>
              <a:rPr lang="en-US" sz="2000" dirty="0"/>
              <a:t> from the baseline, but has a higher factor of safety and lower tip deflection.</a:t>
            </a:r>
          </a:p>
          <a:p>
            <a:r>
              <a:rPr lang="en-US" sz="2000" dirty="0"/>
              <a:t>DP 482 </a:t>
            </a:r>
            <a:r>
              <a:rPr lang="en-US" sz="2000" b="1" dirty="0"/>
              <a:t>thickens</a:t>
            </a:r>
            <a:r>
              <a:rPr lang="en-US" sz="2000" dirty="0"/>
              <a:t> the root skin and rib thicknesses, while outboard components thicknesses </a:t>
            </a:r>
            <a:r>
              <a:rPr lang="en-US" sz="2000" b="1" dirty="0"/>
              <a:t>are reduced</a:t>
            </a:r>
            <a:r>
              <a:rPr lang="en-US" sz="2000" dirty="0"/>
              <a:t> (generally follow beam theory principles).</a:t>
            </a:r>
          </a:p>
        </p:txBody>
      </p:sp>
    </p:spTree>
    <p:extLst>
      <p:ext uri="{BB962C8B-B14F-4D97-AF65-F5344CB8AC3E}">
        <p14:creationId xmlns:p14="http://schemas.microsoft.com/office/powerpoint/2010/main" val="2501530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p:txBody>
          <a:bodyPr>
            <a:normAutofit/>
          </a:bodyPr>
          <a:lstStyle/>
          <a:p>
            <a:r>
              <a:rPr lang="en-US" sz="3200" dirty="0"/>
              <a:t>Phase 2: Structural Sizing Optimization (4/4)</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18</a:t>
            </a:fld>
            <a:endParaRPr lang="en-US"/>
          </a:p>
        </p:txBody>
      </p:sp>
      <p:pic>
        <p:nvPicPr>
          <p:cNvPr id="3" name="Picture 2">
            <a:extLst>
              <a:ext uri="{FF2B5EF4-FFF2-40B4-BE49-F238E27FC236}">
                <a16:creationId xmlns:a16="http://schemas.microsoft.com/office/drawing/2014/main" id="{14997CD5-E69D-FA31-CF5B-26B70FFB52A2}"/>
              </a:ext>
            </a:extLst>
          </p:cNvPr>
          <p:cNvPicPr>
            <a:picLocks noChangeAspect="1"/>
          </p:cNvPicPr>
          <p:nvPr/>
        </p:nvPicPr>
        <p:blipFill>
          <a:blip r:embed="rId3"/>
          <a:stretch>
            <a:fillRect/>
          </a:stretch>
        </p:blipFill>
        <p:spPr>
          <a:xfrm>
            <a:off x="251115" y="1134363"/>
            <a:ext cx="7083137" cy="5448567"/>
          </a:xfrm>
          <a:prstGeom prst="rect">
            <a:avLst/>
          </a:prstGeom>
        </p:spPr>
      </p:pic>
      <p:grpSp>
        <p:nvGrpSpPr>
          <p:cNvPr id="10" name="Group 9">
            <a:extLst>
              <a:ext uri="{FF2B5EF4-FFF2-40B4-BE49-F238E27FC236}">
                <a16:creationId xmlns:a16="http://schemas.microsoft.com/office/drawing/2014/main" id="{A4711392-6413-8DBC-8B0E-4A3F260FDF80}"/>
              </a:ext>
            </a:extLst>
          </p:cNvPr>
          <p:cNvGrpSpPr/>
          <p:nvPr/>
        </p:nvGrpSpPr>
        <p:grpSpPr>
          <a:xfrm>
            <a:off x="7701394" y="1198930"/>
            <a:ext cx="4100946" cy="5279975"/>
            <a:chOff x="306530" y="1212900"/>
            <a:chExt cx="4100946" cy="5279975"/>
          </a:xfrm>
        </p:grpSpPr>
        <p:pic>
          <p:nvPicPr>
            <p:cNvPr id="6" name="Picture 5">
              <a:extLst>
                <a:ext uri="{FF2B5EF4-FFF2-40B4-BE49-F238E27FC236}">
                  <a16:creationId xmlns:a16="http://schemas.microsoft.com/office/drawing/2014/main" id="{9E7B4668-5794-24A0-D1AD-3BCCB861F2B8}"/>
                </a:ext>
              </a:extLst>
            </p:cNvPr>
            <p:cNvPicPr>
              <a:picLocks noChangeAspect="1"/>
            </p:cNvPicPr>
            <p:nvPr/>
          </p:nvPicPr>
          <p:blipFill rotWithShape="1">
            <a:blip r:embed="rId4"/>
            <a:srcRect l="49822" b="12938"/>
            <a:stretch/>
          </p:blipFill>
          <p:spPr>
            <a:xfrm>
              <a:off x="406976" y="3688375"/>
              <a:ext cx="3900055" cy="2475475"/>
            </a:xfrm>
            <a:prstGeom prst="rect">
              <a:avLst/>
            </a:prstGeom>
          </p:spPr>
        </p:pic>
        <p:pic>
          <p:nvPicPr>
            <p:cNvPr id="8" name="Picture 7">
              <a:extLst>
                <a:ext uri="{FF2B5EF4-FFF2-40B4-BE49-F238E27FC236}">
                  <a16:creationId xmlns:a16="http://schemas.microsoft.com/office/drawing/2014/main" id="{B215B590-C4C5-34AB-F6B3-5A72C88256BC}"/>
                </a:ext>
              </a:extLst>
            </p:cNvPr>
            <p:cNvPicPr>
              <a:picLocks noChangeAspect="1"/>
            </p:cNvPicPr>
            <p:nvPr/>
          </p:nvPicPr>
          <p:blipFill rotWithShape="1">
            <a:blip r:embed="rId4"/>
            <a:srcRect r="51248" b="12938"/>
            <a:stretch/>
          </p:blipFill>
          <p:spPr>
            <a:xfrm>
              <a:off x="517813" y="1212900"/>
              <a:ext cx="3789218" cy="2475475"/>
            </a:xfrm>
            <a:prstGeom prst="rect">
              <a:avLst/>
            </a:prstGeom>
          </p:spPr>
        </p:pic>
        <p:pic>
          <p:nvPicPr>
            <p:cNvPr id="9" name="Picture 8">
              <a:extLst>
                <a:ext uri="{FF2B5EF4-FFF2-40B4-BE49-F238E27FC236}">
                  <a16:creationId xmlns:a16="http://schemas.microsoft.com/office/drawing/2014/main" id="{77EC74EE-67B5-8F2C-E061-3F6679D2F081}"/>
                </a:ext>
              </a:extLst>
            </p:cNvPr>
            <p:cNvPicPr>
              <a:picLocks noChangeAspect="1"/>
            </p:cNvPicPr>
            <p:nvPr/>
          </p:nvPicPr>
          <p:blipFill rotWithShape="1">
            <a:blip r:embed="rId4"/>
            <a:srcRect l="23084" t="91662" r="24153" b="-432"/>
            <a:stretch/>
          </p:blipFill>
          <p:spPr>
            <a:xfrm>
              <a:off x="306530" y="6243494"/>
              <a:ext cx="4100946" cy="249381"/>
            </a:xfrm>
            <a:prstGeom prst="rect">
              <a:avLst/>
            </a:prstGeom>
          </p:spPr>
        </p:pic>
      </p:grpSp>
      <p:cxnSp>
        <p:nvCxnSpPr>
          <p:cNvPr id="12" name="Straight Connector 11">
            <a:extLst>
              <a:ext uri="{FF2B5EF4-FFF2-40B4-BE49-F238E27FC236}">
                <a16:creationId xmlns:a16="http://schemas.microsoft.com/office/drawing/2014/main" id="{138880E2-7FD6-7D94-0D13-C0095427B757}"/>
              </a:ext>
            </a:extLst>
          </p:cNvPr>
          <p:cNvCxnSpPr/>
          <p:nvPr/>
        </p:nvCxnSpPr>
        <p:spPr>
          <a:xfrm>
            <a:off x="7576700" y="1071903"/>
            <a:ext cx="0" cy="5448567"/>
          </a:xfrm>
          <a:prstGeom prst="line">
            <a:avLst/>
          </a:prstGeom>
          <a:ln w="38100">
            <a:solidFill>
              <a:srgbClr val="004B8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607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91C8-87C4-4D15-BF3E-CF09AD4DF584}"/>
              </a:ext>
            </a:extLst>
          </p:cNvPr>
          <p:cNvSpPr>
            <a:spLocks noGrp="1"/>
          </p:cNvSpPr>
          <p:nvPr>
            <p:ph type="title"/>
          </p:nvPr>
        </p:nvSpPr>
        <p:spPr>
          <a:xfrm>
            <a:off x="703118" y="379095"/>
            <a:ext cx="10785764" cy="610235"/>
          </a:xfrm>
        </p:spPr>
        <p:txBody>
          <a:bodyPr>
            <a:normAutofit fontScale="90000"/>
          </a:bodyPr>
          <a:lstStyle/>
          <a:p>
            <a:r>
              <a:rPr lang="en-US" dirty="0"/>
              <a:t>Phase 3: Aero-structural Coupling (Two-Way FSI) (1/3)</a:t>
            </a:r>
          </a:p>
        </p:txBody>
      </p:sp>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19</a:t>
            </a:fld>
            <a:endParaRPr lang="en-US"/>
          </a:p>
        </p:txBody>
      </p:sp>
      <p:pic>
        <p:nvPicPr>
          <p:cNvPr id="6" name="Picture 5">
            <a:extLst>
              <a:ext uri="{FF2B5EF4-FFF2-40B4-BE49-F238E27FC236}">
                <a16:creationId xmlns:a16="http://schemas.microsoft.com/office/drawing/2014/main" id="{0E2350BA-455D-4BF0-44AA-44D97A983EFC}"/>
              </a:ext>
            </a:extLst>
          </p:cNvPr>
          <p:cNvPicPr>
            <a:picLocks noChangeAspect="1"/>
          </p:cNvPicPr>
          <p:nvPr/>
        </p:nvPicPr>
        <p:blipFill>
          <a:blip r:embed="rId3"/>
          <a:stretch>
            <a:fillRect/>
          </a:stretch>
        </p:blipFill>
        <p:spPr>
          <a:xfrm>
            <a:off x="419100" y="1706301"/>
            <a:ext cx="11353800" cy="3060676"/>
          </a:xfrm>
          <a:prstGeom prst="rect">
            <a:avLst/>
          </a:prstGeom>
        </p:spPr>
      </p:pic>
      <p:sp>
        <p:nvSpPr>
          <p:cNvPr id="8" name="TextBox 7">
            <a:extLst>
              <a:ext uri="{FF2B5EF4-FFF2-40B4-BE49-F238E27FC236}">
                <a16:creationId xmlns:a16="http://schemas.microsoft.com/office/drawing/2014/main" id="{3AF1B753-5545-6A07-ACBB-E40496DDF839}"/>
              </a:ext>
            </a:extLst>
          </p:cNvPr>
          <p:cNvSpPr txBox="1"/>
          <p:nvPr/>
        </p:nvSpPr>
        <p:spPr>
          <a:xfrm>
            <a:off x="1545535" y="5483949"/>
            <a:ext cx="9100930" cy="769441"/>
          </a:xfrm>
          <a:prstGeom prst="rect">
            <a:avLst/>
          </a:prstGeom>
          <a:noFill/>
          <a:ln>
            <a:solidFill>
              <a:srgbClr val="FF0000"/>
            </a:solidFill>
          </a:ln>
        </p:spPr>
        <p:txBody>
          <a:bodyPr wrap="square">
            <a:spAutoFit/>
          </a:bodyPr>
          <a:lstStyle/>
          <a:p>
            <a:pPr algn="ctr"/>
            <a:r>
              <a:rPr lang="en-US" sz="2200" dirty="0"/>
              <a:t>We quantify </a:t>
            </a:r>
            <a:r>
              <a:rPr lang="en-US" sz="2200" dirty="0">
                <a:solidFill>
                  <a:srgbClr val="FF0000"/>
                </a:solidFill>
              </a:rPr>
              <a:t>the effect of the coupling</a:t>
            </a:r>
            <a:r>
              <a:rPr lang="en-US" sz="2200" dirty="0"/>
              <a:t> between aerodynamics and structures by performing </a:t>
            </a:r>
            <a:r>
              <a:rPr lang="en-US" sz="2200" i="1" dirty="0"/>
              <a:t>two-way FSI analysis</a:t>
            </a:r>
            <a:r>
              <a:rPr lang="en-US" sz="2200" dirty="0"/>
              <a:t> on the best feasible design (</a:t>
            </a:r>
            <a:r>
              <a:rPr lang="en-US" sz="2200" u="sng" dirty="0"/>
              <a:t>DP 482</a:t>
            </a:r>
            <a:r>
              <a:rPr lang="en-US" sz="2200" dirty="0"/>
              <a:t>).</a:t>
            </a:r>
          </a:p>
        </p:txBody>
      </p:sp>
    </p:spTree>
    <p:extLst>
      <p:ext uri="{BB962C8B-B14F-4D97-AF65-F5344CB8AC3E}">
        <p14:creationId xmlns:p14="http://schemas.microsoft.com/office/powerpoint/2010/main" val="835068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20</a:t>
            </a:fld>
            <a:endParaRPr lang="en-US"/>
          </a:p>
        </p:txBody>
      </p:sp>
      <p:sp>
        <p:nvSpPr>
          <p:cNvPr id="8" name="Title 1">
            <a:extLst>
              <a:ext uri="{FF2B5EF4-FFF2-40B4-BE49-F238E27FC236}">
                <a16:creationId xmlns:a16="http://schemas.microsoft.com/office/drawing/2014/main" id="{17A1550C-F1BC-298E-6B12-BD806AB5C8B9}"/>
              </a:ext>
            </a:extLst>
          </p:cNvPr>
          <p:cNvSpPr>
            <a:spLocks noGrp="1"/>
          </p:cNvSpPr>
          <p:nvPr>
            <p:ph type="title"/>
          </p:nvPr>
        </p:nvSpPr>
        <p:spPr>
          <a:xfrm>
            <a:off x="703118" y="379095"/>
            <a:ext cx="10785764" cy="610235"/>
          </a:xfrm>
        </p:spPr>
        <p:txBody>
          <a:bodyPr>
            <a:normAutofit fontScale="90000"/>
          </a:bodyPr>
          <a:lstStyle/>
          <a:p>
            <a:r>
              <a:rPr lang="en-US" dirty="0"/>
              <a:t>Phase 3: Aero-structural Coupling (Two-Way FSI) (2/3)</a:t>
            </a:r>
          </a:p>
        </p:txBody>
      </p:sp>
      <p:pic>
        <p:nvPicPr>
          <p:cNvPr id="10" name="Picture 9">
            <a:extLst>
              <a:ext uri="{FF2B5EF4-FFF2-40B4-BE49-F238E27FC236}">
                <a16:creationId xmlns:a16="http://schemas.microsoft.com/office/drawing/2014/main" id="{FE4E07ED-E8C2-B908-1BF4-72134A982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8637" y="1207375"/>
            <a:ext cx="6274723" cy="4481945"/>
          </a:xfrm>
          <a:prstGeom prst="rect">
            <a:avLst/>
          </a:prstGeom>
        </p:spPr>
      </p:pic>
      <p:sp>
        <p:nvSpPr>
          <p:cNvPr id="11" name="TextBox 10">
            <a:extLst>
              <a:ext uri="{FF2B5EF4-FFF2-40B4-BE49-F238E27FC236}">
                <a16:creationId xmlns:a16="http://schemas.microsoft.com/office/drawing/2014/main" id="{9DB72FC1-99BB-2C2B-9FE2-2CDD751B852D}"/>
              </a:ext>
            </a:extLst>
          </p:cNvPr>
          <p:cNvSpPr txBox="1"/>
          <p:nvPr/>
        </p:nvSpPr>
        <p:spPr>
          <a:xfrm>
            <a:off x="1545534" y="5868669"/>
            <a:ext cx="9100930" cy="430887"/>
          </a:xfrm>
          <a:prstGeom prst="rect">
            <a:avLst/>
          </a:prstGeom>
          <a:noFill/>
        </p:spPr>
        <p:txBody>
          <a:bodyPr wrap="square">
            <a:spAutoFit/>
          </a:bodyPr>
          <a:lstStyle/>
          <a:p>
            <a:pPr algn="ctr"/>
            <a:r>
              <a:rPr lang="en-US" sz="2200" dirty="0"/>
              <a:t>The coupling system converges in less than 6 iterations (RMS &lt; 0.0001).</a:t>
            </a:r>
          </a:p>
        </p:txBody>
      </p:sp>
    </p:spTree>
    <p:extLst>
      <p:ext uri="{BB962C8B-B14F-4D97-AF65-F5344CB8AC3E}">
        <p14:creationId xmlns:p14="http://schemas.microsoft.com/office/powerpoint/2010/main" val="3613706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21</a:t>
            </a:fld>
            <a:endParaRPr lang="en-US"/>
          </a:p>
        </p:txBody>
      </p:sp>
      <p:sp>
        <p:nvSpPr>
          <p:cNvPr id="7" name="Title 1">
            <a:extLst>
              <a:ext uri="{FF2B5EF4-FFF2-40B4-BE49-F238E27FC236}">
                <a16:creationId xmlns:a16="http://schemas.microsoft.com/office/drawing/2014/main" id="{35A7D62D-9D9F-E627-D3BC-96D8DE0C339C}"/>
              </a:ext>
            </a:extLst>
          </p:cNvPr>
          <p:cNvSpPr>
            <a:spLocks noGrp="1"/>
          </p:cNvSpPr>
          <p:nvPr>
            <p:ph type="title"/>
          </p:nvPr>
        </p:nvSpPr>
        <p:spPr>
          <a:xfrm>
            <a:off x="703118" y="379095"/>
            <a:ext cx="10785764" cy="610235"/>
          </a:xfrm>
        </p:spPr>
        <p:txBody>
          <a:bodyPr>
            <a:normAutofit fontScale="90000"/>
          </a:bodyPr>
          <a:lstStyle/>
          <a:p>
            <a:r>
              <a:rPr lang="en-US" dirty="0"/>
              <a:t>Phase 3: Aero-structural Coupling (Two-Way FSI) (3/3)</a:t>
            </a:r>
          </a:p>
        </p:txBody>
      </p:sp>
      <p:grpSp>
        <p:nvGrpSpPr>
          <p:cNvPr id="10" name="Group 9">
            <a:extLst>
              <a:ext uri="{FF2B5EF4-FFF2-40B4-BE49-F238E27FC236}">
                <a16:creationId xmlns:a16="http://schemas.microsoft.com/office/drawing/2014/main" id="{6BAD66EB-9E2B-A7C1-5C23-A61A4FDDD3E1}"/>
              </a:ext>
            </a:extLst>
          </p:cNvPr>
          <p:cNvGrpSpPr/>
          <p:nvPr/>
        </p:nvGrpSpPr>
        <p:grpSpPr>
          <a:xfrm>
            <a:off x="595745" y="1468832"/>
            <a:ext cx="11000510" cy="1960168"/>
            <a:chOff x="595745" y="1468832"/>
            <a:chExt cx="11000510" cy="1960168"/>
          </a:xfrm>
        </p:grpSpPr>
        <p:pic>
          <p:nvPicPr>
            <p:cNvPr id="8" name="Picture 7">
              <a:extLst>
                <a:ext uri="{FF2B5EF4-FFF2-40B4-BE49-F238E27FC236}">
                  <a16:creationId xmlns:a16="http://schemas.microsoft.com/office/drawing/2014/main" id="{4533CEF8-760C-A262-9144-BF9EC84B7CD8}"/>
                </a:ext>
              </a:extLst>
            </p:cNvPr>
            <p:cNvPicPr>
              <a:picLocks noChangeAspect="1"/>
            </p:cNvPicPr>
            <p:nvPr/>
          </p:nvPicPr>
          <p:blipFill>
            <a:blip r:embed="rId3"/>
            <a:stretch>
              <a:fillRect/>
            </a:stretch>
          </p:blipFill>
          <p:spPr>
            <a:xfrm>
              <a:off x="595745" y="1468832"/>
              <a:ext cx="11000510" cy="1960168"/>
            </a:xfrm>
            <a:prstGeom prst="rect">
              <a:avLst/>
            </a:prstGeom>
          </p:spPr>
        </p:pic>
        <p:sp>
          <p:nvSpPr>
            <p:cNvPr id="9" name="Rectangle 8">
              <a:extLst>
                <a:ext uri="{FF2B5EF4-FFF2-40B4-BE49-F238E27FC236}">
                  <a16:creationId xmlns:a16="http://schemas.microsoft.com/office/drawing/2014/main" id="{B361DB7B-90E7-13D5-2864-8A0A0A672107}"/>
                </a:ext>
              </a:extLst>
            </p:cNvPr>
            <p:cNvSpPr/>
            <p:nvPr/>
          </p:nvSpPr>
          <p:spPr>
            <a:xfrm>
              <a:off x="3034145" y="2992582"/>
              <a:ext cx="6899564" cy="3048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DD5DE51D-A0BF-C8AB-4955-FDAACE451074}"/>
              </a:ext>
            </a:extLst>
          </p:cNvPr>
          <p:cNvSpPr txBox="1"/>
          <p:nvPr/>
        </p:nvSpPr>
        <p:spPr>
          <a:xfrm>
            <a:off x="703118" y="4229475"/>
            <a:ext cx="11000510" cy="2123658"/>
          </a:xfrm>
          <a:prstGeom prst="rect">
            <a:avLst/>
          </a:prstGeom>
          <a:noFill/>
        </p:spPr>
        <p:txBody>
          <a:bodyPr wrap="square">
            <a:spAutoFit/>
          </a:bodyPr>
          <a:lstStyle/>
          <a:p>
            <a:pPr marL="342900" indent="-342900">
              <a:buFont typeface="Arial" panose="020B0604020202020204" pitchFamily="34" charset="0"/>
              <a:buChar char="•"/>
            </a:pPr>
            <a:r>
              <a:rPr lang="en-US" sz="2200" dirty="0"/>
              <a:t>The coupled aero-structural deformation slightly </a:t>
            </a:r>
            <a:r>
              <a:rPr lang="en-US" sz="2200" b="1" dirty="0"/>
              <a:t>increases the wing </a:t>
            </a:r>
            <a:r>
              <a:rPr lang="en-US" sz="2200" b="1" dirty="0" err="1"/>
              <a:t>AoA</a:t>
            </a:r>
            <a:r>
              <a:rPr lang="en-US" sz="2200" dirty="0"/>
              <a:t>, increasing the total aero lift and drag.</a:t>
            </a:r>
          </a:p>
          <a:p>
            <a:pPr marL="342900" indent="-342900">
              <a:buFont typeface="Arial" panose="020B0604020202020204" pitchFamily="34" charset="0"/>
              <a:buChar char="•"/>
            </a:pPr>
            <a:r>
              <a:rPr lang="en-US" sz="2200" dirty="0"/>
              <a:t>The increased aero load in turn increases the max von mises stress and wing tip deflection.</a:t>
            </a:r>
          </a:p>
          <a:p>
            <a:pPr marL="342900" indent="-342900">
              <a:buFont typeface="Arial" panose="020B0604020202020204" pitchFamily="34" charset="0"/>
              <a:buChar char="•"/>
            </a:pPr>
            <a:r>
              <a:rPr lang="en-US" sz="2200" dirty="0"/>
              <a:t>Note that under coupled aero-structural load, the best feasible design (DP 482) </a:t>
            </a:r>
            <a:r>
              <a:rPr lang="en-US" sz="2200" dirty="0">
                <a:solidFill>
                  <a:srgbClr val="FF0000"/>
                </a:solidFill>
              </a:rPr>
              <a:t>violates the wing tip deflection constraint</a:t>
            </a:r>
            <a:r>
              <a:rPr lang="en-US" sz="2200" dirty="0"/>
              <a:t> (152.55 &gt; 150 mm).</a:t>
            </a:r>
          </a:p>
          <a:p>
            <a:pPr marL="342900" indent="-342900">
              <a:buFont typeface="Arial" panose="020B0604020202020204" pitchFamily="34" charset="0"/>
              <a:buChar char="•"/>
            </a:pPr>
            <a:r>
              <a:rPr lang="en-US" sz="2200" dirty="0"/>
              <a:t>In other words, </a:t>
            </a:r>
            <a:r>
              <a:rPr lang="en-US" sz="2200" i="1" dirty="0"/>
              <a:t>uncoupled</a:t>
            </a:r>
            <a:r>
              <a:rPr lang="en-US" sz="2200" dirty="0"/>
              <a:t> aero-structural load (</a:t>
            </a:r>
            <a:r>
              <a:rPr lang="en-US" sz="2200" b="1" dirty="0"/>
              <a:t>one-way FSI</a:t>
            </a:r>
            <a:r>
              <a:rPr lang="en-US" sz="2200" dirty="0"/>
              <a:t>) is in fact </a:t>
            </a:r>
            <a:r>
              <a:rPr lang="en-US" sz="2200" b="1" dirty="0"/>
              <a:t>non-conservative</a:t>
            </a:r>
            <a:r>
              <a:rPr lang="en-US" sz="2200" dirty="0"/>
              <a:t>.</a:t>
            </a:r>
          </a:p>
        </p:txBody>
      </p:sp>
      <p:sp>
        <p:nvSpPr>
          <p:cNvPr id="12" name="Down Arrow 11">
            <a:extLst>
              <a:ext uri="{FF2B5EF4-FFF2-40B4-BE49-F238E27FC236}">
                <a16:creationId xmlns:a16="http://schemas.microsoft.com/office/drawing/2014/main" id="{96AB2192-7DED-0916-2E87-C1E04213447F}"/>
              </a:ext>
            </a:extLst>
          </p:cNvPr>
          <p:cNvSpPr/>
          <p:nvPr/>
        </p:nvSpPr>
        <p:spPr>
          <a:xfrm rot="6425590">
            <a:off x="10066183" y="2659533"/>
            <a:ext cx="346364" cy="540327"/>
          </a:xfrm>
          <a:prstGeom prst="down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4" name="TextBox 13">
            <a:extLst>
              <a:ext uri="{FF2B5EF4-FFF2-40B4-BE49-F238E27FC236}">
                <a16:creationId xmlns:a16="http://schemas.microsoft.com/office/drawing/2014/main" id="{2540AEC2-8320-2192-1AB9-C059B78B7596}"/>
              </a:ext>
            </a:extLst>
          </p:cNvPr>
          <p:cNvSpPr txBox="1"/>
          <p:nvPr/>
        </p:nvSpPr>
        <p:spPr>
          <a:xfrm>
            <a:off x="10520789" y="2798388"/>
            <a:ext cx="1417496" cy="477054"/>
          </a:xfrm>
          <a:prstGeom prst="rect">
            <a:avLst/>
          </a:prstGeom>
          <a:noFill/>
        </p:spPr>
        <p:txBody>
          <a:bodyPr wrap="square">
            <a:spAutoFit/>
          </a:bodyPr>
          <a:lstStyle/>
          <a:p>
            <a:r>
              <a:rPr lang="en-US" sz="2500" b="1" dirty="0">
                <a:solidFill>
                  <a:srgbClr val="FF0000"/>
                </a:solidFill>
              </a:rPr>
              <a:t>violation</a:t>
            </a:r>
            <a:endParaRPr lang="en-US" sz="2500" b="1" dirty="0"/>
          </a:p>
        </p:txBody>
      </p:sp>
    </p:spTree>
    <p:extLst>
      <p:ext uri="{BB962C8B-B14F-4D97-AF65-F5344CB8AC3E}">
        <p14:creationId xmlns:p14="http://schemas.microsoft.com/office/powerpoint/2010/main" val="789774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22</a:t>
            </a:fld>
            <a:endParaRPr lang="en-US"/>
          </a:p>
        </p:txBody>
      </p:sp>
      <p:sp>
        <p:nvSpPr>
          <p:cNvPr id="7" name="Title 1">
            <a:extLst>
              <a:ext uri="{FF2B5EF4-FFF2-40B4-BE49-F238E27FC236}">
                <a16:creationId xmlns:a16="http://schemas.microsoft.com/office/drawing/2014/main" id="{35A7D62D-9D9F-E627-D3BC-96D8DE0C339C}"/>
              </a:ext>
            </a:extLst>
          </p:cNvPr>
          <p:cNvSpPr>
            <a:spLocks noGrp="1"/>
          </p:cNvSpPr>
          <p:nvPr>
            <p:ph type="title"/>
          </p:nvPr>
        </p:nvSpPr>
        <p:spPr>
          <a:xfrm>
            <a:off x="703118" y="379095"/>
            <a:ext cx="10785764" cy="610235"/>
          </a:xfrm>
        </p:spPr>
        <p:txBody>
          <a:bodyPr>
            <a:normAutofit/>
          </a:bodyPr>
          <a:lstStyle/>
          <a:p>
            <a:r>
              <a:rPr lang="en-US" dirty="0"/>
              <a:t>Conclusion</a:t>
            </a:r>
          </a:p>
        </p:txBody>
      </p:sp>
      <p:sp>
        <p:nvSpPr>
          <p:cNvPr id="11" name="TextBox 10">
            <a:extLst>
              <a:ext uri="{FF2B5EF4-FFF2-40B4-BE49-F238E27FC236}">
                <a16:creationId xmlns:a16="http://schemas.microsoft.com/office/drawing/2014/main" id="{DD5DE51D-A0BF-C8AB-4955-FDAACE451074}"/>
              </a:ext>
            </a:extLst>
          </p:cNvPr>
          <p:cNvSpPr txBox="1"/>
          <p:nvPr/>
        </p:nvSpPr>
        <p:spPr>
          <a:xfrm>
            <a:off x="703118" y="1670467"/>
            <a:ext cx="11000510" cy="4401205"/>
          </a:xfrm>
          <a:prstGeom prst="rect">
            <a:avLst/>
          </a:prstGeom>
          <a:noFill/>
        </p:spPr>
        <p:txBody>
          <a:bodyPr wrap="square">
            <a:spAutoFit/>
          </a:bodyPr>
          <a:lstStyle/>
          <a:p>
            <a:pPr marL="342900" indent="-342900">
              <a:buFont typeface="Arial" panose="020B0604020202020204" pitchFamily="34" charset="0"/>
              <a:buChar char="•"/>
            </a:pPr>
            <a:r>
              <a:rPr lang="en-US" sz="2200" b="1" dirty="0"/>
              <a:t>Optimization success</a:t>
            </a:r>
          </a:p>
          <a:p>
            <a:pPr marL="800100" lvl="1" indent="-342900">
              <a:buFont typeface="Wingdings" pitchFamily="2" charset="2"/>
              <a:buChar char="ü"/>
            </a:pPr>
            <a:r>
              <a:rPr lang="en-US" dirty="0"/>
              <a:t>Achieved </a:t>
            </a:r>
            <a:r>
              <a:rPr lang="en-US" dirty="0">
                <a:solidFill>
                  <a:srgbClr val="FF0000"/>
                </a:solidFill>
              </a:rPr>
              <a:t>7.8 % mass reduction</a:t>
            </a:r>
            <a:r>
              <a:rPr lang="en-US" dirty="0"/>
              <a:t> (42.0 kg </a:t>
            </a:r>
            <a:r>
              <a:rPr lang="en-US" dirty="0">
                <a:sym typeface="Wingdings" pitchFamily="2" charset="2"/>
              </a:rPr>
              <a:t> 38.7 kg) using the Root-clustered layout with optimized panel thicknesses (DP 482)</a:t>
            </a:r>
          </a:p>
          <a:p>
            <a:pPr marL="800100" lvl="1" indent="-342900">
              <a:buFont typeface="Wingdings" pitchFamily="2" charset="2"/>
              <a:buChar char="ü"/>
            </a:pPr>
            <a:r>
              <a:rPr lang="en-US" dirty="0">
                <a:solidFill>
                  <a:srgbClr val="FF0000"/>
                </a:solidFill>
                <a:sym typeface="Wingdings" pitchFamily="2" charset="2"/>
              </a:rPr>
              <a:t>Satisfied all constraints</a:t>
            </a:r>
            <a:r>
              <a:rPr lang="en-US" dirty="0">
                <a:sym typeface="Wingdings" pitchFamily="2" charset="2"/>
              </a:rPr>
              <a:t> under one-way FSI, with a tight stiffness margin (148.8 mm&lt;= 150.0 mm)</a:t>
            </a:r>
            <a:endParaRPr lang="en-US"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b="1" dirty="0"/>
              <a:t>Aero-structural insight:</a:t>
            </a:r>
          </a:p>
          <a:p>
            <a:pPr marL="800100" lvl="1" indent="-342900">
              <a:buFont typeface="Wingdings" pitchFamily="2" charset="2"/>
              <a:buChar char="ü"/>
            </a:pPr>
            <a:r>
              <a:rPr lang="en-US" dirty="0"/>
              <a:t>Two-way FSI revealed that the </a:t>
            </a:r>
            <a:r>
              <a:rPr lang="en-US" dirty="0">
                <a:solidFill>
                  <a:srgbClr val="FF0000"/>
                </a:solidFill>
              </a:rPr>
              <a:t>rigid-wing assumption is non-conservative</a:t>
            </a:r>
            <a:endParaRPr lang="en-US" dirty="0"/>
          </a:p>
          <a:p>
            <a:pPr marL="800100" lvl="1" indent="-342900">
              <a:buFont typeface="Wingdings" pitchFamily="2" charset="2"/>
              <a:buChar char="ü"/>
            </a:pPr>
            <a:r>
              <a:rPr lang="en-US" dirty="0"/>
              <a:t>Aero-structural feedback </a:t>
            </a:r>
            <a:r>
              <a:rPr lang="en-US" dirty="0">
                <a:solidFill>
                  <a:srgbClr val="FF0000"/>
                </a:solidFill>
              </a:rPr>
              <a:t>increased wing tip deflection by 2.5 %</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b="1" dirty="0"/>
              <a:t>Key takeaway:</a:t>
            </a:r>
          </a:p>
          <a:p>
            <a:pPr marL="800100" lvl="1" indent="-342900">
              <a:buFont typeface="Wingdings" pitchFamily="2" charset="2"/>
              <a:buChar char="ü"/>
            </a:pPr>
            <a:r>
              <a:rPr lang="en-US" dirty="0"/>
              <a:t>The optimized design (DP 482) </a:t>
            </a:r>
            <a:r>
              <a:rPr lang="en-US" dirty="0">
                <a:solidFill>
                  <a:srgbClr val="FF0000"/>
                </a:solidFill>
              </a:rPr>
              <a:t>violated the stiffness limit</a:t>
            </a:r>
            <a:r>
              <a:rPr lang="en-US" dirty="0"/>
              <a:t> under a coupled load (152.6 mm &gt; 150.0 mm)</a:t>
            </a:r>
          </a:p>
          <a:p>
            <a:pPr marL="800100" lvl="1" indent="-342900">
              <a:buFont typeface="Wingdings" pitchFamily="2" charset="2"/>
              <a:buChar char="ü"/>
            </a:pPr>
            <a:r>
              <a:rPr lang="en-US" dirty="0"/>
              <a:t>Future sizing requires </a:t>
            </a:r>
            <a:r>
              <a:rPr lang="en-US" dirty="0">
                <a:solidFill>
                  <a:srgbClr val="FF0000"/>
                </a:solidFill>
              </a:rPr>
              <a:t>added safety margins</a:t>
            </a:r>
            <a:r>
              <a:rPr lang="en-US" dirty="0"/>
              <a:t> or </a:t>
            </a:r>
            <a:r>
              <a:rPr lang="en-US" dirty="0">
                <a:solidFill>
                  <a:srgbClr val="FF0000"/>
                </a:solidFill>
              </a:rPr>
              <a:t>fully coupled optimization</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p:txBody>
      </p:sp>
    </p:spTree>
    <p:extLst>
      <p:ext uri="{BB962C8B-B14F-4D97-AF65-F5344CB8AC3E}">
        <p14:creationId xmlns:p14="http://schemas.microsoft.com/office/powerpoint/2010/main" val="1785676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6F7CE0-EFCF-4424-AC62-A81F1F6A1407}"/>
              </a:ext>
            </a:extLst>
          </p:cNvPr>
          <p:cNvSpPr>
            <a:spLocks noGrp="1"/>
          </p:cNvSpPr>
          <p:nvPr>
            <p:ph type="sldNum" sz="quarter" idx="12"/>
          </p:nvPr>
        </p:nvSpPr>
        <p:spPr/>
        <p:txBody>
          <a:bodyPr/>
          <a:lstStyle/>
          <a:p>
            <a:fld id="{F604EB7E-39DE-4DF6-A7F4-895A2CEA7BDE}" type="slidenum">
              <a:rPr lang="en-US" smtClean="0"/>
              <a:t>23</a:t>
            </a:fld>
            <a:endParaRPr lang="en-US"/>
          </a:p>
        </p:txBody>
      </p:sp>
      <p:sp>
        <p:nvSpPr>
          <p:cNvPr id="8" name="Title 7">
            <a:extLst>
              <a:ext uri="{FF2B5EF4-FFF2-40B4-BE49-F238E27FC236}">
                <a16:creationId xmlns:a16="http://schemas.microsoft.com/office/drawing/2014/main" id="{8E7E57E0-FA57-26E9-B4E7-3B497954AC3F}"/>
              </a:ext>
            </a:extLst>
          </p:cNvPr>
          <p:cNvSpPr>
            <a:spLocks noGrp="1"/>
          </p:cNvSpPr>
          <p:nvPr>
            <p:ph type="title"/>
          </p:nvPr>
        </p:nvSpPr>
        <p:spPr>
          <a:xfrm>
            <a:off x="838200" y="3123882"/>
            <a:ext cx="10515600" cy="610235"/>
          </a:xfrm>
        </p:spPr>
        <p:txBody>
          <a:bodyPr/>
          <a:lstStyle/>
          <a:p>
            <a:pPr algn="ctr"/>
            <a:r>
              <a:rPr lang="en-US" dirty="0"/>
              <a:t>Thank you.</a:t>
            </a:r>
          </a:p>
        </p:txBody>
      </p:sp>
    </p:spTree>
    <p:extLst>
      <p:ext uri="{BB962C8B-B14F-4D97-AF65-F5344CB8AC3E}">
        <p14:creationId xmlns:p14="http://schemas.microsoft.com/office/powerpoint/2010/main" val="861252061"/>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03366"/>
      </a:dk2>
      <a:lt2>
        <a:srgbClr val="E7E6E6"/>
      </a:lt2>
      <a:accent1>
        <a:srgbClr val="4472C4"/>
      </a:accent1>
      <a:accent2>
        <a:srgbClr val="ED7D31"/>
      </a:accent2>
      <a:accent3>
        <a:srgbClr val="A5A5A5"/>
      </a:accent3>
      <a:accent4>
        <a:srgbClr val="CC9900"/>
      </a:accent4>
      <a:accent5>
        <a:srgbClr val="5B9BD5"/>
      </a:accent5>
      <a:accent6>
        <a:srgbClr val="70AD47"/>
      </a:accent6>
      <a:hlink>
        <a:srgbClr val="003366"/>
      </a:hlink>
      <a:folHlink>
        <a:srgbClr val="0033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1315D752A6E044903E35D19B04B67C" ma:contentTypeVersion="11" ma:contentTypeDescription="Create a new document." ma:contentTypeScope="" ma:versionID="28364b753680b4794d8c9d9828230a17">
  <xsd:schema xmlns:xsd="http://www.w3.org/2001/XMLSchema" xmlns:xs="http://www.w3.org/2001/XMLSchema" xmlns:p="http://schemas.microsoft.com/office/2006/metadata/properties" xmlns:ns2="0e6c55cc-3952-47ed-a77c-33f7c1233005" xmlns:ns3="5debbf93-a342-4909-8aa4-dc0e82f5ca49" targetNamespace="http://schemas.microsoft.com/office/2006/metadata/properties" ma:root="true" ma:fieldsID="1a19907a252875812399d0559f5c06b1" ns2:_="" ns3:_="">
    <xsd:import namespace="0e6c55cc-3952-47ed-a77c-33f7c1233005"/>
    <xsd:import namespace="5debbf93-a342-4909-8aa4-dc0e82f5ca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6c55cc-3952-47ed-a77c-33f7c12330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9659908-461d-4310-9e2e-8d0890ed1ef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ebbf93-a342-4909-8aa4-dc0e82f5ca4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a9c9dc0-0aef-4231-957d-8c5c4a3a6686}" ma:internalName="TaxCatchAll" ma:showField="CatchAllData" ma:web="5debbf93-a342-4909-8aa4-dc0e82f5ca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debbf93-a342-4909-8aa4-dc0e82f5ca49" xsi:nil="true"/>
    <lcf76f155ced4ddcb4097134ff3c332f xmlns="0e6c55cc-3952-47ed-a77c-33f7c123300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BF49DDD-AD75-4591-B5D1-AEA3A91F8124}">
  <ds:schemaRefs>
    <ds:schemaRef ds:uri="http://schemas.microsoft.com/sharepoint/v3/contenttype/forms"/>
  </ds:schemaRefs>
</ds:datastoreItem>
</file>

<file path=customXml/itemProps2.xml><?xml version="1.0" encoding="utf-8"?>
<ds:datastoreItem xmlns:ds="http://schemas.openxmlformats.org/officeDocument/2006/customXml" ds:itemID="{7F44D69A-606E-45FC-A321-459F0C1195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6c55cc-3952-47ed-a77c-33f7c1233005"/>
    <ds:schemaRef ds:uri="5debbf93-a342-4909-8aa4-dc0e82f5ca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601D2B-D326-40AB-B356-C60F3CE719E2}">
  <ds:schemaRefs>
    <ds:schemaRef ds:uri="http://purl.org/dc/elements/1.1/"/>
    <ds:schemaRef ds:uri="http://www.w3.org/XML/1998/namespace"/>
    <ds:schemaRef ds:uri="5debbf93-a342-4909-8aa4-dc0e82f5ca49"/>
    <ds:schemaRef ds:uri="http://purl.org/dc/dcmitype/"/>
    <ds:schemaRef ds:uri="http://schemas.microsoft.com/office/2006/metadata/properties"/>
    <ds:schemaRef ds:uri="http://schemas.microsoft.com/office/2006/documentManagement/types"/>
    <ds:schemaRef ds:uri="0e6c55cc-3952-47ed-a77c-33f7c1233005"/>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23559</TotalTime>
  <Words>1161</Words>
  <Application>Microsoft Macintosh PowerPoint</Application>
  <PresentationFormat>Widescreen</PresentationFormat>
  <Paragraphs>148</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Cambria Math</vt:lpstr>
      <vt:lpstr>CMR10</vt:lpstr>
      <vt:lpstr>Consolas</vt:lpstr>
      <vt:lpstr>Futura-Medium</vt:lpstr>
      <vt:lpstr>Wingdings</vt:lpstr>
      <vt:lpstr>Office Theme</vt:lpstr>
      <vt:lpstr>  Structural Sizing of an Aircraft Wing Structure</vt:lpstr>
      <vt:lpstr>Introduction: aircraft wing structure</vt:lpstr>
      <vt:lpstr>Introduction: structural sizing</vt:lpstr>
      <vt:lpstr>Introduction: problem description</vt:lpstr>
      <vt:lpstr>Governing Equations and Boundary Conditions</vt:lpstr>
      <vt:lpstr>Loads and Boundary Conditions</vt:lpstr>
      <vt:lpstr>Aerodynamic Analysis in ANSYS Fluent</vt:lpstr>
      <vt:lpstr>Aerodynamic Analyses: AoA Sweep</vt:lpstr>
      <vt:lpstr>Load Case Selection</vt:lpstr>
      <vt:lpstr>Imported 3G Load Case</vt:lpstr>
      <vt:lpstr>Finite Element Mesh: Grid Convergence Study (1/2)</vt:lpstr>
      <vt:lpstr>Finite Element Mesh: Grid Convergence Study (2/2)</vt:lpstr>
      <vt:lpstr>Phase 1: Rib Layout Selection (1/2)</vt:lpstr>
      <vt:lpstr>Phase 1: Rib Layout Selection (2/2)</vt:lpstr>
      <vt:lpstr>Phase 2: Structural Sizing Optimization (1/4)</vt:lpstr>
      <vt:lpstr>Phase 2: Structural Sizing Optimization (2/4)</vt:lpstr>
      <vt:lpstr>Phase 2: Structural Sizing Optimization (3/4)</vt:lpstr>
      <vt:lpstr>Phase 2: Structural Sizing Optimization (4/4)</vt:lpstr>
      <vt:lpstr>Phase 3: Aero-structural Coupling (Two-Way FSI) (1/3)</vt:lpstr>
      <vt:lpstr>Phase 3: Aero-structural Coupling (Two-Way FSI) (2/3)</vt:lpstr>
      <vt:lpstr>Phase 3: Aero-structural Coupling (Two-Way FSI) (3/3)</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Project Title</dc:title>
  <dc:creator>molong duan</dc:creator>
  <cp:lastModifiedBy>HARIANSYAH Muhammad Alfiyandy</cp:lastModifiedBy>
  <cp:revision>474</cp:revision>
  <dcterms:created xsi:type="dcterms:W3CDTF">2020-03-25T16:06:52Z</dcterms:created>
  <dcterms:modified xsi:type="dcterms:W3CDTF">2025-12-09T14:03:06Z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_ExtendedDescription">
    <vt:lpwstr/>
  </property>
  <property fmtid="{D5CDD505-2E9C-101B-9397-08002B2CF9AE}" pid="4" name="TriggerFlowInfo">
    <vt:lpwstr/>
  </property>
  <property fmtid="{D5CDD505-2E9C-101B-9397-08002B2CF9AE}" pid="5" name="MediaServiceImageTags">
    <vt:lpwstr/>
  </property>
  <property fmtid="{D5CDD505-2E9C-101B-9397-08002B2CF9AE}" pid="6" name="ContentTypeId">
    <vt:lpwstr>0x010100011315D752A6E044903E35D19B04B67C</vt:lpwstr>
  </property>
</Properties>
</file>