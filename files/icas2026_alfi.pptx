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840" r:id="rId4"/>
    <p:sldMasterId id="2147484855" r:id="rId5"/>
    <p:sldMasterId id="2147484845" r:id="rId6"/>
  </p:sldMasterIdLst>
  <p:notesMasterIdLst>
    <p:notesMasterId r:id="rId48"/>
  </p:notesMasterIdLst>
  <p:handoutMasterIdLst>
    <p:handoutMasterId r:id="rId49"/>
  </p:handoutMasterIdLst>
  <p:sldIdLst>
    <p:sldId id="406" r:id="rId7"/>
    <p:sldId id="414" r:id="rId8"/>
    <p:sldId id="407" r:id="rId9"/>
    <p:sldId id="434" r:id="rId10"/>
    <p:sldId id="435" r:id="rId11"/>
    <p:sldId id="436" r:id="rId12"/>
    <p:sldId id="437" r:id="rId13"/>
    <p:sldId id="441" r:id="rId14"/>
    <p:sldId id="431" r:id="rId15"/>
    <p:sldId id="438" r:id="rId16"/>
    <p:sldId id="439" r:id="rId17"/>
    <p:sldId id="467" r:id="rId18"/>
    <p:sldId id="446" r:id="rId19"/>
    <p:sldId id="468" r:id="rId20"/>
    <p:sldId id="440" r:id="rId21"/>
    <p:sldId id="448" r:id="rId22"/>
    <p:sldId id="469" r:id="rId23"/>
    <p:sldId id="447" r:id="rId24"/>
    <p:sldId id="430" r:id="rId25"/>
    <p:sldId id="449" r:id="rId26"/>
    <p:sldId id="450" r:id="rId27"/>
    <p:sldId id="432" r:id="rId28"/>
    <p:sldId id="451" r:id="rId29"/>
    <p:sldId id="453" r:id="rId30"/>
    <p:sldId id="455" r:id="rId31"/>
    <p:sldId id="433" r:id="rId32"/>
    <p:sldId id="452" r:id="rId33"/>
    <p:sldId id="456" r:id="rId34"/>
    <p:sldId id="445" r:id="rId35"/>
    <p:sldId id="465" r:id="rId36"/>
    <p:sldId id="442" r:id="rId37"/>
    <p:sldId id="443" r:id="rId38"/>
    <p:sldId id="444" r:id="rId39"/>
    <p:sldId id="457" r:id="rId40"/>
    <p:sldId id="458" r:id="rId41"/>
    <p:sldId id="459" r:id="rId42"/>
    <p:sldId id="461" r:id="rId43"/>
    <p:sldId id="460" r:id="rId44"/>
    <p:sldId id="462" r:id="rId45"/>
    <p:sldId id="463" r:id="rId46"/>
    <p:sldId id="464" r:id="rId47"/>
  </p:sldIdLst>
  <p:sldSz cx="9144000" cy="5143500" type="screen16x9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1pPr>
    <a:lvl2pPr marL="3429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2pPr>
    <a:lvl3pPr marL="6858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3pPr>
    <a:lvl4pPr marL="10287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4pPr>
    <a:lvl5pPr marL="13716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5pPr>
    <a:lvl6pPr marL="17145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6pPr>
    <a:lvl7pPr marL="20574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7pPr>
    <a:lvl8pPr marL="24003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8pPr>
    <a:lvl9pPr marL="27432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98B01"/>
    <a:srgbClr val="92D050"/>
    <a:srgbClr val="0086BE"/>
    <a:srgbClr val="019FDE"/>
    <a:srgbClr val="FF0000"/>
    <a:srgbClr val="1B3D6C"/>
    <a:srgbClr val="C2D9FA"/>
    <a:srgbClr val="0B3A7F"/>
    <a:srgbClr val="1380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13"/>
    <p:restoredTop sz="67027" autoAdjust="0"/>
  </p:normalViewPr>
  <p:slideViewPr>
    <p:cSldViewPr snapToGrid="0">
      <p:cViewPr varScale="1">
        <p:scale>
          <a:sx n="104" d="100"/>
          <a:sy n="104" d="100"/>
        </p:scale>
        <p:origin x="1400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72421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2" tIns="46587" rIns="93172" bIns="4658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5579" y="0"/>
            <a:ext cx="2972421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2" tIns="46587" rIns="93172" bIns="4658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1264"/>
            <a:ext cx="2972421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2" tIns="46587" rIns="93172" bIns="4658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5579" y="8831264"/>
            <a:ext cx="2972421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2" tIns="46587" rIns="93172" bIns="4658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fld id="{9301CC6A-B4E8-405F-AE79-859651258F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230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72421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2" tIns="46587" rIns="93172" bIns="4658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5579" y="0"/>
            <a:ext cx="2972421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2" tIns="46587" rIns="93172" bIns="4658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0200" y="696913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711" y="4416426"/>
            <a:ext cx="5028579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2" tIns="46587" rIns="93172" bIns="465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1264"/>
            <a:ext cx="2972421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2" tIns="46587" rIns="93172" bIns="4658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579" y="8831264"/>
            <a:ext cx="2972421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2" tIns="46587" rIns="93172" bIns="4658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fld id="{B7B05DEF-6DE7-4BF9-8DBB-FF904A788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805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ＭＳ Ｐゴシック" pitchFamily="80" charset="-128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ＭＳ Ｐゴシック" pitchFamily="80" charset="-128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ＭＳ Ｐゴシック" pitchFamily="80" charset="-128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ＭＳ Ｐゴシック" pitchFamily="80" charset="-128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ＭＳ Ｐゴシック" pitchFamily="80" charset="-128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everyone. Thanks for attending this session.</a:t>
            </a:r>
          </a:p>
          <a:p>
            <a:endParaRPr lang="en-US" dirty="0"/>
          </a:p>
          <a:p>
            <a:r>
              <a:rPr lang="en-US" dirty="0"/>
              <a:t>My name is Alfiyandy Hariansyah. I am a PhD student at HKUST.</a:t>
            </a:r>
          </a:p>
          <a:p>
            <a:endParaRPr lang="en-US" dirty="0"/>
          </a:p>
          <a:p>
            <a:r>
              <a:rPr lang="en-US" dirty="0"/>
              <a:t>My focus today is also on eVTOLs but from a different perspective, which is,</a:t>
            </a:r>
          </a:p>
          <a:p>
            <a:endParaRPr lang="en-US" dirty="0"/>
          </a:p>
          <a:p>
            <a:r>
              <a:rPr lang="en-US" dirty="0"/>
              <a:t>Optimal conceptual design and upgrade strategies, specifically under evolving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83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there is massive global hype around eVTOL development.</a:t>
            </a:r>
          </a:p>
          <a:p>
            <a:endParaRPr lang="en-US" dirty="0"/>
          </a:p>
          <a:p>
            <a:r>
              <a:rPr lang="en-US" dirty="0"/>
              <a:t>Rotorcraft have been around for decades,</a:t>
            </a:r>
          </a:p>
          <a:p>
            <a:endParaRPr lang="en-US" dirty="0"/>
          </a:p>
          <a:p>
            <a:r>
              <a:rPr lang="en-US" dirty="0"/>
              <a:t>so why is everybody suddenly talking about it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89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recent push toward Urban Air Mobility is largely enabled by Distributed Electric Propulsion, or DEP.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As you can see in the diagram on the right, DEP distributes multiple smaller electric motors.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Because electric motors maintain consistent power density and efficiency regardless of their size,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 can place them flexibly across the airframe,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which is why people have come up with hundreds, if not thousands, of configurations imaginable.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So, it is the fundamental building block that makes modern all-electric eVTOL aircraft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2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67DD7-70DC-CE8C-F889-6FF2D79F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66A5F-AEBD-90CE-1BD0-35B6638D3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3F475-6D8F-1520-12E6-3632EEB05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However, the technologies that make up DEP are evolving rapidly.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Let us look at battery specific energy as an example. </a:t>
            </a:r>
          </a:p>
          <a:p>
            <a:endParaRPr lang="en-US" dirty="0"/>
          </a:p>
          <a:p>
            <a:r>
              <a:rPr lang="en-US" dirty="0"/>
              <a:t>It tells you how much energy a battery pack can carry in </a:t>
            </a:r>
            <a:r>
              <a:rPr lang="en-US" dirty="0" err="1"/>
              <a:t>Wh</a:t>
            </a:r>
            <a:r>
              <a:rPr lang="en-US" dirty="0"/>
              <a:t>, per kg of its mass.</a:t>
            </a:r>
          </a:p>
          <a:p>
            <a:endParaRPr lang="en-US" dirty="0"/>
          </a:p>
          <a:p>
            <a:r>
              <a:rPr lang="en-US" dirty="0"/>
              <a:t>As you can see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, it is expected to follow an S-curve. </a:t>
            </a:r>
          </a:p>
          <a:p>
            <a:endParaRPr lang="en-US" dirty="0"/>
          </a:p>
          <a:p>
            <a:r>
              <a:rPr lang="en-US" dirty="0"/>
              <a:t>Initially, the progress is slow, but suddenly it undergoes rapid improvement; this is where we are now in 2026.</a:t>
            </a:r>
          </a:p>
          <a:p>
            <a:endParaRPr lang="en-US" dirty="0"/>
          </a:p>
          <a:p>
            <a:r>
              <a:rPr lang="en-US" dirty="0"/>
              <a:t>Later, it will saturate because it’s not going to go up forever, as there are limits in cell chemistry.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CA12C-0F57-828D-6A0E-34E682E3B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79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6749-0736-8594-A6FC-D9FF94E8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0ED39-6D36-56A4-648C-2E4F39D95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AAD3D-F971-BF00-D180-6C506F6A4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same trend is true for other powertrain components.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For electric motors and power converters, we expect their specific power to increase significantly between now and 2050.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Meanwhile, their efficiencies are already quite high and are physically bounded near unity, so they will see only marginal improvements.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 treat these future technology parameters as “known unknowns”.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 know they are uncertain, but they are bounded within projection envelopes, and they are expected to improve over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19EB3-0893-2E4A-1C18-2CD173217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47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984C6-F152-F8DB-16F0-A9450A0F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F9964B-9A35-50C9-8CC1-10883409D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2FF3AD-5895-97F8-E744-3F3A8284E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If we optimize an aircraft for its entry into service year, say 2030, with an objective function to be minimized.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If we fix the design and technology, nothing changes, right? To remain competitive, the aircraft must evolve.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 can either perform a retrofit, where we keep the fixed airframe but swap in new technology, or we can perform a redesign, creating an entirely new aircraft every year.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“fixed design fixed technology“ will quickly become suboptimal as better technologies become available.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These gaps are what we call technological obsolescence.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Technologies evolve, while upgrades occur at discrete intervals. The critical question is: when should these upgrades occur?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dirty="0"/>
              <a:t>It’s just like smartphones. You don't buy a new model every year unless the upgrade offers a meaningful change in performance.</a:t>
            </a: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83685-3D05-CED3-F631-B1F4F6975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29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71BE-E050-370A-D4BB-90BABF91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E9843-1A29-479B-921A-E12C105FD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B1DB5-E6DB-CBB7-B252-45D60E1CF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To address this, our research has three main questions.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First, how do we size and optimize an eVTOL aircraft at the conceptual level?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Second, among all the evolving technologies, which ones actually drive the changes in the optimal design?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And third, based on those technology trends, when should the aircraft evolve through retrofit and redesign?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6E029-26C8-2AA4-E089-35E4AAA11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82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16E3C-32C0-E126-E03C-821AE545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1C1F2-FEE8-9801-D34D-5D10592E8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86E61-CA77-96A2-F45B-864F4CA35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For our baseline, we use the NASA Lift Plus Cruise concept vehicle,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with eight distributed lift rotors and single pusher propeller.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design mission follows a simplified Uber Air profile,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which includes vertical takeoff, cruise and landing.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BA83F-6AC7-C22F-E911-F5A8F4A51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67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answer the first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9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Let’s review a conceptual sizing process.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It is the process that requires solving a coupled weight-and-energy loop.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If you add more weight, you need more lift.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More lift means more drag, which needs more power, more energy, which means a heavier battery and system, and the loop starts again.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To solve this, we use an MDA solver, which iterates through performance and weight estimation modules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until the takeoff weight converges.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62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To optimize the design, we need to wrap an optimizer around that sizing process.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 evaluated three different MDO architectures.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first is Multidisciplinary Feasible, or MDF, which uses a full MDA solver at every optimizer step.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second is Individual Discipline Feasible, or IDF, which removes the inner solver and lets the optimizer handle all the coupling variables simultaneously.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third is a Hybrid MDF--IDF approach, which removes the inner solver but keeps the sequential execution of the disciplines.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65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C1398-8042-6C35-14BB-84A77023D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FA941-F8EB-3BDF-51B2-DFB4F02F9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556DE-39CA-0CD9-2B18-687C27569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When setting up MDO for conceptual design, there are several considerations.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First, we must choose our MDO architecture wisely.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Different architectures perform differently depending on the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5FBAD-C1EC-C5BF-A67E-587277EFC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66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 benchmarked the three MDO architectures across different eVTOL design test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results indicate that the Hybrid MDF--IDF is the most efficient for our case.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It required a mean of only 15 solver calls, compared to 282 for the MDF.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Also, it successfully found the best objective value in 392 of the test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Therefore, we selected the Hybrid architecture for all subsequent studies in this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62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3EE52-5EC8-DCDA-9C3D-037AFC43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6075A-F7B5-D5C5-39A7-ED9465FA0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D7FF9-0D0E-A4A8-5386-B65A83B18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second major consideration is deciding which design objective actually matters.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Depending on our goal, it could be minimizing takeoff weight, energy consumption, mission time, cost,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choice of objective will fundamentally alter the final aircraft design.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1F259-6A1E-4404-A26A-E512E9FC4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42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To understand this impact, we conducted a trade-off study across three different design objectives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minimizing weight, energy, and time.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 swept the mission range from 10 to 220 kilometers across three different battery SE levels.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 observe that minimizing time always prioritizes speed, which leads to severe weight and energy penalties.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On the other hand, the trends for minimizing weight and energy are closely coupled.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01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Weight and energy are coupled, but they are not identical.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Here, we look at the resulting geometries.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WM design tries to lower the structural weight.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It does this by selecting smaller wings and smaller rotors.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Conversely, EM design tries to reduce aerodynamic drag and hover power.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It has a higher-aspect-ratio wing and larger lift rotors.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This reduces the energy required, which in turn shrinks the battery weight, even though the structural weight increases.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So, each objective leads to different geometries and component weight breakdowns.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834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A248F-B233-1BF8-03C1-03F4D83B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8242D-71B1-131D-4497-510CABE12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106B3-F1D3-7329-5CBE-A3F5A21A4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third consideration is that aircraft design always starts with a mission.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So don’t ask which mission is suitable for which configuration, but ask which configuration is suitable for which mission.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and also, we need to be clear about what is fixed and what can be changed.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Whether to fix the range as requirement, or maximize it as design variable, for example.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fourth consideration is that we need to make assumptions about the underlying technologies.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Traditional engineering design often freezes these requirements early,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which can be bad because if the assumptions do not reflect reality, we have to revisit our design, it takes a lot of 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65D4F-8578-8C60-74E1-F80FDAEFF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37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 mapped the feasible design space across mission requirements to see how these technology assumptions play out.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So here, for each mission range and cruise speed requirement, we performed design optimization and obtained an optimal aircraft.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hatched areas represent missions that are infeasible to fly.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As you can see, moving from left to right, higher battery SEs significantly expand the possible mission domain.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This reinforces the fact that battery technology is the primary bottleneck for eVTOL feasibility.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195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Part 3, which technologies actually drive the optimal design?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88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To do this, we performed a global sensitivity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First, we defined our technology vector and its projection envelope. We considered the battery, motor, and converter parameters.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Second, we sampled thousands of possible technology states within those envelopes for each future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You know, it’s like one of the Avengers movie scenes, where Dr. Strange trying to look into the future.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Third, we optimized the aircraft for every single sampled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Finally, we used Sobol indices to measure how much of the variance in the optimal design was caused by each technology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936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Sobol indices reveal that Battery SE is the dominant driver.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It controls the weight and energy feedback loop 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However, we also observe that motor and converter specific powers become increasingly influential in the later years,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particularly regarding propulsion weight and propeller sizing.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In contrast, motor and converter efficiencies have almost zero influence on the design variance,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because their projection envelopes are very narrow and already near their physical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2103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Next, we address our final question: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When should the aircraft be upgraded to keep pace with technologies?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49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First, we established a utopian benchmark, which represents a scenario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where an aircraft is continuously redesigned every single year to perfectly match the latest technology.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Continuous retrofit represents a fixed design, but with new technology every year.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If we integrate objective f over time for utopian, we will get this area under the curve, right?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Same is true for retrofit. When we compare them, and subtract the former, the area difference represents technological obsolescence.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future-aware penalty metric is defined as the normalization of the area difference between an upgrade strategy with utopian benchmark.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lower the value, the better. If it is utopian, then this metric equals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200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Next, we formulated an integer optimization problem to minimize this penalty metric.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 assume the aircraft enters service in 2030 and ends production in 2070.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 want to find the exact three intermediate years to perform major upgrades,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Minimizing the penalty metric Psi.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 solved this using a genetic algorithm,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under a clean-sheet redesign and component-swap retrofit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993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red curve here represents a uniform 10-year upgrade plan,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While the blue curve represents the resulting optimal upgrade schedules.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 results show that the optimal upgrade schedules are non-uniform.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Instead of upgrading every 10 years, the optimizer clusters the upgrades closer together during the early years, with intervals of 5 to 8 years.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It then spaces them further apart in the later years, with intervals of 11 to 16 years.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This makes sense because the strategy aligns with the technology S-curve. It capitalizes on the rapid technological improvements early on,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and waits longer when the technology begins to saturate.</a:t>
            </a:r>
          </a:p>
          <a:p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By using this non-uniform schedule, we reduce the penalty metric by roughly 22 percent for redesigns, and 1.2 percent for retrofits.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583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will now conclude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161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First, the Hybrid MDF--IDF was selected because it provides the best balance of computational efficiency, robustness, and optimality for eVTOL sizing.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</a:b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Second, the optimal conceptual design is highly sensitive to the chosen design objective, the mission requirements, and the assumed technology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</a:b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Third, battery SE is the dominant technology driver governing the optimal design, though powertrain SPs become increasingly influential in later decades.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</a:b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Finally, optimal upgrade schedules are non-uniform and should be concentrated during periods of rapid technology advancement.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396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For our future work, we plan to shift our focus to future-aware design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Currently, we optimize the aircraft for its EIS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However, what if we intentionally design an aircraft that may perform poor initially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 want to explore formulations where we intentionally design an aircraft that might perform slightly poorly at first (perhaps being undersized),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but becomes better as technology improves.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This can be achieved by directly minimizing the metric Psi to get the fixed design </a:t>
            </a:r>
            <a:r>
              <a:rPr lang="en-US" sz="900" b="1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x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Theoretically, this approach could yield a lower total penalty metric Psi.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We are preparing a journal paper on this. So, please stay tuned.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149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Thank you very much for your attention,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Arial" charset="0"/>
              <a:ea typeface="ＭＳ Ｐゴシック" pitchFamily="80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charset="0"/>
                <a:ea typeface="ＭＳ Ｐゴシック" pitchFamily="80" charset="-128"/>
                <a:cs typeface="+mn-cs"/>
              </a:rPr>
              <a:t>I’m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B05DEF-6DE7-4BF9-8DBB-FF904A788E5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39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de-DE" dirty="0"/>
              <a:t>SLIDE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ACD100-AA70-4635-9391-08174F38D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4857750"/>
            <a:ext cx="3382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8B100-9989-F34E-92F9-CB4946CF0D63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830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de-DE" dirty="0"/>
              <a:t>SLIDE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457200" y="802418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dirty="0"/>
              <a:t>Subtitle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282240"/>
            <a:ext cx="4040188" cy="331238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02418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dirty="0"/>
              <a:t>Subtitle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6" y="1282240"/>
            <a:ext cx="4041775" cy="331238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5798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de-DE" dirty="0"/>
              <a:t>SLIDE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908384"/>
            <a:ext cx="4038600" cy="368623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908384"/>
            <a:ext cx="4038600" cy="368623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232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de-DE" dirty="0"/>
              <a:t>SLIDE TITLE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ACD100-AA70-4635-9391-08174F38D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4857750"/>
            <a:ext cx="3382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8B100-9989-F34E-92F9-CB4946CF0D63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294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ACD100-AA70-4635-9391-08174F38D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4857750"/>
            <a:ext cx="3382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8B100-9989-F34E-92F9-CB4946CF0D63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0044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de-DE" dirty="0"/>
              <a:t>SLIDE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ACD100-AA70-4635-9391-08174F38D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4857750"/>
            <a:ext cx="3382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8B100-9989-F34E-92F9-CB4946CF0D63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6029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de-DE" dirty="0"/>
              <a:t>SLIDE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457200" y="802418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dirty="0"/>
              <a:t>Subtitle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282240"/>
            <a:ext cx="4040188" cy="331238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02418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dirty="0"/>
              <a:t>Subtitle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6" y="1282240"/>
            <a:ext cx="4041775" cy="331238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0284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de-DE" dirty="0"/>
              <a:t>SLIDE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908384"/>
            <a:ext cx="4038600" cy="368623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908384"/>
            <a:ext cx="4038600" cy="368623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255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de-DE" dirty="0"/>
              <a:t>SLIDE TITLE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ACD100-AA70-4635-9391-08174F38D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4857750"/>
            <a:ext cx="3382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8B100-9989-F34E-92F9-CB4946CF0D63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490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 hasCustomPrompt="1"/>
          </p:nvPr>
        </p:nvSpPr>
        <p:spPr>
          <a:xfrm>
            <a:off x="685800" y="1215189"/>
            <a:ext cx="7785100" cy="1099386"/>
          </a:xfrm>
          <a:prstGeom prst="rect">
            <a:avLst/>
          </a:prstGeom>
        </p:spPr>
        <p:txBody>
          <a:bodyPr vert="horz" lIns="0" rIns="0" bIns="0" anchor="b" anchorCtr="0"/>
          <a:lstStyle>
            <a:lvl1pPr marL="0" algn="l" defTabSz="342900" rtl="0" eaLnBrk="1" latinLnBrk="0" hangingPunct="1">
              <a:spcBef>
                <a:spcPct val="0"/>
              </a:spcBef>
              <a:buNone/>
              <a:defRPr lang="de-DE" sz="2400" b="0" i="0" kern="1200" dirty="0">
                <a:solidFill>
                  <a:srgbClr val="08A3E8"/>
                </a:solidFill>
                <a:latin typeface="Open Sans"/>
                <a:ea typeface="Malgun Gothic Semilight" panose="020B0502040204020203" pitchFamily="34" charset="-128"/>
                <a:cs typeface="Malgun Gothic Semilight" panose="020B0502040204020203" pitchFamily="34" charset="-128"/>
              </a:defRPr>
            </a:lvl1pPr>
          </a:lstStyle>
          <a:p>
            <a:r>
              <a:rPr lang="de-DE" dirty="0"/>
              <a:t>PAPER TITLE </a:t>
            </a:r>
            <a:br>
              <a:rPr lang="de-DE" dirty="0"/>
            </a:br>
            <a:r>
              <a:rPr lang="de-DE" dirty="0"/>
              <a:t>ICAS PAPER No.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514599"/>
            <a:ext cx="7785100" cy="1245269"/>
          </a:xfrm>
          <a:prstGeom prst="rect">
            <a:avLst/>
          </a:prstGeom>
        </p:spPr>
        <p:txBody>
          <a:bodyPr vert="horz" lIns="0" rIns="0" bIns="0"/>
          <a:lstStyle>
            <a:lvl1pPr marL="0" indent="0" algn="l" defTabSz="342900" rtl="0" eaLnBrk="1" latinLnBrk="0" hangingPunct="1">
              <a:spcBef>
                <a:spcPct val="20000"/>
              </a:spcBef>
              <a:buFont typeface="Arial"/>
              <a:buNone/>
              <a:defRPr lang="de-DE" sz="1500" b="0" i="0" kern="1200" dirty="0" smtClean="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1pPr>
            <a:lvl2pPr marL="0" indent="0" algn="l" defTabSz="342900" rtl="0" eaLnBrk="1" latinLnBrk="0" hangingPunct="1">
              <a:spcBef>
                <a:spcPct val="20000"/>
              </a:spcBef>
              <a:buFont typeface="Arial"/>
              <a:buNone/>
              <a:defRPr lang="de-DE" sz="1500" b="0" i="0" kern="1200" dirty="0" smtClean="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0" indent="0" algn="l" defTabSz="342900" rtl="0" eaLnBrk="1" latinLnBrk="0" hangingPunct="1">
              <a:spcBef>
                <a:spcPct val="20000"/>
              </a:spcBef>
              <a:buFont typeface="Arial"/>
              <a:buNone/>
              <a:defRPr lang="de-DE" sz="1500" b="0" i="0" kern="1200" dirty="0" smtClean="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0" indent="0" algn="l" defTabSz="342900" rtl="0" eaLnBrk="1" latinLnBrk="0" hangingPunct="1">
              <a:spcBef>
                <a:spcPct val="20000"/>
              </a:spcBef>
              <a:buFont typeface="Arial"/>
              <a:buNone/>
              <a:defRPr lang="de-DE" sz="1500" b="0" i="0" kern="1200" dirty="0" smtClean="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0" indent="0" algn="l" defTabSz="342900" rtl="0" eaLnBrk="1" latinLnBrk="0" hangingPunct="1">
              <a:spcBef>
                <a:spcPct val="20000"/>
              </a:spcBef>
              <a:buFont typeface="Arial"/>
              <a:buNone/>
              <a:defRPr lang="de-DE" sz="1500" b="0" i="0" kern="1200" dirty="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</a:lstStyle>
          <a:p>
            <a:pPr lvl="0"/>
            <a:r>
              <a:rPr lang="de-DE" dirty="0"/>
              <a:t>Authors</a:t>
            </a:r>
          </a:p>
          <a:p>
            <a:pPr lvl="0"/>
            <a:r>
              <a:rPr lang="de-DE" dirty="0"/>
              <a:t>Company/Organization</a:t>
            </a:r>
          </a:p>
        </p:txBody>
      </p:sp>
    </p:spTree>
    <p:extLst>
      <p:ext uri="{BB962C8B-B14F-4D97-AF65-F5344CB8AC3E}">
        <p14:creationId xmlns:p14="http://schemas.microsoft.com/office/powerpoint/2010/main" val="2788493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 hasCustomPrompt="1"/>
          </p:nvPr>
        </p:nvSpPr>
        <p:spPr>
          <a:xfrm>
            <a:off x="685800" y="2725152"/>
            <a:ext cx="7785100" cy="1099386"/>
          </a:xfrm>
          <a:prstGeom prst="rect">
            <a:avLst/>
          </a:prstGeom>
        </p:spPr>
        <p:txBody>
          <a:bodyPr vert="horz" lIns="0" rIns="0" bIns="0" anchor="b" anchorCtr="0"/>
          <a:lstStyle>
            <a:lvl1pPr marL="0" algn="l" defTabSz="342900" rtl="0" eaLnBrk="1" latinLnBrk="0" hangingPunct="1">
              <a:spcBef>
                <a:spcPct val="0"/>
              </a:spcBef>
              <a:buNone/>
              <a:defRPr lang="de-DE" sz="2400" b="0" i="0" kern="1200" dirty="0">
                <a:solidFill>
                  <a:srgbClr val="08A3E8"/>
                </a:solidFill>
                <a:latin typeface="Open Sans"/>
                <a:ea typeface="Malgun Gothic Semilight" panose="020B0502040204020203" pitchFamily="34" charset="-128"/>
                <a:cs typeface="Malgun Gothic Semilight" panose="020B0502040204020203" pitchFamily="34" charset="-128"/>
              </a:defRPr>
            </a:lvl1pPr>
          </a:lstStyle>
          <a:p>
            <a:r>
              <a:rPr lang="de-DE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7891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 Verbindung 7"/>
          <p:cNvCxnSpPr>
            <a:cxnSpLocks/>
          </p:cNvCxnSpPr>
          <p:nvPr/>
        </p:nvCxnSpPr>
        <p:spPr>
          <a:xfrm>
            <a:off x="0" y="580893"/>
            <a:ext cx="9144000" cy="0"/>
          </a:xfrm>
          <a:prstGeom prst="line">
            <a:avLst/>
          </a:prstGeom>
          <a:ln w="6350">
            <a:solidFill>
              <a:srgbClr val="008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10913"/>
            <a:ext cx="8229600" cy="534392"/>
          </a:xfrm>
          <a:prstGeom prst="rect">
            <a:avLst/>
          </a:prstGeom>
        </p:spPr>
        <p:txBody>
          <a:bodyPr vert="horz" lIns="0" tIns="45720" rIns="0" bIns="0" rtlCol="0" anchor="b" anchorCtr="0">
            <a:normAutofit/>
          </a:bodyPr>
          <a:lstStyle/>
          <a:p>
            <a:r>
              <a:rPr lang="de-DE" dirty="0"/>
              <a:t>SLIDE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908386"/>
            <a:ext cx="8229600" cy="3686237"/>
          </a:xfrm>
          <a:prstGeom prst="rect">
            <a:avLst/>
          </a:prstGeom>
        </p:spPr>
        <p:txBody>
          <a:bodyPr vert="horz" lIns="0" tIns="45720" rIns="9144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86800" y="4857750"/>
            <a:ext cx="3382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8B100-9989-F34E-92F9-CB4946CF0D63}" type="slidenum">
              <a:rPr lang="de-DE" smtClean="0"/>
              <a:t>‹#›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20E44FF-16D2-1856-E4D0-152D3C7B722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75436"/>
            <a:ext cx="2340321" cy="46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0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41" r:id="rId1"/>
    <p:sldLayoutId id="2147484843" r:id="rId2"/>
    <p:sldLayoutId id="2147484842" r:id="rId3"/>
    <p:sldLayoutId id="2147484852" r:id="rId4"/>
    <p:sldLayoutId id="2147484853" r:id="rId5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lang="de-DE" sz="2400" b="0" i="0" kern="1200" dirty="0">
          <a:solidFill>
            <a:srgbClr val="08A3E8"/>
          </a:solidFill>
          <a:latin typeface="Open Sans"/>
          <a:ea typeface="Malgun Gothic Semilight" panose="020B0502040204020203" pitchFamily="34" charset="-128"/>
          <a:cs typeface="Malgun Gothic Semilight" panose="020B0502040204020203" pitchFamily="34" charset="-128"/>
        </a:defRPr>
      </a:lvl1pPr>
    </p:titleStyle>
    <p:bodyStyle>
      <a:lvl1pPr marL="257175" indent="-257175" algn="l" defTabSz="342900" rtl="0" eaLnBrk="1" latinLnBrk="0" hangingPunct="1">
        <a:lnSpc>
          <a:spcPct val="150000"/>
        </a:lnSpc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557213" indent="-214313" algn="l" defTabSz="342900" rtl="0" eaLnBrk="1" latinLnBrk="0" hangingPunct="1">
        <a:lnSpc>
          <a:spcPct val="150000"/>
        </a:lnSpc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857250" indent="-171450" algn="l" defTabSz="342900" rtl="0" eaLnBrk="1" latinLnBrk="0" hangingPunct="1">
        <a:lnSpc>
          <a:spcPct val="150000"/>
        </a:lnSpc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200150" indent="-171450" algn="l" defTabSz="342900" rtl="0" eaLnBrk="1" latinLnBrk="0" hangingPunct="1">
        <a:lnSpc>
          <a:spcPct val="150000"/>
        </a:lnSpc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1543050" indent="-171450" algn="l" defTabSz="342900" rtl="0" eaLnBrk="1" latinLnBrk="0" hangingPunct="1">
        <a:lnSpc>
          <a:spcPct val="150000"/>
        </a:lnSpc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 Verbindung 7"/>
          <p:cNvCxnSpPr>
            <a:cxnSpLocks/>
          </p:cNvCxnSpPr>
          <p:nvPr/>
        </p:nvCxnSpPr>
        <p:spPr>
          <a:xfrm>
            <a:off x="0" y="580893"/>
            <a:ext cx="9144000" cy="0"/>
          </a:xfrm>
          <a:prstGeom prst="line">
            <a:avLst/>
          </a:prstGeom>
          <a:ln w="6350">
            <a:solidFill>
              <a:srgbClr val="0086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10913"/>
            <a:ext cx="8229600" cy="534392"/>
          </a:xfrm>
          <a:prstGeom prst="rect">
            <a:avLst/>
          </a:prstGeom>
        </p:spPr>
        <p:txBody>
          <a:bodyPr vert="horz" lIns="0" tIns="45720" rIns="0" bIns="0" rtlCol="0" anchor="b" anchorCtr="0">
            <a:normAutofit/>
          </a:bodyPr>
          <a:lstStyle/>
          <a:p>
            <a:r>
              <a:rPr lang="de-DE" dirty="0"/>
              <a:t>SLIDE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908386"/>
            <a:ext cx="8229600" cy="3686237"/>
          </a:xfrm>
          <a:prstGeom prst="rect">
            <a:avLst/>
          </a:prstGeom>
        </p:spPr>
        <p:txBody>
          <a:bodyPr vert="horz" lIns="0" tIns="45720" rIns="9144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86800" y="4857750"/>
            <a:ext cx="3382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8B100-9989-F34E-92F9-CB4946CF0D63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139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6" r:id="rId1"/>
    <p:sldLayoutId id="2147484857" r:id="rId2"/>
    <p:sldLayoutId id="2147484858" r:id="rId3"/>
    <p:sldLayoutId id="2147484859" r:id="rId4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lang="de-DE" sz="2400" b="0" i="0" kern="1200" dirty="0">
          <a:solidFill>
            <a:srgbClr val="08A3E8"/>
          </a:solidFill>
          <a:latin typeface="Open Sans"/>
          <a:ea typeface="Malgun Gothic Semilight" panose="020B0502040204020203" pitchFamily="34" charset="-128"/>
          <a:cs typeface="Malgun Gothic Semilight" panose="020B0502040204020203" pitchFamily="34" charset="-128"/>
        </a:defRPr>
      </a:lvl1pPr>
    </p:titleStyle>
    <p:bodyStyle>
      <a:lvl1pPr marL="257175" indent="-257175" algn="l" defTabSz="342900" rtl="0" eaLnBrk="1" latinLnBrk="0" hangingPunct="1">
        <a:lnSpc>
          <a:spcPct val="150000"/>
        </a:lnSpc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557213" indent="-214313" algn="l" defTabSz="342900" rtl="0" eaLnBrk="1" latinLnBrk="0" hangingPunct="1">
        <a:lnSpc>
          <a:spcPct val="150000"/>
        </a:lnSpc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857250" indent="-171450" algn="l" defTabSz="342900" rtl="0" eaLnBrk="1" latinLnBrk="0" hangingPunct="1">
        <a:lnSpc>
          <a:spcPct val="150000"/>
        </a:lnSpc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200150" indent="-171450" algn="l" defTabSz="342900" rtl="0" eaLnBrk="1" latinLnBrk="0" hangingPunct="1">
        <a:lnSpc>
          <a:spcPct val="150000"/>
        </a:lnSpc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1543050" indent="-171450" algn="l" defTabSz="342900" rtl="0" eaLnBrk="1" latinLnBrk="0" hangingPunct="1">
        <a:lnSpc>
          <a:spcPct val="150000"/>
        </a:lnSpc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6">
            <a:extLst>
              <a:ext uri="{FF2B5EF4-FFF2-40B4-BE49-F238E27FC236}">
                <a16:creationId xmlns:a16="http://schemas.microsoft.com/office/drawing/2014/main" id="{3FC1F24A-E6E0-4405-91D4-08C18328979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1579022" y="38284"/>
            <a:ext cx="5985955" cy="5159536"/>
          </a:xfrm>
          <a:prstGeom prst="rect">
            <a:avLst/>
          </a:prstGeom>
          <a:noFill/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3EC852B5-35FF-19C8-EFBD-04567A14CD7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525" y="4568606"/>
            <a:ext cx="2874475" cy="57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330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46" r:id="rId1"/>
    <p:sldLayoutId id="2147484854" r:id="rId2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6.emf"/><Relationship Id="rId7" Type="http://schemas.openxmlformats.org/officeDocument/2006/relationships/slide" Target="slide3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emf"/><Relationship Id="rId11" Type="http://schemas.openxmlformats.org/officeDocument/2006/relationships/image" Target="../media/image18.emf"/><Relationship Id="rId5" Type="http://schemas.openxmlformats.org/officeDocument/2006/relationships/image" Target="../media/image16.emf"/><Relationship Id="rId10" Type="http://schemas.openxmlformats.org/officeDocument/2006/relationships/slide" Target="slide33.xml"/><Relationship Id="rId4" Type="http://schemas.openxmlformats.org/officeDocument/2006/relationships/slide" Target="slide31.xml"/><Relationship Id="rId9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8.emf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1" Type="http://schemas.openxmlformats.org/officeDocument/2006/relationships/hyperlink" Target="https://screenrant.com/infinity-war-doctor-strange-futures-how-many-why/" TargetMode="External"/><Relationship Id="rId5" Type="http://schemas.openxmlformats.org/officeDocument/2006/relationships/image" Target="../media/image13.emf"/><Relationship Id="rId10" Type="http://schemas.openxmlformats.org/officeDocument/2006/relationships/image" Target="../media/image24.png"/><Relationship Id="rId4" Type="http://schemas.openxmlformats.org/officeDocument/2006/relationships/image" Target="../media/image23.jpg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7.emf"/><Relationship Id="rId7" Type="http://schemas.openxmlformats.org/officeDocument/2006/relationships/image" Target="../media/image30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29.emf"/><Relationship Id="rId10" Type="http://schemas.openxmlformats.org/officeDocument/2006/relationships/image" Target="../media/image42.png"/><Relationship Id="rId4" Type="http://schemas.openxmlformats.org/officeDocument/2006/relationships/image" Target="../media/image28.emf"/><Relationship Id="rId9" Type="http://schemas.openxmlformats.org/officeDocument/2006/relationships/image" Target="../media/image31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DD74-02E3-494C-990B-F208903A1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450" y="1117254"/>
            <a:ext cx="7785100" cy="1454496"/>
          </a:xfrm>
        </p:spPr>
        <p:txBody>
          <a:bodyPr/>
          <a:lstStyle/>
          <a:p>
            <a:r>
              <a:rPr lang="en-US" dirty="0"/>
              <a:t>Optimal Conceptual Design and Upgrade Strategies</a:t>
            </a:r>
            <a:br>
              <a:rPr lang="en-US" dirty="0"/>
            </a:br>
            <a:r>
              <a:rPr lang="en-US" dirty="0"/>
              <a:t>for eVTOL Aircraft Under Evolving Technologies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ICAS PAPER 2026_0631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76742-F736-4563-A0B7-8323F46C0B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9450" y="3139527"/>
            <a:ext cx="7785100" cy="2003973"/>
          </a:xfrm>
        </p:spPr>
        <p:txBody>
          <a:bodyPr/>
          <a:lstStyle/>
          <a:p>
            <a:pPr lvl="0"/>
            <a:r>
              <a:rPr lang="de-DE" b="1" dirty="0"/>
              <a:t>M. A. Hariansyah</a:t>
            </a:r>
            <a:r>
              <a:rPr lang="de-DE" b="1" baseline="30000" dirty="0"/>
              <a:t>1</a:t>
            </a:r>
            <a:r>
              <a:rPr lang="de-DE" dirty="0"/>
              <a:t>, C. Reyner</a:t>
            </a:r>
            <a:r>
              <a:rPr lang="de-DE" baseline="30000" dirty="0"/>
              <a:t>1</a:t>
            </a:r>
            <a:r>
              <a:rPr lang="de-DE" dirty="0"/>
              <a:t>, R. P. Liem</a:t>
            </a:r>
            <a:r>
              <a:rPr lang="de-DE" baseline="30000" dirty="0"/>
              <a:t>2</a:t>
            </a:r>
            <a:r>
              <a:rPr lang="de-DE" dirty="0"/>
              <a:t>, P. S. Palar</a:t>
            </a:r>
            <a:r>
              <a:rPr lang="de-DE" baseline="30000" dirty="0"/>
              <a:t>3</a:t>
            </a:r>
          </a:p>
          <a:p>
            <a:pPr lvl="0"/>
            <a:endParaRPr lang="de-DE" dirty="0"/>
          </a:p>
          <a:p>
            <a:pPr marL="342900" lvl="0" indent="-342900">
              <a:buAutoNum type="arabicPeriod"/>
            </a:pPr>
            <a:r>
              <a:rPr lang="de-DE" sz="1200" dirty="0"/>
              <a:t>The Hong Kong University of Science and Technology, HKSAR</a:t>
            </a:r>
          </a:p>
          <a:p>
            <a:pPr marL="342900" lvl="0" indent="-342900">
              <a:buAutoNum type="arabicPeriod"/>
            </a:pPr>
            <a:r>
              <a:rPr lang="de-DE" sz="1200" dirty="0"/>
              <a:t>Imperial College London, United Kingdom</a:t>
            </a:r>
          </a:p>
          <a:p>
            <a:pPr marL="342900" lvl="0" indent="-342900">
              <a:buAutoNum type="arabicPeriod"/>
            </a:pPr>
            <a:r>
              <a:rPr lang="de-DE" sz="1200" dirty="0"/>
              <a:t>Institut </a:t>
            </a:r>
            <a:r>
              <a:rPr lang="de-DE" sz="1200" dirty="0" err="1"/>
              <a:t>Teknologi</a:t>
            </a:r>
            <a:r>
              <a:rPr lang="de-DE" sz="1200" dirty="0"/>
              <a:t> Bandung, Indonesia</a:t>
            </a:r>
          </a:p>
          <a:p>
            <a:pPr lvl="0"/>
            <a:endParaRPr lang="de-DE" dirty="0"/>
          </a:p>
          <a:p>
            <a:pPr lvl="0"/>
            <a:r>
              <a:rPr lang="de-DE" b="1" dirty="0" err="1">
                <a:solidFill>
                  <a:schemeClr val="tx1"/>
                </a:solidFill>
              </a:rPr>
              <a:t>Presenter</a:t>
            </a:r>
            <a:r>
              <a:rPr lang="de-DE" b="1" dirty="0">
                <a:solidFill>
                  <a:schemeClr val="tx1"/>
                </a:solidFill>
              </a:rPr>
              <a:t>: </a:t>
            </a:r>
            <a:r>
              <a:rPr lang="de-DE" dirty="0">
                <a:solidFill>
                  <a:schemeClr val="tx1"/>
                </a:solidFill>
              </a:rPr>
              <a:t>M. A. Hariansyah (Alfi)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8883E-6F4B-7C59-4CE1-73A96D912E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22" r="10373" b="10760"/>
          <a:stretch>
            <a:fillRect/>
          </a:stretch>
        </p:blipFill>
        <p:spPr>
          <a:xfrm>
            <a:off x="7968617" y="121373"/>
            <a:ext cx="991866" cy="995881"/>
          </a:xfrm>
          <a:prstGeom prst="ellipse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C82146-97A9-1EAD-0C32-6E06D8630C0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" t="10548" r="2479" b="9730"/>
          <a:stretch>
            <a:fillRect/>
          </a:stretch>
        </p:blipFill>
        <p:spPr>
          <a:xfrm>
            <a:off x="5893805" y="2372008"/>
            <a:ext cx="2697493" cy="181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47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CAEC2C-B175-B8C3-51D3-3DC65AE4F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u="sng" dirty="0"/>
              <a:t>Part I</a:t>
            </a:r>
            <a:br>
              <a:rPr lang="en-US" dirty="0"/>
            </a:br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406939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5600-C19C-4ACA-B870-536F2898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Electric Propulsion (DEP) as an enabler for eVTOL aircraft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AFC830-5748-D744-B960-6FD6EBF1D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356" y="1066981"/>
            <a:ext cx="3595234" cy="2351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6E34F2-2D67-FFFC-14A7-D36A83455B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82" y="1102673"/>
            <a:ext cx="4063957" cy="227962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D5D0370-64C6-727A-4939-AA056E403A7C}"/>
              </a:ext>
            </a:extLst>
          </p:cNvPr>
          <p:cNvSpPr txBox="1">
            <a:spLocks/>
          </p:cNvSpPr>
          <p:nvPr/>
        </p:nvSpPr>
        <p:spPr>
          <a:xfrm>
            <a:off x="1169379" y="3602172"/>
            <a:ext cx="2448962" cy="733902"/>
          </a:xfrm>
          <a:prstGeom prst="rect">
            <a:avLst/>
          </a:prstGeom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/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NASA’s vision of a mature UAM city ecosystem [1].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8E351-B396-E8DE-3A1E-E94D9C17C63E}"/>
              </a:ext>
            </a:extLst>
          </p:cNvPr>
          <p:cNvSpPr txBox="1"/>
          <p:nvPr/>
        </p:nvSpPr>
        <p:spPr>
          <a:xfrm>
            <a:off x="0" y="4743390"/>
            <a:ext cx="4952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000" dirty="0"/>
              <a:t>Irene MG, </a:t>
            </a:r>
            <a:r>
              <a:rPr lang="en-US" sz="1000" i="1" dirty="0"/>
              <a:t>IEEE CSS Forum On Robotic and Control Engineering Seminar</a:t>
            </a:r>
            <a:r>
              <a:rPr lang="en-US" sz="1000" dirty="0"/>
              <a:t>, 2021.</a:t>
            </a:r>
          </a:p>
          <a:p>
            <a:pPr marL="228600" indent="-228600">
              <a:buAutoNum type="arabicPeriod"/>
            </a:pPr>
            <a:r>
              <a:rPr lang="en-US" sz="1000" dirty="0"/>
              <a:t>Kim HD et al., </a:t>
            </a:r>
            <a:r>
              <a:rPr lang="en-US" sz="1000" i="1" dirty="0"/>
              <a:t>AIAA/IEEE Electric Aircraft Technologies Symposium</a:t>
            </a:r>
            <a:r>
              <a:rPr lang="en-US" sz="1000" dirty="0"/>
              <a:t>, 2018.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7232E3-11C6-FAAB-D59D-10A9534E042F}"/>
              </a:ext>
            </a:extLst>
          </p:cNvPr>
          <p:cNvSpPr txBox="1"/>
          <p:nvPr/>
        </p:nvSpPr>
        <p:spPr>
          <a:xfrm>
            <a:off x="4448571" y="3615436"/>
            <a:ext cx="4576526" cy="707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DEP distributes multiple smaller electric motors across the airframe [2]. Figure: all-electric propulsion.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DE16D7-ACD6-BAAE-9C0D-22FA38C4D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5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A86F2-4913-00A0-E7B2-D955AEBB1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5A196-325E-B1A6-0B92-FED3A9A96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are evolving (1/2)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EA14247-2721-DED7-9D63-FE48389192B0}"/>
              </a:ext>
            </a:extLst>
          </p:cNvPr>
          <p:cNvSpPr txBox="1">
            <a:spLocks/>
          </p:cNvSpPr>
          <p:nvPr/>
        </p:nvSpPr>
        <p:spPr>
          <a:xfrm>
            <a:off x="1975137" y="4118124"/>
            <a:ext cx="5602612" cy="433164"/>
          </a:xfrm>
          <a:prstGeom prst="rect">
            <a:avLst/>
          </a:prstGeom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/>
              <a:buNone/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battery specific energy (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Wh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/kg) projection model [3].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FDB2A8-CD51-7FFE-A21C-A92B14931313}"/>
              </a:ext>
            </a:extLst>
          </p:cNvPr>
          <p:cNvSpPr txBox="1"/>
          <p:nvPr/>
        </p:nvSpPr>
        <p:spPr>
          <a:xfrm>
            <a:off x="0" y="4857750"/>
            <a:ext cx="51838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3"/>
            </a:pPr>
            <a:r>
              <a:rPr lang="en-US" sz="1000" dirty="0"/>
              <a:t>Tiede B et al., </a:t>
            </a:r>
            <a:r>
              <a:rPr lang="en-US" sz="1000" i="1" dirty="0"/>
              <a:t>IEEE Transportation Electrification Conference &amp; Expo (ITEC), </a:t>
            </a:r>
            <a:r>
              <a:rPr lang="en-US" sz="1000" dirty="0"/>
              <a:t>2022.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71F2C3-7C53-3E13-3C2D-4248F5603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529" y="733525"/>
            <a:ext cx="6306941" cy="3412961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B0DEA4A-C02B-BD21-94BA-0508B359F494}"/>
              </a:ext>
            </a:extLst>
          </p:cNvPr>
          <p:cNvGrpSpPr/>
          <p:nvPr/>
        </p:nvGrpSpPr>
        <p:grpSpPr>
          <a:xfrm>
            <a:off x="281865" y="3123446"/>
            <a:ext cx="3203719" cy="842672"/>
            <a:chOff x="281865" y="3123446"/>
            <a:chExt cx="3203719" cy="8426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C63B835-5DBB-AF46-F0F2-172BB7FBBB88}"/>
                </a:ext>
              </a:extLst>
            </p:cNvPr>
            <p:cNvSpPr/>
            <p:nvPr/>
          </p:nvSpPr>
          <p:spPr>
            <a:xfrm>
              <a:off x="2281473" y="3123446"/>
              <a:ext cx="1204111" cy="561314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9A31AAD-F566-D466-67CC-4965AC8823FF}"/>
                </a:ext>
              </a:extLst>
            </p:cNvPr>
            <p:cNvCxnSpPr/>
            <p:nvPr/>
          </p:nvCxnSpPr>
          <p:spPr>
            <a:xfrm flipH="1">
              <a:off x="1418529" y="3404103"/>
              <a:ext cx="862944" cy="20823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80A56D12-584B-2B06-8E28-665FEB72FF26}"/>
                </a:ext>
              </a:extLst>
            </p:cNvPr>
            <p:cNvSpPr txBox="1">
              <a:spLocks/>
            </p:cNvSpPr>
            <p:nvPr/>
          </p:nvSpPr>
          <p:spPr>
            <a:xfrm>
              <a:off x="281865" y="3532954"/>
              <a:ext cx="1693272" cy="433164"/>
            </a:xfrm>
            <a:prstGeom prst="rect">
              <a:avLst/>
            </a:prstGeom>
            <a:ln>
              <a:noFill/>
            </a:ln>
          </p:spPr>
          <p:txBody>
            <a:bodyPr vert="horz" lIns="0" tIns="45720" rIns="91440" bIns="0" rtlCol="0">
              <a:noAutofit/>
            </a:bodyPr>
            <a:lstStyle>
              <a:lvl1pPr marL="257175" indent="-257175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1pPr>
              <a:lvl2pPr marL="557213" indent="-214313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–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2pPr>
              <a:lvl3pPr marL="8572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•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3pPr>
              <a:lvl4pPr marL="12001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–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4pPr>
              <a:lvl5pPr marL="15430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»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5pPr>
              <a:lvl6pPr marL="18859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spcAft>
                  <a:spcPts val="0"/>
                </a:spcAft>
                <a:buFont typeface="Arial"/>
                <a:buNone/>
              </a:pPr>
              <a:r>
                <a:rPr lang="en-US" sz="1400" dirty="0">
                  <a:solidFill>
                    <a:srgbClr val="C00000"/>
                  </a:solidFill>
                </a:rPr>
                <a:t>initial progress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52263B-FD55-6A9E-BEB0-1BA28A45D4A3}"/>
              </a:ext>
            </a:extLst>
          </p:cNvPr>
          <p:cNvGrpSpPr/>
          <p:nvPr/>
        </p:nvGrpSpPr>
        <p:grpSpPr>
          <a:xfrm>
            <a:off x="2530878" y="1585658"/>
            <a:ext cx="3074648" cy="1899925"/>
            <a:chOff x="2530878" y="1585658"/>
            <a:chExt cx="3074648" cy="189992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A9447C4-8BDD-95F4-AB34-6FBBC6E222C8}"/>
                </a:ext>
              </a:extLst>
            </p:cNvPr>
            <p:cNvSpPr/>
            <p:nvPr/>
          </p:nvSpPr>
          <p:spPr>
            <a:xfrm>
              <a:off x="3618287" y="2118510"/>
              <a:ext cx="1987239" cy="13670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17B5B54-9069-82C3-51B1-4F52D00CDF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7514" y="1920285"/>
              <a:ext cx="240773" cy="20118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DB43B04B-6D48-FA22-B43D-AE6F257C59DE}"/>
                </a:ext>
              </a:extLst>
            </p:cNvPr>
            <p:cNvSpPr txBox="1">
              <a:spLocks/>
            </p:cNvSpPr>
            <p:nvPr/>
          </p:nvSpPr>
          <p:spPr>
            <a:xfrm>
              <a:off x="2530878" y="1585658"/>
              <a:ext cx="1693272" cy="433164"/>
            </a:xfrm>
            <a:prstGeom prst="rect">
              <a:avLst/>
            </a:prstGeom>
            <a:ln>
              <a:noFill/>
            </a:ln>
          </p:spPr>
          <p:txBody>
            <a:bodyPr vert="horz" lIns="0" tIns="45720" rIns="91440" bIns="0" rtlCol="0">
              <a:noAutofit/>
            </a:bodyPr>
            <a:lstStyle>
              <a:lvl1pPr marL="257175" indent="-257175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1pPr>
              <a:lvl2pPr marL="557213" indent="-214313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–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2pPr>
              <a:lvl3pPr marL="8572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•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3pPr>
              <a:lvl4pPr marL="12001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–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4pPr>
              <a:lvl5pPr marL="15430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»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5pPr>
              <a:lvl6pPr marL="18859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spcAft>
                  <a:spcPts val="0"/>
                </a:spcAft>
                <a:buFont typeface="Arial"/>
                <a:buNone/>
              </a:pPr>
              <a:r>
                <a:rPr lang="en-US" sz="1400" dirty="0">
                  <a:solidFill>
                    <a:srgbClr val="C00000"/>
                  </a:solidFill>
                </a:rPr>
                <a:t>rapid improvement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5368FF1-7492-91B7-CD3C-103B4DCB14DD}"/>
              </a:ext>
            </a:extLst>
          </p:cNvPr>
          <p:cNvGrpSpPr/>
          <p:nvPr/>
        </p:nvGrpSpPr>
        <p:grpSpPr>
          <a:xfrm>
            <a:off x="5778138" y="1324958"/>
            <a:ext cx="3492883" cy="1707953"/>
            <a:chOff x="5778138" y="1324958"/>
            <a:chExt cx="3492883" cy="170795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7947F1-4A23-636D-0CEC-27219A017E22}"/>
                </a:ext>
              </a:extLst>
            </p:cNvPr>
            <p:cNvSpPr/>
            <p:nvPr/>
          </p:nvSpPr>
          <p:spPr>
            <a:xfrm>
              <a:off x="5778138" y="1555686"/>
              <a:ext cx="1799611" cy="14772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6671AC5-B8D7-F005-4DBA-054585B9DC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7749" y="1738184"/>
              <a:ext cx="187628" cy="17914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5FD4AB25-6F87-F467-E68A-0B678B6306FC}"/>
                </a:ext>
              </a:extLst>
            </p:cNvPr>
            <p:cNvSpPr txBox="1">
              <a:spLocks/>
            </p:cNvSpPr>
            <p:nvPr/>
          </p:nvSpPr>
          <p:spPr>
            <a:xfrm>
              <a:off x="7577749" y="1324958"/>
              <a:ext cx="1693272" cy="793552"/>
            </a:xfrm>
            <a:prstGeom prst="rect">
              <a:avLst/>
            </a:prstGeom>
            <a:ln>
              <a:noFill/>
            </a:ln>
          </p:spPr>
          <p:txBody>
            <a:bodyPr vert="horz" lIns="0" tIns="45720" rIns="91440" bIns="0" rtlCol="0">
              <a:noAutofit/>
            </a:bodyPr>
            <a:lstStyle>
              <a:lvl1pPr marL="257175" indent="-257175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1pPr>
              <a:lvl2pPr marL="557213" indent="-214313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–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2pPr>
              <a:lvl3pPr marL="8572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•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3pPr>
              <a:lvl4pPr marL="12001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–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4pPr>
              <a:lvl5pPr marL="15430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»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5pPr>
              <a:lvl6pPr marL="18859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C00000"/>
                  </a:solidFill>
                </a:rPr>
                <a:t>plateauing as it reaches limits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54C1EB-BA61-A3DA-311A-D45267716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765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1638A-C39A-CBA7-2F44-4D8E6EFC9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59D7-EE32-6BBE-C044-66F37098D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are evolving (2/2)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DCB20E-3782-FE86-9ED0-013A8D67D70B}"/>
              </a:ext>
            </a:extLst>
          </p:cNvPr>
          <p:cNvSpPr txBox="1">
            <a:spLocks/>
          </p:cNvSpPr>
          <p:nvPr/>
        </p:nvSpPr>
        <p:spPr>
          <a:xfrm>
            <a:off x="1127069" y="3584836"/>
            <a:ext cx="7193065" cy="80697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sz="1400" dirty="0">
                <a:solidFill>
                  <a:srgbClr val="C00000"/>
                </a:solidFill>
              </a:rPr>
              <a:t>Other technology building blocks of DEP are also improving and </a:t>
            </a:r>
            <a:r>
              <a:rPr lang="en-US" sz="1400" i="1" dirty="0">
                <a:solidFill>
                  <a:srgbClr val="C00000"/>
                </a:solidFill>
              </a:rPr>
              <a:t>can be </a:t>
            </a:r>
            <a:r>
              <a:rPr lang="en-US" sz="1400" dirty="0">
                <a:solidFill>
                  <a:srgbClr val="C00000"/>
                </a:solidFill>
              </a:rPr>
              <a:t>projected.</a:t>
            </a:r>
          </a:p>
          <a:p>
            <a:pPr marL="0" indent="0" algn="ctr" fontAlgn="auto">
              <a:spcAft>
                <a:spcPts val="0"/>
              </a:spcAft>
              <a:buNone/>
            </a:pPr>
            <a:r>
              <a:rPr lang="en-US" sz="1200" dirty="0">
                <a:solidFill>
                  <a:srgbClr val="C00000"/>
                </a:solidFill>
              </a:rPr>
              <a:t>These types of parameters are </a:t>
            </a:r>
            <a:r>
              <a:rPr lang="en-US" sz="1200" b="1" i="1" dirty="0">
                <a:solidFill>
                  <a:srgbClr val="C00000"/>
                </a:solidFill>
              </a:rPr>
              <a:t>known unknown</a:t>
            </a:r>
            <a:r>
              <a:rPr lang="en-US" sz="1200" dirty="0">
                <a:solidFill>
                  <a:srgbClr val="C00000"/>
                </a:solidFill>
              </a:rPr>
              <a:t>: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uncertain, yet bounded, and expected to improve [6].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CD9B8A-5130-7E45-CF47-8FF0CF5D539D}"/>
              </a:ext>
            </a:extLst>
          </p:cNvPr>
          <p:cNvGrpSpPr/>
          <p:nvPr/>
        </p:nvGrpSpPr>
        <p:grpSpPr>
          <a:xfrm>
            <a:off x="127556" y="872095"/>
            <a:ext cx="4401921" cy="2526956"/>
            <a:chOff x="127556" y="872095"/>
            <a:chExt cx="4401921" cy="25269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8D8704B-B0E3-9889-7A1C-D904D008B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56" y="872095"/>
              <a:ext cx="2158439" cy="162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41458B0-7CC3-F87C-18B2-FA87183F8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1038" y="872095"/>
              <a:ext cx="2158439" cy="1620000"/>
            </a:xfrm>
            <a:prstGeom prst="rect">
              <a:avLst/>
            </a:prstGeom>
          </p:spPr>
        </p:pic>
        <p:sp>
          <p:nvSpPr>
            <p:cNvPr id="28" name="Content Placeholder 2">
              <a:extLst>
                <a:ext uri="{FF2B5EF4-FFF2-40B4-BE49-F238E27FC236}">
                  <a16:creationId xmlns:a16="http://schemas.microsoft.com/office/drawing/2014/main" id="{F1212A11-FA92-C0B4-89F2-089C587BCC85}"/>
                </a:ext>
              </a:extLst>
            </p:cNvPr>
            <p:cNvSpPr txBox="1">
              <a:spLocks/>
            </p:cNvSpPr>
            <p:nvPr/>
          </p:nvSpPr>
          <p:spPr>
            <a:xfrm>
              <a:off x="532423" y="2592078"/>
              <a:ext cx="3507144" cy="806973"/>
            </a:xfrm>
            <a:prstGeom prst="rect">
              <a:avLst/>
            </a:prstGeom>
          </p:spPr>
          <p:txBody>
            <a:bodyPr vert="horz" lIns="0" tIns="45720" rIns="91440" bIns="0" rtlCol="0">
              <a:noAutofit/>
            </a:bodyPr>
            <a:lstStyle>
              <a:lvl1pPr marL="257175" indent="-257175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1pPr>
              <a:lvl2pPr marL="557213" indent="-214313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–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2pPr>
              <a:lvl3pPr marL="8572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•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3pPr>
              <a:lvl4pPr marL="12001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–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4pPr>
              <a:lvl5pPr marL="15430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»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5pPr>
              <a:lvl6pPr marL="18859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spcAft>
                  <a:spcPts val="0"/>
                </a:spcAft>
                <a:buFont typeface="Arial"/>
                <a:buNone/>
              </a:pPr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Electric motor:</a:t>
              </a:r>
            </a:p>
            <a:p>
              <a:pPr marL="0" indent="0" algn="ctr" fontAlgn="auto">
                <a:spcAft>
                  <a:spcPts val="0"/>
                </a:spcAft>
                <a:buFont typeface="Arial"/>
                <a:buNone/>
              </a:pP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specific power (kW/kg) and efficiency [4].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DDDEC28-3F1F-8189-43EB-89B45CE312CE}"/>
              </a:ext>
            </a:extLst>
          </p:cNvPr>
          <p:cNvGrpSpPr/>
          <p:nvPr/>
        </p:nvGrpSpPr>
        <p:grpSpPr>
          <a:xfrm>
            <a:off x="4614522" y="872095"/>
            <a:ext cx="4401921" cy="2526956"/>
            <a:chOff x="4614522" y="872095"/>
            <a:chExt cx="4401921" cy="252695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5B2BA24-F1D1-073B-2AD5-8F17008E0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14522" y="872095"/>
              <a:ext cx="2158439" cy="16200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26226FD-9332-9F85-A42C-9EAD82F0D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58004" y="872095"/>
              <a:ext cx="2158439" cy="1620000"/>
            </a:xfrm>
            <a:prstGeom prst="rect">
              <a:avLst/>
            </a:prstGeom>
          </p:spPr>
        </p:pic>
        <p:sp>
          <p:nvSpPr>
            <p:cNvPr id="29" name="Content Placeholder 2">
              <a:extLst>
                <a:ext uri="{FF2B5EF4-FFF2-40B4-BE49-F238E27FC236}">
                  <a16:creationId xmlns:a16="http://schemas.microsoft.com/office/drawing/2014/main" id="{B5A7B739-5DCB-841C-A71C-B3E9DF360F09}"/>
                </a:ext>
              </a:extLst>
            </p:cNvPr>
            <p:cNvSpPr txBox="1">
              <a:spLocks/>
            </p:cNvSpPr>
            <p:nvPr/>
          </p:nvSpPr>
          <p:spPr>
            <a:xfrm>
              <a:off x="5104435" y="2592078"/>
              <a:ext cx="3507144" cy="806973"/>
            </a:xfrm>
            <a:prstGeom prst="rect">
              <a:avLst/>
            </a:prstGeom>
          </p:spPr>
          <p:txBody>
            <a:bodyPr vert="horz" lIns="0" tIns="45720" rIns="91440" bIns="0" rtlCol="0">
              <a:noAutofit/>
            </a:bodyPr>
            <a:lstStyle>
              <a:lvl1pPr marL="257175" indent="-257175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1pPr>
              <a:lvl2pPr marL="557213" indent="-214313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–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2pPr>
              <a:lvl3pPr marL="8572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•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3pPr>
              <a:lvl4pPr marL="12001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–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4pPr>
              <a:lvl5pPr marL="15430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»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5pPr>
              <a:lvl6pPr marL="18859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spcAft>
                  <a:spcPts val="0"/>
                </a:spcAft>
                <a:buFont typeface="Arial"/>
                <a:buNone/>
              </a:pPr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Power converter:</a:t>
              </a:r>
            </a:p>
            <a:p>
              <a:pPr marL="0" indent="0" algn="ctr" fontAlgn="auto">
                <a:spcAft>
                  <a:spcPts val="0"/>
                </a:spcAft>
                <a:buFont typeface="Arial"/>
                <a:buNone/>
              </a:pP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specific power (kW/kg) and efficiency [5].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877F61D-771A-13FB-717F-024FC9476787}"/>
              </a:ext>
            </a:extLst>
          </p:cNvPr>
          <p:cNvSpPr txBox="1"/>
          <p:nvPr/>
        </p:nvSpPr>
        <p:spPr>
          <a:xfrm>
            <a:off x="0" y="4577596"/>
            <a:ext cx="54979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4"/>
            </a:pPr>
            <a:r>
              <a:rPr lang="en-US" sz="1000" dirty="0" err="1"/>
              <a:t>Pastra</a:t>
            </a:r>
            <a:r>
              <a:rPr lang="en-US" sz="1000" dirty="0"/>
              <a:t> CL et al., </a:t>
            </a:r>
            <a:r>
              <a:rPr lang="en-US" sz="1000" i="1" dirty="0"/>
              <a:t>IEEE Transportation Electrification Conference &amp; Expo (ITEC), </a:t>
            </a:r>
            <a:r>
              <a:rPr lang="en-US" sz="1000" dirty="0"/>
              <a:t>2022.</a:t>
            </a:r>
          </a:p>
          <a:p>
            <a:pPr marL="228600" indent="-228600">
              <a:buFont typeface="+mj-lt"/>
              <a:buAutoNum type="arabicPeriod" startAt="4"/>
            </a:pPr>
            <a:r>
              <a:rPr lang="en-US" sz="1000" dirty="0"/>
              <a:t>Hall C et al., </a:t>
            </a:r>
            <a:r>
              <a:rPr lang="en-US" sz="1000" i="1" dirty="0"/>
              <a:t>IEEE Transportation Electrification Conference &amp; Expo (ITEC)</a:t>
            </a:r>
            <a:r>
              <a:rPr lang="en-US" sz="1000" dirty="0"/>
              <a:t>, 2022.</a:t>
            </a:r>
          </a:p>
          <a:p>
            <a:pPr marL="228600" indent="-228600">
              <a:buFont typeface="+mj-lt"/>
              <a:buAutoNum type="arabicPeriod" startAt="4"/>
            </a:pPr>
            <a:r>
              <a:rPr lang="en-US" sz="1000" dirty="0"/>
              <a:t>Mc Manus H and Hastings D, </a:t>
            </a:r>
            <a:r>
              <a:rPr lang="en-US" sz="1000" i="1" dirty="0"/>
              <a:t>INCOSE International Symposium, </a:t>
            </a:r>
            <a:r>
              <a:rPr lang="en-US" sz="1000" dirty="0"/>
              <a:t>Vol. 15, No. 1, 2005.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1890E4-E2E5-156B-05B1-9583C4A055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766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9F2C8-5A6A-523B-026B-3C55C781B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E7528-FD1C-DAD0-A82E-8576AB46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aircraft optimal at EIS will not remain optimal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097DCDF-F908-F951-6A43-98BD75BE913B}"/>
              </a:ext>
            </a:extLst>
          </p:cNvPr>
          <p:cNvGrpSpPr/>
          <p:nvPr/>
        </p:nvGrpSpPr>
        <p:grpSpPr>
          <a:xfrm>
            <a:off x="1128779" y="3241697"/>
            <a:ext cx="6886439" cy="534392"/>
            <a:chOff x="1128779" y="3241697"/>
            <a:chExt cx="6886439" cy="534392"/>
          </a:xfrm>
        </p:grpSpPr>
        <p:sp>
          <p:nvSpPr>
            <p:cNvPr id="5" name="Notched Right Arrow 4">
              <a:extLst>
                <a:ext uri="{FF2B5EF4-FFF2-40B4-BE49-F238E27FC236}">
                  <a16:creationId xmlns:a16="http://schemas.microsoft.com/office/drawing/2014/main" id="{FE7A5852-555C-867D-FC72-9A89BA2DA989}"/>
                </a:ext>
              </a:extLst>
            </p:cNvPr>
            <p:cNvSpPr/>
            <p:nvPr/>
          </p:nvSpPr>
          <p:spPr>
            <a:xfrm>
              <a:off x="1128779" y="3282805"/>
              <a:ext cx="1748414" cy="45217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Notched Right Arrow 8">
              <a:extLst>
                <a:ext uri="{FF2B5EF4-FFF2-40B4-BE49-F238E27FC236}">
                  <a16:creationId xmlns:a16="http://schemas.microsoft.com/office/drawing/2014/main" id="{40821FF7-01EB-DE60-6075-45991589467B}"/>
                </a:ext>
              </a:extLst>
            </p:cNvPr>
            <p:cNvSpPr/>
            <p:nvPr/>
          </p:nvSpPr>
          <p:spPr>
            <a:xfrm>
              <a:off x="3697791" y="3282805"/>
              <a:ext cx="1748414" cy="45217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08C40B4-BD61-AC7E-B97A-BE0060A7F5D6}"/>
                </a:ext>
              </a:extLst>
            </p:cNvPr>
            <p:cNvSpPr>
              <a:spLocks/>
            </p:cNvSpPr>
            <p:nvPr/>
          </p:nvSpPr>
          <p:spPr>
            <a:xfrm>
              <a:off x="4074604" y="3241697"/>
              <a:ext cx="994788" cy="534392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20XX</a:t>
              </a:r>
            </a:p>
          </p:txBody>
        </p:sp>
        <p:sp>
          <p:nvSpPr>
            <p:cNvPr id="15" name="Notched Right Arrow 14">
              <a:extLst>
                <a:ext uri="{FF2B5EF4-FFF2-40B4-BE49-F238E27FC236}">
                  <a16:creationId xmlns:a16="http://schemas.microsoft.com/office/drawing/2014/main" id="{DE397762-EC83-58B9-8B94-2FD673BBCB59}"/>
                </a:ext>
              </a:extLst>
            </p:cNvPr>
            <p:cNvSpPr/>
            <p:nvPr/>
          </p:nvSpPr>
          <p:spPr>
            <a:xfrm>
              <a:off x="6266804" y="3284520"/>
              <a:ext cx="1748414" cy="452176"/>
            </a:xfrm>
            <a:prstGeom prst="notch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E003FD5-5842-1C10-72AE-0BB6C570CBE6}"/>
                </a:ext>
              </a:extLst>
            </p:cNvPr>
            <p:cNvCxnSpPr/>
            <p:nvPr/>
          </p:nvCxnSpPr>
          <p:spPr>
            <a:xfrm>
              <a:off x="3027918" y="3483772"/>
              <a:ext cx="442127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C9E67F-5E10-E7B9-41C0-FD5789A9D202}"/>
                </a:ext>
              </a:extLst>
            </p:cNvPr>
            <p:cNvCxnSpPr/>
            <p:nvPr/>
          </p:nvCxnSpPr>
          <p:spPr>
            <a:xfrm>
              <a:off x="5591922" y="3483772"/>
              <a:ext cx="442127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A2C4228-A205-3E34-750F-2CB76C05003F}"/>
              </a:ext>
            </a:extLst>
          </p:cNvPr>
          <p:cNvCxnSpPr>
            <a:cxnSpLocks/>
          </p:cNvCxnSpPr>
          <p:nvPr/>
        </p:nvCxnSpPr>
        <p:spPr>
          <a:xfrm>
            <a:off x="3180610" y="2571750"/>
            <a:ext cx="278277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D991AE-2756-C12C-BDED-C672185D0B88}"/>
              </a:ext>
            </a:extLst>
          </p:cNvPr>
          <p:cNvCxnSpPr>
            <a:cxnSpLocks/>
          </p:cNvCxnSpPr>
          <p:nvPr/>
        </p:nvCxnSpPr>
        <p:spPr>
          <a:xfrm flipV="1">
            <a:off x="3180610" y="943635"/>
            <a:ext cx="0" cy="162811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B473BF4-1CF9-79EF-EF32-CF17AE309ADD}"/>
              </a:ext>
            </a:extLst>
          </p:cNvPr>
          <p:cNvCxnSpPr/>
          <p:nvPr/>
        </p:nvCxnSpPr>
        <p:spPr>
          <a:xfrm>
            <a:off x="3585172" y="1330859"/>
            <a:ext cx="169299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>
            <a:extLst>
              <a:ext uri="{FF2B5EF4-FFF2-40B4-BE49-F238E27FC236}">
                <a16:creationId xmlns:a16="http://schemas.microsoft.com/office/drawing/2014/main" id="{B31BFF29-DA6A-3D82-30C7-D8F6FBE10307}"/>
              </a:ext>
            </a:extLst>
          </p:cNvPr>
          <p:cNvSpPr/>
          <p:nvPr/>
        </p:nvSpPr>
        <p:spPr>
          <a:xfrm>
            <a:off x="3576119" y="1330859"/>
            <a:ext cx="1692991" cy="470918"/>
          </a:xfrm>
          <a:custGeom>
            <a:avLst/>
            <a:gdLst>
              <a:gd name="csX0" fmla="*/ 0 w 1720158"/>
              <a:gd name="csY0" fmla="*/ 0 h 479834"/>
              <a:gd name="csX1" fmla="*/ 90534 w 1720158"/>
              <a:gd name="csY1" fmla="*/ 153909 h 479834"/>
              <a:gd name="csX2" fmla="*/ 280657 w 1720158"/>
              <a:gd name="csY2" fmla="*/ 280658 h 479834"/>
              <a:gd name="csX3" fmla="*/ 525101 w 1720158"/>
              <a:gd name="csY3" fmla="*/ 353086 h 479834"/>
              <a:gd name="csX4" fmla="*/ 769544 w 1720158"/>
              <a:gd name="csY4" fmla="*/ 398353 h 479834"/>
              <a:gd name="csX5" fmla="*/ 977774 w 1720158"/>
              <a:gd name="csY5" fmla="*/ 425513 h 479834"/>
              <a:gd name="csX6" fmla="*/ 1258431 w 1720158"/>
              <a:gd name="csY6" fmla="*/ 452674 h 479834"/>
              <a:gd name="csX7" fmla="*/ 1493822 w 1720158"/>
              <a:gd name="csY7" fmla="*/ 470781 h 479834"/>
              <a:gd name="csX8" fmla="*/ 1720158 w 1720158"/>
              <a:gd name="csY8" fmla="*/ 479834 h 4798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20158" h="479834">
                <a:moveTo>
                  <a:pt x="0" y="0"/>
                </a:moveTo>
                <a:cubicBezTo>
                  <a:pt x="21879" y="53566"/>
                  <a:pt x="43758" y="107133"/>
                  <a:pt x="90534" y="153909"/>
                </a:cubicBezTo>
                <a:cubicBezTo>
                  <a:pt x="137310" y="200685"/>
                  <a:pt x="208229" y="247462"/>
                  <a:pt x="280657" y="280658"/>
                </a:cubicBezTo>
                <a:cubicBezTo>
                  <a:pt x="353085" y="313854"/>
                  <a:pt x="443620" y="333470"/>
                  <a:pt x="525101" y="353086"/>
                </a:cubicBezTo>
                <a:cubicBezTo>
                  <a:pt x="606582" y="372702"/>
                  <a:pt x="694099" y="386282"/>
                  <a:pt x="769544" y="398353"/>
                </a:cubicBezTo>
                <a:cubicBezTo>
                  <a:pt x="844989" y="410424"/>
                  <a:pt x="896293" y="416460"/>
                  <a:pt x="977774" y="425513"/>
                </a:cubicBezTo>
                <a:cubicBezTo>
                  <a:pt x="1059255" y="434567"/>
                  <a:pt x="1172423" y="445129"/>
                  <a:pt x="1258431" y="452674"/>
                </a:cubicBezTo>
                <a:cubicBezTo>
                  <a:pt x="1344439" y="460219"/>
                  <a:pt x="1416868" y="466254"/>
                  <a:pt x="1493822" y="470781"/>
                </a:cubicBezTo>
                <a:cubicBezTo>
                  <a:pt x="1570776" y="475308"/>
                  <a:pt x="1645467" y="477571"/>
                  <a:pt x="1720158" y="479834"/>
                </a:cubicBezTo>
              </a:path>
            </a:pathLst>
          </a:custGeom>
          <a:noFill/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B418723B-9196-B560-7D03-B1410D6CF0A6}"/>
              </a:ext>
            </a:extLst>
          </p:cNvPr>
          <p:cNvSpPr/>
          <p:nvPr/>
        </p:nvSpPr>
        <p:spPr>
          <a:xfrm>
            <a:off x="3576119" y="1321806"/>
            <a:ext cx="1692991" cy="988883"/>
          </a:xfrm>
          <a:custGeom>
            <a:avLst/>
            <a:gdLst>
              <a:gd name="csX0" fmla="*/ 0 w 1684554"/>
              <a:gd name="csY0" fmla="*/ 0 h 799951"/>
              <a:gd name="csX1" fmla="*/ 36214 w 1684554"/>
              <a:gd name="csY1" fmla="*/ 208230 h 799951"/>
              <a:gd name="csX2" fmla="*/ 126748 w 1684554"/>
              <a:gd name="csY2" fmla="*/ 334978 h 799951"/>
              <a:gd name="csX3" fmla="*/ 235390 w 1684554"/>
              <a:gd name="csY3" fmla="*/ 434566 h 799951"/>
              <a:gd name="csX4" fmla="*/ 371192 w 1684554"/>
              <a:gd name="csY4" fmla="*/ 516047 h 799951"/>
              <a:gd name="csX5" fmla="*/ 633742 w 1684554"/>
              <a:gd name="csY5" fmla="*/ 615636 h 799951"/>
              <a:gd name="csX6" fmla="*/ 950614 w 1684554"/>
              <a:gd name="csY6" fmla="*/ 697117 h 799951"/>
              <a:gd name="csX7" fmla="*/ 1566249 w 1684554"/>
              <a:gd name="csY7" fmla="*/ 787651 h 799951"/>
              <a:gd name="csX8" fmla="*/ 1683944 w 1684554"/>
              <a:gd name="csY8" fmla="*/ 796705 h 7999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84554" h="799951">
                <a:moveTo>
                  <a:pt x="0" y="0"/>
                </a:moveTo>
                <a:cubicBezTo>
                  <a:pt x="7544" y="76200"/>
                  <a:pt x="15089" y="152401"/>
                  <a:pt x="36214" y="208230"/>
                </a:cubicBezTo>
                <a:cubicBezTo>
                  <a:pt x="57339" y="264059"/>
                  <a:pt x="93552" y="297255"/>
                  <a:pt x="126748" y="334978"/>
                </a:cubicBezTo>
                <a:cubicBezTo>
                  <a:pt x="159944" y="372701"/>
                  <a:pt x="194649" y="404388"/>
                  <a:pt x="235390" y="434566"/>
                </a:cubicBezTo>
                <a:cubicBezTo>
                  <a:pt x="276131" y="464744"/>
                  <a:pt x="304800" y="485869"/>
                  <a:pt x="371192" y="516047"/>
                </a:cubicBezTo>
                <a:cubicBezTo>
                  <a:pt x="437584" y="546225"/>
                  <a:pt x="537172" y="585458"/>
                  <a:pt x="633742" y="615636"/>
                </a:cubicBezTo>
                <a:cubicBezTo>
                  <a:pt x="730312" y="645814"/>
                  <a:pt x="795196" y="668448"/>
                  <a:pt x="950614" y="697117"/>
                </a:cubicBezTo>
                <a:cubicBezTo>
                  <a:pt x="1106032" y="725786"/>
                  <a:pt x="1444027" y="771053"/>
                  <a:pt x="1566249" y="787651"/>
                </a:cubicBezTo>
                <a:cubicBezTo>
                  <a:pt x="1688471" y="804249"/>
                  <a:pt x="1686207" y="800477"/>
                  <a:pt x="1683944" y="796705"/>
                </a:cubicBezTo>
              </a:path>
            </a:pathLst>
          </a:cu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349D3D7-CC7D-E498-AF16-7DDA683AE39C}"/>
              </a:ext>
            </a:extLst>
          </p:cNvPr>
          <p:cNvSpPr txBox="1">
            <a:spLocks/>
          </p:cNvSpPr>
          <p:nvPr/>
        </p:nvSpPr>
        <p:spPr>
          <a:xfrm>
            <a:off x="2218877" y="1356654"/>
            <a:ext cx="994788" cy="815140"/>
          </a:xfrm>
          <a:prstGeom prst="rect">
            <a:avLst/>
          </a:prstGeom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Objective</a:t>
            </a:r>
          </a:p>
          <a:p>
            <a:pPr marL="0" indent="0" algn="ctr" fontAlgn="auto"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function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10B644E0-1A26-9E65-4DB1-C6B995F9F2C2}"/>
              </a:ext>
            </a:extLst>
          </p:cNvPr>
          <p:cNvSpPr txBox="1">
            <a:spLocks/>
          </p:cNvSpPr>
          <p:nvPr/>
        </p:nvSpPr>
        <p:spPr>
          <a:xfrm>
            <a:off x="4010953" y="2564517"/>
            <a:ext cx="949523" cy="420359"/>
          </a:xfrm>
          <a:prstGeom prst="rect">
            <a:avLst/>
          </a:prstGeom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Year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F14E1DB-A0CD-42B6-F006-0004BD1DB839}"/>
              </a:ext>
            </a:extLst>
          </p:cNvPr>
          <p:cNvCxnSpPr>
            <a:cxnSpLocks/>
          </p:cNvCxnSpPr>
          <p:nvPr/>
        </p:nvCxnSpPr>
        <p:spPr>
          <a:xfrm>
            <a:off x="3576119" y="1321806"/>
            <a:ext cx="9053" cy="1263292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7DAA3542-BBF5-A776-7A45-68351DE858C0}"/>
              </a:ext>
            </a:extLst>
          </p:cNvPr>
          <p:cNvSpPr/>
          <p:nvPr/>
        </p:nvSpPr>
        <p:spPr>
          <a:xfrm>
            <a:off x="3513249" y="1267484"/>
            <a:ext cx="125739" cy="126748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9D33EA-C3D5-DE3E-B72B-77ABFF9AA4C0}"/>
              </a:ext>
            </a:extLst>
          </p:cNvPr>
          <p:cNvSpPr txBox="1"/>
          <p:nvPr/>
        </p:nvSpPr>
        <p:spPr>
          <a:xfrm>
            <a:off x="957847" y="3817197"/>
            <a:ext cx="2090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Helvetica" pitchFamily="2" charset="0"/>
              </a:rPr>
              <a:t>EIS</a:t>
            </a:r>
            <a:r>
              <a:rPr lang="en-US" sz="1400" dirty="0">
                <a:solidFill>
                  <a:schemeClr val="accent6"/>
                </a:solidFill>
                <a:latin typeface="Helvetica" pitchFamily="2" charset="0"/>
              </a:rPr>
              <a:t>: entry-into-service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6725F3-86AA-C264-7486-B6C967A3507A}"/>
              </a:ext>
            </a:extLst>
          </p:cNvPr>
          <p:cNvSpPr txBox="1"/>
          <p:nvPr/>
        </p:nvSpPr>
        <p:spPr>
          <a:xfrm>
            <a:off x="6095878" y="3897170"/>
            <a:ext cx="2090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Helvetica" pitchFamily="2" charset="0"/>
              </a:rPr>
              <a:t>EOP: </a:t>
            </a:r>
            <a:r>
              <a:rPr lang="en-US" sz="1400" dirty="0">
                <a:solidFill>
                  <a:schemeClr val="accent6"/>
                </a:solidFill>
                <a:latin typeface="Helvetica" pitchFamily="2" charset="0"/>
              </a:rPr>
              <a:t>end-of-production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03ED73A-E461-F7F7-546E-0EF6C755F6C8}"/>
              </a:ext>
            </a:extLst>
          </p:cNvPr>
          <p:cNvCxnSpPr>
            <a:cxnSpLocks/>
          </p:cNvCxnSpPr>
          <p:nvPr/>
        </p:nvCxnSpPr>
        <p:spPr>
          <a:xfrm>
            <a:off x="5269117" y="1338093"/>
            <a:ext cx="9053" cy="1263292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1617CE1-9F42-B3B2-637F-494C9A10FF09}"/>
              </a:ext>
            </a:extLst>
          </p:cNvPr>
          <p:cNvSpPr txBox="1"/>
          <p:nvPr/>
        </p:nvSpPr>
        <p:spPr>
          <a:xfrm>
            <a:off x="3263166" y="2601385"/>
            <a:ext cx="625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2030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A4744B-3E06-658B-3D5B-6B0E290CC39B}"/>
              </a:ext>
            </a:extLst>
          </p:cNvPr>
          <p:cNvSpPr txBox="1"/>
          <p:nvPr/>
        </p:nvSpPr>
        <p:spPr>
          <a:xfrm>
            <a:off x="5074524" y="2608618"/>
            <a:ext cx="625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2070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182D3F06-9DF4-2B13-DE29-DBB5138BAC13}"/>
              </a:ext>
            </a:extLst>
          </p:cNvPr>
          <p:cNvSpPr txBox="1">
            <a:spLocks/>
          </p:cNvSpPr>
          <p:nvPr/>
        </p:nvSpPr>
        <p:spPr>
          <a:xfrm>
            <a:off x="5446205" y="1125144"/>
            <a:ext cx="2711255" cy="433164"/>
          </a:xfrm>
          <a:prstGeom prst="rect">
            <a:avLst/>
          </a:prstGeom>
          <a:ln>
            <a:noFill/>
          </a:ln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/>
              <a:buNone/>
            </a:pPr>
            <a:r>
              <a:rPr lang="en-US" sz="1400" i="1" dirty="0">
                <a:solidFill>
                  <a:srgbClr val="FF0000"/>
                </a:solidFill>
              </a:rPr>
              <a:t>fixed</a:t>
            </a:r>
            <a:r>
              <a:rPr lang="en-US" sz="1400" dirty="0">
                <a:solidFill>
                  <a:srgbClr val="FF0000"/>
                </a:solidFill>
              </a:rPr>
              <a:t> design, </a:t>
            </a:r>
            <a:r>
              <a:rPr lang="en-US" sz="1400" i="1" dirty="0">
                <a:solidFill>
                  <a:srgbClr val="FF0000"/>
                </a:solidFill>
              </a:rPr>
              <a:t>fixed</a:t>
            </a:r>
            <a:r>
              <a:rPr lang="en-US" sz="1400" dirty="0">
                <a:solidFill>
                  <a:srgbClr val="FF0000"/>
                </a:solidFill>
              </a:rPr>
              <a:t> technology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1A8D00E4-C512-00F0-73E8-49D6961C0D6E}"/>
              </a:ext>
            </a:extLst>
          </p:cNvPr>
          <p:cNvSpPr txBox="1">
            <a:spLocks/>
          </p:cNvSpPr>
          <p:nvPr/>
        </p:nvSpPr>
        <p:spPr>
          <a:xfrm>
            <a:off x="5446205" y="1571267"/>
            <a:ext cx="3306958" cy="433164"/>
          </a:xfrm>
          <a:prstGeom prst="rect">
            <a:avLst/>
          </a:prstGeom>
          <a:ln>
            <a:noFill/>
          </a:ln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/>
              <a:buNone/>
            </a:pPr>
            <a:r>
              <a:rPr lang="en-US" sz="1400" b="1" dirty="0">
                <a:solidFill>
                  <a:schemeClr val="tx2"/>
                </a:solidFill>
              </a:rPr>
              <a:t>retrofit: </a:t>
            </a:r>
            <a:r>
              <a:rPr lang="en-US" sz="1400" i="1" dirty="0">
                <a:solidFill>
                  <a:schemeClr val="tx2"/>
                </a:solidFill>
              </a:rPr>
              <a:t>fixed</a:t>
            </a:r>
            <a:r>
              <a:rPr lang="en-US" sz="1400" dirty="0">
                <a:solidFill>
                  <a:schemeClr val="tx2"/>
                </a:solidFill>
              </a:rPr>
              <a:t> design, </a:t>
            </a:r>
            <a:r>
              <a:rPr lang="en-US" sz="1400" i="1" dirty="0">
                <a:solidFill>
                  <a:schemeClr val="tx2"/>
                </a:solidFill>
              </a:rPr>
              <a:t>new</a:t>
            </a:r>
            <a:r>
              <a:rPr lang="en-US" sz="1400" dirty="0">
                <a:solidFill>
                  <a:schemeClr val="tx2"/>
                </a:solidFill>
              </a:rPr>
              <a:t> technology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357ED333-398C-0335-0E09-E367B352BD80}"/>
              </a:ext>
            </a:extLst>
          </p:cNvPr>
          <p:cNvSpPr txBox="1">
            <a:spLocks/>
          </p:cNvSpPr>
          <p:nvPr/>
        </p:nvSpPr>
        <p:spPr>
          <a:xfrm>
            <a:off x="5446205" y="2056088"/>
            <a:ext cx="3306958" cy="433164"/>
          </a:xfrm>
          <a:prstGeom prst="rect">
            <a:avLst/>
          </a:prstGeom>
          <a:ln>
            <a:noFill/>
          </a:ln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/>
              <a:buNone/>
            </a:pPr>
            <a:r>
              <a:rPr lang="en-US" sz="1400" b="1" dirty="0">
                <a:solidFill>
                  <a:srgbClr val="00B050"/>
                </a:solidFill>
              </a:rPr>
              <a:t>redesign: </a:t>
            </a:r>
            <a:r>
              <a:rPr lang="en-US" sz="1400" i="1" dirty="0">
                <a:solidFill>
                  <a:srgbClr val="00B050"/>
                </a:solidFill>
              </a:rPr>
              <a:t>new</a:t>
            </a:r>
            <a:r>
              <a:rPr lang="en-US" sz="1400" dirty="0">
                <a:solidFill>
                  <a:srgbClr val="00B050"/>
                </a:solidFill>
              </a:rPr>
              <a:t> design, </a:t>
            </a:r>
            <a:r>
              <a:rPr lang="en-US" sz="1400" i="1" dirty="0">
                <a:solidFill>
                  <a:srgbClr val="00B050"/>
                </a:solidFill>
              </a:rPr>
              <a:t>new</a:t>
            </a:r>
            <a:r>
              <a:rPr lang="en-US" sz="1400" dirty="0">
                <a:solidFill>
                  <a:srgbClr val="00B050"/>
                </a:solidFill>
              </a:rPr>
              <a:t> technology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62426C6-F4FB-7EB3-FC83-398BD6C76638}"/>
              </a:ext>
            </a:extLst>
          </p:cNvPr>
          <p:cNvCxnSpPr>
            <a:cxnSpLocks/>
            <a:endCxn id="29" idx="6"/>
          </p:cNvCxnSpPr>
          <p:nvPr/>
        </p:nvCxnSpPr>
        <p:spPr>
          <a:xfrm>
            <a:off x="4814675" y="1349041"/>
            <a:ext cx="0" cy="42608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3C30A8-BD75-F39A-4CB8-484CBE651DD2}"/>
              </a:ext>
            </a:extLst>
          </p:cNvPr>
          <p:cNvCxnSpPr>
            <a:cxnSpLocks/>
            <a:endCxn id="30" idx="7"/>
          </p:cNvCxnSpPr>
          <p:nvPr/>
        </p:nvCxnSpPr>
        <p:spPr>
          <a:xfrm>
            <a:off x="5148145" y="1356654"/>
            <a:ext cx="2067" cy="938830"/>
          </a:xfrm>
          <a:prstGeom prst="straightConnector1">
            <a:avLst/>
          </a:prstGeom>
          <a:ln w="1270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695DB3B-135C-65A1-2EDB-89E1F977AA31}"/>
              </a:ext>
            </a:extLst>
          </p:cNvPr>
          <p:cNvGrpSpPr/>
          <p:nvPr/>
        </p:nvGrpSpPr>
        <p:grpSpPr>
          <a:xfrm>
            <a:off x="3734122" y="690687"/>
            <a:ext cx="2132635" cy="874854"/>
            <a:chOff x="3734122" y="690687"/>
            <a:chExt cx="2132635" cy="874854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B88DED2C-7775-A0C7-E91A-E761D0E33FF1}"/>
                </a:ext>
              </a:extLst>
            </p:cNvPr>
            <p:cNvSpPr txBox="1">
              <a:spLocks/>
            </p:cNvSpPr>
            <p:nvPr/>
          </p:nvSpPr>
          <p:spPr>
            <a:xfrm>
              <a:off x="3734122" y="690687"/>
              <a:ext cx="2132635" cy="351878"/>
            </a:xfrm>
            <a:prstGeom prst="rect">
              <a:avLst/>
            </a:prstGeom>
          </p:spPr>
          <p:txBody>
            <a:bodyPr vert="horz" lIns="0" tIns="45720" rIns="91440" bIns="0" rtlCol="0">
              <a:noAutofit/>
            </a:bodyPr>
            <a:lstStyle>
              <a:lvl1pPr marL="257175" indent="-257175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1pPr>
              <a:lvl2pPr marL="557213" indent="-214313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–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2pPr>
              <a:lvl3pPr marL="8572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•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3pPr>
              <a:lvl4pPr marL="12001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–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4pPr>
              <a:lvl5pPr marL="1543050" indent="-171450" algn="l" defTabSz="3429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/>
                <a:buChar char="»"/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lvl5pPr>
              <a:lvl6pPr marL="18859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3429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spcAft>
                  <a:spcPts val="0"/>
                </a:spcAft>
                <a:buNone/>
              </a:pPr>
              <a:r>
                <a:rPr lang="en-US" sz="1200" b="1" dirty="0"/>
                <a:t>technological obsolescence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4CAD93C-0B73-D49B-6A46-3D5A84E45DB6}"/>
                </a:ext>
              </a:extLst>
            </p:cNvPr>
            <p:cNvCxnSpPr/>
            <p:nvPr/>
          </p:nvCxnSpPr>
          <p:spPr>
            <a:xfrm flipH="1" flipV="1">
              <a:off x="4979406" y="1042565"/>
              <a:ext cx="168739" cy="51574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39D5D30-B061-60F5-41A2-0309D3552C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0456" y="1028159"/>
              <a:ext cx="146030" cy="53738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E3018FB5-2151-E949-6ECB-D941E442D5EF}"/>
              </a:ext>
            </a:extLst>
          </p:cNvPr>
          <p:cNvSpPr>
            <a:spLocks/>
          </p:cNvSpPr>
          <p:nvPr/>
        </p:nvSpPr>
        <p:spPr>
          <a:xfrm>
            <a:off x="1505592" y="3241697"/>
            <a:ext cx="994788" cy="534392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2030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E075697-7DA4-4FA5-080C-54899435BAB3}"/>
              </a:ext>
            </a:extLst>
          </p:cNvPr>
          <p:cNvSpPr>
            <a:spLocks/>
          </p:cNvSpPr>
          <p:nvPr/>
        </p:nvSpPr>
        <p:spPr>
          <a:xfrm>
            <a:off x="6643617" y="3243412"/>
            <a:ext cx="994788" cy="534392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2070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F6B484E4-E0C5-AA03-94DC-4CAE5E4D4DBD}"/>
              </a:ext>
            </a:extLst>
          </p:cNvPr>
          <p:cNvSpPr txBox="1">
            <a:spLocks/>
          </p:cNvSpPr>
          <p:nvPr/>
        </p:nvSpPr>
        <p:spPr>
          <a:xfrm>
            <a:off x="2960638" y="4635534"/>
            <a:ext cx="3213980" cy="302654"/>
          </a:xfrm>
          <a:prstGeom prst="rect">
            <a:avLst/>
          </a:prstGeom>
          <a:ln w="127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C00000"/>
                </a:solidFill>
              </a:rPr>
              <a:t>When</a:t>
            </a:r>
            <a:r>
              <a:rPr lang="en-US" sz="1400" dirty="0">
                <a:solidFill>
                  <a:srgbClr val="C00000"/>
                </a:solidFill>
              </a:rPr>
              <a:t> should the upgrades occur?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E099EE8E-0B20-8AB4-300D-1C67E1DADA28}"/>
              </a:ext>
            </a:extLst>
          </p:cNvPr>
          <p:cNvSpPr txBox="1">
            <a:spLocks/>
          </p:cNvSpPr>
          <p:nvPr/>
        </p:nvSpPr>
        <p:spPr>
          <a:xfrm>
            <a:off x="3434829" y="3914360"/>
            <a:ext cx="2265598" cy="643251"/>
          </a:xfrm>
          <a:prstGeom prst="rect">
            <a:avLst/>
          </a:prstGeom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Technologies continuously 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evolve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while product upgrades occur 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at discrete intervals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4F83FC7-19FB-3C15-1F78-F51FF8E04BF1}"/>
              </a:ext>
            </a:extLst>
          </p:cNvPr>
          <p:cNvGrpSpPr/>
          <p:nvPr/>
        </p:nvGrpSpPr>
        <p:grpSpPr>
          <a:xfrm>
            <a:off x="421729" y="985841"/>
            <a:ext cx="1642828" cy="661018"/>
            <a:chOff x="697247" y="2302815"/>
            <a:chExt cx="1642828" cy="66101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C0848C-C781-9C90-3B81-E38ECBA60A72}"/>
                </a:ext>
              </a:extLst>
            </p:cNvPr>
            <p:cNvSpPr txBox="1"/>
            <p:nvPr/>
          </p:nvSpPr>
          <p:spPr>
            <a:xfrm>
              <a:off x="718381" y="2415800"/>
              <a:ext cx="15936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Weight, energy consumption, etc.</a:t>
              </a:r>
            </a:p>
          </p:txBody>
        </p:sp>
        <p:sp>
          <p:nvSpPr>
            <p:cNvPr id="13" name="Oval Callout 12">
              <a:extLst>
                <a:ext uri="{FF2B5EF4-FFF2-40B4-BE49-F238E27FC236}">
                  <a16:creationId xmlns:a16="http://schemas.microsoft.com/office/drawing/2014/main" id="{1B627870-7660-35B1-21ED-64EC07200EA5}"/>
                </a:ext>
              </a:extLst>
            </p:cNvPr>
            <p:cNvSpPr/>
            <p:nvPr/>
          </p:nvSpPr>
          <p:spPr>
            <a:xfrm>
              <a:off x="697247" y="2302815"/>
              <a:ext cx="1642828" cy="661018"/>
            </a:xfrm>
            <a:prstGeom prst="wedgeEllipseCallout">
              <a:avLst>
                <a:gd name="adj1" fmla="val 49482"/>
                <a:gd name="adj2" fmla="val 49505"/>
              </a:avLst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i="1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30EA8C-9A6E-EFEE-644F-EB22F034E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792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42" grpId="0"/>
      <p:bldP spid="43" grpId="0"/>
      <p:bldP spid="44" grpId="0"/>
      <p:bldP spid="64" grpId="0" animBg="1"/>
      <p:bldP spid="6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6C3CC-18F3-CD51-5D6D-B08466255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653CA-9547-A799-AED9-1D913F9CC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5D7FD5B2-1A7C-1FCB-0327-844E3F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How do we size and optimize an eVTOL aircraft at the conceptual level?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Multidisciplinary Design Optimization (MDO) architecture benchmark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Design objective trade-off study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Sensitivity to mission requirements and battery technology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Which future technologies will drive the optimal design?</a:t>
            </a:r>
          </a:p>
          <a:p>
            <a:pPr marL="642938" lvl="1" indent="-34290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Sensitivity to projected technology levels (battery, motor, converter)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When should the aircraft evolve?</a:t>
            </a:r>
          </a:p>
          <a:p>
            <a:pPr marL="642938" lvl="1" indent="-34290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Future-aware optimal upgrade strategy (retrofit and redesign)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B70D4E-6F84-0C2D-B948-A3F8E7C30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685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0928A-61AC-1306-C5F5-5C312518E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04A6-2978-2BD0-1BFD-9AF8B9FC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vehicle and mission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54E2F8-09E5-0E0A-DE4C-FCE451452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03" y="782772"/>
            <a:ext cx="3530600" cy="2819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5DD88A-FD82-9A0B-ED0E-BBCE6B331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20691"/>
            <a:ext cx="3987800" cy="28321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DCF99AD-2D39-576C-16EF-69736D3A76EA}"/>
              </a:ext>
            </a:extLst>
          </p:cNvPr>
          <p:cNvSpPr txBox="1">
            <a:spLocks/>
          </p:cNvSpPr>
          <p:nvPr/>
        </p:nvSpPr>
        <p:spPr>
          <a:xfrm>
            <a:off x="1169379" y="3602172"/>
            <a:ext cx="2448962" cy="733902"/>
          </a:xfrm>
          <a:prstGeom prst="rect">
            <a:avLst/>
          </a:prstGeom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/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NASA Lift-Plus-Cruise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OpenVSP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model [7].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69B8C9-5F72-E219-82A5-79E67C5D9092}"/>
              </a:ext>
            </a:extLst>
          </p:cNvPr>
          <p:cNvSpPr txBox="1"/>
          <p:nvPr/>
        </p:nvSpPr>
        <p:spPr>
          <a:xfrm>
            <a:off x="4448571" y="3615436"/>
            <a:ext cx="4576526" cy="38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Adapted Uber Air mission requirement [8]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3A05DC-AD97-6E79-4FEE-4EAF42C3CCDC}"/>
              </a:ext>
            </a:extLst>
          </p:cNvPr>
          <p:cNvSpPr txBox="1"/>
          <p:nvPr/>
        </p:nvSpPr>
        <p:spPr>
          <a:xfrm>
            <a:off x="0" y="4743390"/>
            <a:ext cx="5497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7"/>
            </a:pPr>
            <a:r>
              <a:rPr lang="en-US" sz="1000" dirty="0"/>
              <a:t>Johnson W and Silva C, </a:t>
            </a:r>
            <a:r>
              <a:rPr lang="en-US" sz="1000" i="1" dirty="0"/>
              <a:t>The Aeronautical Journal, </a:t>
            </a:r>
            <a:r>
              <a:rPr lang="en-US" sz="1000" dirty="0"/>
              <a:t>Vol. 126, No. 1295, 2022.</a:t>
            </a:r>
          </a:p>
          <a:p>
            <a:pPr marL="228600" indent="-228600">
              <a:buFont typeface="+mj-lt"/>
              <a:buAutoNum type="arabicPeriod" startAt="7"/>
            </a:pPr>
            <a:r>
              <a:rPr lang="en-US" sz="1000" dirty="0"/>
              <a:t>Holden J and Goel N,</a:t>
            </a:r>
            <a:r>
              <a:rPr lang="en-US" sz="1000" i="1" dirty="0"/>
              <a:t> Uber Elevate</a:t>
            </a:r>
            <a:r>
              <a:rPr lang="en-US" sz="1000" dirty="0"/>
              <a:t>, 2016.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0CF59A-EEB8-F16D-3B00-921ADE7C3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14313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2BF59-270F-AB73-C74A-932B5C588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9BE188-2ED2-97EE-B380-554AD5265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u="sng" dirty="0"/>
              <a:t>Part II</a:t>
            </a:r>
            <a:br>
              <a:rPr lang="en-US" dirty="0"/>
            </a:br>
            <a:r>
              <a:rPr lang="en-US" dirty="0"/>
              <a:t>How do we size and optimize an eVTOL aircraft at conceptual design level?</a:t>
            </a:r>
          </a:p>
        </p:txBody>
      </p:sp>
    </p:spTree>
    <p:extLst>
      <p:ext uri="{BB962C8B-B14F-4D97-AF65-F5344CB8AC3E}">
        <p14:creationId xmlns:p14="http://schemas.microsoft.com/office/powerpoint/2010/main" val="184145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46AA89-68AD-BB25-779C-4EA87145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sizing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3F4712A-61EE-DAA5-C283-D45F7A86A274}"/>
                  </a:ext>
                </a:extLst>
              </p:cNvPr>
              <p:cNvSpPr txBox="1"/>
              <p:nvPr/>
            </p:nvSpPr>
            <p:spPr>
              <a:xfrm>
                <a:off x="377311" y="4654928"/>
                <a:ext cx="8385773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more weight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  <a:sym typeface="Wingdings" pitchFamily="2" charset="2"/>
                  </a:rPr>
                  <a:t> more lift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  <a:sym typeface="Wingdings" pitchFamily="2" charset="2"/>
                  </a:rPr>
                  <a:t> more power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  <a:sym typeface="Wingdings" pitchFamily="2" charset="2"/>
                  </a:rPr>
                  <a:t> more energy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  <a:sym typeface="Wingdings" pitchFamily="2" charset="2"/>
                  </a:rPr>
                  <a:t> heavier battery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  <a:sym typeface="Wingdings" pitchFamily="2" charset="2"/>
                  </a:rPr>
                  <a:t> heavier system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  <a:sym typeface="Wingdings" pitchFamily="2" charset="2"/>
                  </a:rPr>
                  <a:t> </a:t>
                </a:r>
                <a:r>
                  <a:rPr lang="en-US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  <a:sym typeface="Wingdings" pitchFamily="2" charset="2"/>
                  </a:rPr>
                  <a:t>more weight</a:t>
                </a:r>
                <a:endParaRPr 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3F4712A-61EE-DAA5-C283-D45F7A86A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11" y="4654928"/>
                <a:ext cx="8385773" cy="332912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C1B6C3E-E459-3CF4-FA32-5EAB0D1DC082}"/>
              </a:ext>
            </a:extLst>
          </p:cNvPr>
          <p:cNvSpPr txBox="1"/>
          <p:nvPr/>
        </p:nvSpPr>
        <p:spPr>
          <a:xfrm>
            <a:off x="252027" y="4370409"/>
            <a:ext cx="498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Helvetica" pitchFamily="2" charset="0"/>
              </a:rPr>
              <a:t>Sizing: </a:t>
            </a:r>
            <a:r>
              <a:rPr lang="en-US" sz="1400" i="1" dirty="0">
                <a:latin typeface="Helvetica" pitchFamily="2" charset="0"/>
              </a:rPr>
              <a:t>How do we converge on takeoff weight?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33AE9E5-949C-97E4-D352-EC0391E4C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538" y="794281"/>
            <a:ext cx="6261776" cy="33372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9447B-29B3-0E1B-4B88-960EAE9891B4}"/>
              </a:ext>
            </a:extLst>
          </p:cNvPr>
          <p:cNvGrpSpPr/>
          <p:nvPr/>
        </p:nvGrpSpPr>
        <p:grpSpPr>
          <a:xfrm>
            <a:off x="2421593" y="1337251"/>
            <a:ext cx="3099217" cy="1593410"/>
            <a:chOff x="2423396" y="1457607"/>
            <a:chExt cx="3099217" cy="159341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1755D9E-16C3-640E-CC2E-449E1CAF935E}"/>
                </a:ext>
              </a:extLst>
            </p:cNvPr>
            <p:cNvSpPr/>
            <p:nvPr/>
          </p:nvSpPr>
          <p:spPr>
            <a:xfrm>
              <a:off x="2480648" y="1457607"/>
              <a:ext cx="3041965" cy="15934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0E2D3C5-9F71-333F-1338-89A16F8CBF09}"/>
                </a:ext>
              </a:extLst>
            </p:cNvPr>
            <p:cNvSpPr txBox="1"/>
            <p:nvPr/>
          </p:nvSpPr>
          <p:spPr>
            <a:xfrm>
              <a:off x="2423396" y="2681685"/>
              <a:ext cx="1623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solidFill>
                    <a:srgbClr val="FF0000"/>
                  </a:solidFill>
                  <a:latin typeface="Helvetica" pitchFamily="2" charset="0"/>
                </a:rPr>
                <a:t>Performance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6AB8410-BD1D-7145-487B-43219B06EDBC}"/>
              </a:ext>
            </a:extLst>
          </p:cNvPr>
          <p:cNvGrpSpPr/>
          <p:nvPr/>
        </p:nvGrpSpPr>
        <p:grpSpPr>
          <a:xfrm>
            <a:off x="4945204" y="2930661"/>
            <a:ext cx="2756652" cy="1276539"/>
            <a:chOff x="4947007" y="3051017"/>
            <a:chExt cx="2756652" cy="127653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4A54CE7-B220-E892-9525-162C2D7587AA}"/>
                </a:ext>
              </a:extLst>
            </p:cNvPr>
            <p:cNvSpPr/>
            <p:nvPr/>
          </p:nvSpPr>
          <p:spPr>
            <a:xfrm>
              <a:off x="5097102" y="3051017"/>
              <a:ext cx="2606557" cy="1276539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983CF10-B156-76F3-FAB6-E62E3D685E02}"/>
                </a:ext>
              </a:extLst>
            </p:cNvPr>
            <p:cNvSpPr txBox="1"/>
            <p:nvPr/>
          </p:nvSpPr>
          <p:spPr>
            <a:xfrm>
              <a:off x="4947007" y="3958224"/>
              <a:ext cx="21682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solidFill>
                    <a:srgbClr val="0000FF"/>
                  </a:solidFill>
                  <a:latin typeface="Helvetica" pitchFamily="2" charset="0"/>
                </a:rPr>
                <a:t>Weight estimation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0E249E-561A-CDCF-9887-20AD129863B8}"/>
              </a:ext>
            </a:extLst>
          </p:cNvPr>
          <p:cNvGrpSpPr/>
          <p:nvPr/>
        </p:nvGrpSpPr>
        <p:grpSpPr>
          <a:xfrm>
            <a:off x="159178" y="1608589"/>
            <a:ext cx="1700080" cy="1089344"/>
            <a:chOff x="159178" y="1608589"/>
            <a:chExt cx="1700080" cy="108934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08AC7F9-76C5-C28E-057F-CFED2DD2D0CA}"/>
                </a:ext>
              </a:extLst>
            </p:cNvPr>
            <p:cNvSpPr txBox="1"/>
            <p:nvPr/>
          </p:nvSpPr>
          <p:spPr>
            <a:xfrm>
              <a:off x="180312" y="1748733"/>
              <a:ext cx="16789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M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ulti-</a:t>
              </a:r>
              <a:r>
                <a:rPr 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D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isciplinary </a:t>
              </a:r>
              <a:r>
                <a:rPr 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A</a:t>
              </a: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nalysis solver: Newton, Jacobi, Bisection, etc.</a:t>
              </a:r>
            </a:p>
          </p:txBody>
        </p:sp>
        <p:sp>
          <p:nvSpPr>
            <p:cNvPr id="32" name="Oval Callout 31">
              <a:extLst>
                <a:ext uri="{FF2B5EF4-FFF2-40B4-BE49-F238E27FC236}">
                  <a16:creationId xmlns:a16="http://schemas.microsoft.com/office/drawing/2014/main" id="{67EA4F1B-00C5-4970-97D9-63C7036BB9D1}"/>
                </a:ext>
              </a:extLst>
            </p:cNvPr>
            <p:cNvSpPr/>
            <p:nvPr/>
          </p:nvSpPr>
          <p:spPr>
            <a:xfrm>
              <a:off x="159178" y="1608589"/>
              <a:ext cx="1642828" cy="1089344"/>
            </a:xfrm>
            <a:prstGeom prst="wedgeEllipseCallout">
              <a:avLst>
                <a:gd name="adj1" fmla="val 48380"/>
                <a:gd name="adj2" fmla="val -62804"/>
              </a:avLst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i="1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59A757D-95F8-AF62-5E03-FC4298D04ABE}"/>
              </a:ext>
            </a:extLst>
          </p:cNvPr>
          <p:cNvSpPr txBox="1"/>
          <p:nvPr/>
        </p:nvSpPr>
        <p:spPr>
          <a:xfrm>
            <a:off x="7491544" y="1559678"/>
            <a:ext cx="1488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This is called an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e</a:t>
            </a:r>
            <a:r>
              <a:rPr 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X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tended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D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esign 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S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tructure 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M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atrix (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XDSM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702697-FA1C-CE89-EB19-BCFA956EC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616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8CFC7-2FBA-E7E1-B710-4545CC6DF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158C13-1C34-1AF8-0B51-3548DBA2F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Multidisciplinary Design Optimization (MDO) architectures [9]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9B7AB8-A0A2-9416-0CFA-9C79A2C11156}"/>
              </a:ext>
            </a:extLst>
          </p:cNvPr>
          <p:cNvSpPr txBox="1"/>
          <p:nvPr/>
        </p:nvSpPr>
        <p:spPr>
          <a:xfrm>
            <a:off x="0" y="4836145"/>
            <a:ext cx="64189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9"/>
            </a:pPr>
            <a:r>
              <a:rPr lang="en-US" sz="1000" dirty="0"/>
              <a:t>Martins JRRA and Lambe AB, </a:t>
            </a:r>
            <a:r>
              <a:rPr lang="en-US" sz="1000" i="1" dirty="0"/>
              <a:t>AIAA Journal, </a:t>
            </a:r>
            <a:r>
              <a:rPr lang="en-US" sz="1000" dirty="0"/>
              <a:t>Vol. 51, No. 9, 2013.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337F668-DFE9-466D-1F8A-0818CAB70189}"/>
              </a:ext>
            </a:extLst>
          </p:cNvPr>
          <p:cNvGrpSpPr/>
          <p:nvPr/>
        </p:nvGrpSpPr>
        <p:grpSpPr>
          <a:xfrm>
            <a:off x="457200" y="856893"/>
            <a:ext cx="2520000" cy="3213957"/>
            <a:chOff x="457200" y="958735"/>
            <a:chExt cx="2520000" cy="3213957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9F794B6-AFCC-DEAB-7A5D-91DA9AB66DA7}"/>
                </a:ext>
              </a:extLst>
            </p:cNvPr>
            <p:cNvGrpSpPr/>
            <p:nvPr/>
          </p:nvGrpSpPr>
          <p:grpSpPr>
            <a:xfrm>
              <a:off x="457200" y="958735"/>
              <a:ext cx="2520000" cy="3213957"/>
              <a:chOff x="457200" y="869132"/>
              <a:chExt cx="2520000" cy="3213957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783ECB7-17FE-BD1D-7822-A269D8B9916A}"/>
                  </a:ext>
                </a:extLst>
              </p:cNvPr>
              <p:cNvSpPr/>
              <p:nvPr/>
            </p:nvSpPr>
            <p:spPr>
              <a:xfrm>
                <a:off x="457200" y="869132"/>
                <a:ext cx="2520000" cy="3213957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EA1163-C93A-3706-7349-5524E45A63CF}"/>
                  </a:ext>
                </a:extLst>
              </p:cNvPr>
              <p:cNvSpPr txBox="1"/>
              <p:nvPr/>
            </p:nvSpPr>
            <p:spPr>
              <a:xfrm>
                <a:off x="526669" y="881205"/>
                <a:ext cx="23810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u="sng" dirty="0">
                    <a:latin typeface="Helvetica" pitchFamily="2" charset="0"/>
                  </a:rPr>
                  <a:t>Multidisciplinary Feasible (MDF)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E1EFF9-4122-DCFF-25B8-C9858F5EA241}"/>
                  </a:ext>
                </a:extLst>
              </p:cNvPr>
              <p:cNvSpPr txBox="1"/>
              <p:nvPr/>
            </p:nvSpPr>
            <p:spPr>
              <a:xfrm>
                <a:off x="526669" y="2552223"/>
                <a:ext cx="2352511" cy="1450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Need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 an MDA solver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Optimizer controls </a:t>
                </a:r>
                <a:r>
                  <a:rPr lang="en-US" sz="12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only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 the design variables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Takeoff weight </a:t>
                </a:r>
                <a:r>
                  <a:rPr lang="en-US" sz="12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is converged 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at each optimizer iteration</a:t>
                </a:r>
              </a:p>
            </p:txBody>
          </p:sp>
        </p:grpSp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38" name="Slide Zoom 37">
                  <a:extLst>
                    <a:ext uri="{FF2B5EF4-FFF2-40B4-BE49-F238E27FC236}">
                      <a16:creationId xmlns:a16="http://schemas.microsoft.com/office/drawing/2014/main" id="{1501EB70-8D5C-056E-D811-4E2139C2754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10992598"/>
                    </p:ext>
                  </p:extLst>
                </p:nvPr>
              </p:nvGraphicFramePr>
              <p:xfrm>
                <a:off x="514924" y="1372462"/>
                <a:ext cx="2376000" cy="1149222"/>
              </p:xfrm>
              <a:graphic>
                <a:graphicData uri="http://schemas.microsoft.com/office/powerpoint/2016/slidezoom">
                  <pslz:sldZm>
                    <pslz:sldZmObj sldId="442" cId="3211030911">
                      <pslz:zmPr id="{787032B8-0C04-354E-87A0-4FB2E3E47E78}" returnToParent="0" imageType="cover" transitionDur="1000">
                        <p166:blipFill xmlns:p166="http://schemas.microsoft.com/office/powerpoint/2016/6/main">
                          <a:blip r:embed="rId3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2376000" cy="1149222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38" name="Slide Zoom 37">
                  <a:hlinkClick r:id="rId4" action="ppaction://hlinksldjump"/>
                  <a:extLst>
                    <a:ext uri="{FF2B5EF4-FFF2-40B4-BE49-F238E27FC236}">
                      <a16:creationId xmlns:a16="http://schemas.microsoft.com/office/drawing/2014/main" id="{1501EB70-8D5C-056E-D811-4E2139C2754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4924" y="1270620"/>
                  <a:ext cx="2376000" cy="114922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95A6E16-DFCD-8E36-D4A2-699261B57AFE}"/>
              </a:ext>
            </a:extLst>
          </p:cNvPr>
          <p:cNvGrpSpPr/>
          <p:nvPr/>
        </p:nvGrpSpPr>
        <p:grpSpPr>
          <a:xfrm>
            <a:off x="3312000" y="856894"/>
            <a:ext cx="2520000" cy="3213956"/>
            <a:chOff x="3312000" y="958736"/>
            <a:chExt cx="2520000" cy="321395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6699167-6176-BD87-8C60-1EC6D168C0CA}"/>
                </a:ext>
              </a:extLst>
            </p:cNvPr>
            <p:cNvGrpSpPr/>
            <p:nvPr/>
          </p:nvGrpSpPr>
          <p:grpSpPr>
            <a:xfrm>
              <a:off x="3312000" y="958736"/>
              <a:ext cx="2520000" cy="3213956"/>
              <a:chOff x="3312000" y="869133"/>
              <a:chExt cx="2520000" cy="321395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6904D61-F4F6-3BF4-58BD-CA4B0B84DA80}"/>
                  </a:ext>
                </a:extLst>
              </p:cNvPr>
              <p:cNvSpPr/>
              <p:nvPr/>
            </p:nvSpPr>
            <p:spPr>
              <a:xfrm>
                <a:off x="3312000" y="869133"/>
                <a:ext cx="2520000" cy="3213956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82D092-FC6E-0D43-B502-BC60748D0FD4}"/>
                  </a:ext>
                </a:extLst>
              </p:cNvPr>
              <p:cNvSpPr txBox="1"/>
              <p:nvPr/>
            </p:nvSpPr>
            <p:spPr>
              <a:xfrm>
                <a:off x="3312000" y="881205"/>
                <a:ext cx="252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u="sng" dirty="0">
                    <a:latin typeface="Helvetica" pitchFamily="2" charset="0"/>
                  </a:rPr>
                  <a:t>Individual Discipline Feasible (IDF)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354F5E5-C8BA-6627-FB5A-7C33D64259C2}"/>
                  </a:ext>
                </a:extLst>
              </p:cNvPr>
              <p:cNvSpPr txBox="1"/>
              <p:nvPr/>
            </p:nvSpPr>
            <p:spPr>
              <a:xfrm>
                <a:off x="3384000" y="2552223"/>
                <a:ext cx="2352511" cy="1450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No need 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for an MDA solver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Optimizer controls design and </a:t>
                </a:r>
                <a:r>
                  <a:rPr lang="en-US" sz="12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all coupling 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variables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Parallel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 execution for discipline solvers</a:t>
                </a:r>
              </a:p>
            </p:txBody>
          </p:sp>
        </p:grpSp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40" name="Slide Zoom 39">
                  <a:extLst>
                    <a:ext uri="{FF2B5EF4-FFF2-40B4-BE49-F238E27FC236}">
                      <a16:creationId xmlns:a16="http://schemas.microsoft.com/office/drawing/2014/main" id="{6B7C1A68-6163-CEAD-2AC3-1BAF045D3E0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430640"/>
                    </p:ext>
                  </p:extLst>
                </p:nvPr>
              </p:nvGraphicFramePr>
              <p:xfrm>
                <a:off x="3384000" y="1335214"/>
                <a:ext cx="2376000" cy="1194198"/>
              </p:xfrm>
              <a:graphic>
                <a:graphicData uri="http://schemas.microsoft.com/office/powerpoint/2016/slidezoom">
                  <pslz:sldZm>
                    <pslz:sldZmObj sldId="443" cId="2540281582">
                      <pslz:zmPr id="{B5D23C42-CBFB-9A46-AA40-D9DEF3C392E9}" returnToParent="0" imageType="cover" transitionDur="1000">
                        <p166:blipFill xmlns:p166="http://schemas.microsoft.com/office/powerpoint/2016/6/main">
                          <a:blip r:embed="rId6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2376000" cy="1194198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40" name="Slide Zoom 39">
                  <a:hlinkClick r:id="rId7" action="ppaction://hlinksldjump"/>
                  <a:extLst>
                    <a:ext uri="{FF2B5EF4-FFF2-40B4-BE49-F238E27FC236}">
                      <a16:creationId xmlns:a16="http://schemas.microsoft.com/office/drawing/2014/main" id="{6B7C1A68-6163-CEAD-2AC3-1BAF045D3E0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384000" y="1233372"/>
                  <a:ext cx="2376000" cy="119419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2C4ECDF-B1C5-7CF6-DA26-78427A47D058}"/>
              </a:ext>
            </a:extLst>
          </p:cNvPr>
          <p:cNvGrpSpPr/>
          <p:nvPr/>
        </p:nvGrpSpPr>
        <p:grpSpPr>
          <a:xfrm>
            <a:off x="6166800" y="868966"/>
            <a:ext cx="2520000" cy="3201884"/>
            <a:chOff x="6166800" y="970808"/>
            <a:chExt cx="2520000" cy="320188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FA290D8-0555-7295-C1D1-9722B30037D9}"/>
                </a:ext>
              </a:extLst>
            </p:cNvPr>
            <p:cNvGrpSpPr/>
            <p:nvPr/>
          </p:nvGrpSpPr>
          <p:grpSpPr>
            <a:xfrm>
              <a:off x="6166800" y="970808"/>
              <a:ext cx="2520000" cy="3201884"/>
              <a:chOff x="6166800" y="881205"/>
              <a:chExt cx="2520000" cy="320188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FAFF733-F2FC-DF6D-562E-9487AD989BC0}"/>
                  </a:ext>
                </a:extLst>
              </p:cNvPr>
              <p:cNvSpPr/>
              <p:nvPr/>
            </p:nvSpPr>
            <p:spPr>
              <a:xfrm>
                <a:off x="6166800" y="881205"/>
                <a:ext cx="2520000" cy="3201884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BD35E9-A262-EDD7-A3D1-2DA64F44F10A}"/>
                  </a:ext>
                </a:extLst>
              </p:cNvPr>
              <p:cNvSpPr txBox="1"/>
              <p:nvPr/>
            </p:nvSpPr>
            <p:spPr>
              <a:xfrm>
                <a:off x="6166800" y="881205"/>
                <a:ext cx="252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u="sng" dirty="0">
                    <a:latin typeface="Helvetica" pitchFamily="2" charset="0"/>
                  </a:rPr>
                  <a:t>Hybrid MDF</a:t>
                </a:r>
                <a:r>
                  <a:rPr lang="en-US" sz="1200" u="sng" dirty="0"/>
                  <a:t>–</a:t>
                </a:r>
                <a:r>
                  <a:rPr lang="en-US" sz="1200" u="sng" dirty="0">
                    <a:latin typeface="Helvetica" pitchFamily="2" charset="0"/>
                  </a:rPr>
                  <a:t>IDF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BDBCCE2-B71C-B29A-6C0C-570CBF44E39D}"/>
                  </a:ext>
                </a:extLst>
              </p:cNvPr>
              <p:cNvSpPr txBox="1"/>
              <p:nvPr/>
            </p:nvSpPr>
            <p:spPr>
              <a:xfrm>
                <a:off x="6250544" y="2552223"/>
                <a:ext cx="2352511" cy="1450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No need 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for an MDA solver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Optimizer </a:t>
                </a:r>
                <a:r>
                  <a:rPr lang="en-US" sz="12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controls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 design and takeoff weight variables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Sequential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" pitchFamily="2" charset="0"/>
                  </a:rPr>
                  <a:t> execution for discipline solvers</a:t>
                </a:r>
              </a:p>
            </p:txBody>
          </p:sp>
        </p:grpSp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42" name="Slide Zoom 41">
                  <a:extLst>
                    <a:ext uri="{FF2B5EF4-FFF2-40B4-BE49-F238E27FC236}">
                      <a16:creationId xmlns:a16="http://schemas.microsoft.com/office/drawing/2014/main" id="{CEEF4BC2-0033-1B16-C52F-880B69ACFC5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69369951"/>
                    </p:ext>
                  </p:extLst>
                </p:nvPr>
              </p:nvGraphicFramePr>
              <p:xfrm>
                <a:off x="6238799" y="1335214"/>
                <a:ext cx="2376000" cy="1118598"/>
              </p:xfrm>
              <a:graphic>
                <a:graphicData uri="http://schemas.microsoft.com/office/powerpoint/2016/slidezoom">
                  <pslz:sldZm>
                    <pslz:sldZmObj sldId="444" cId="3610019457">
                      <pslz:zmPr id="{55E3163D-0C4A-E545-8657-68E03FE43311}" returnToParent="0" imageType="cover" transitionDur="1000">
                        <p166:blipFill xmlns:p166="http://schemas.microsoft.com/office/powerpoint/2016/6/main">
                          <a:blip r:embed="rId9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2376000" cy="1118598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42" name="Slide Zoom 41">
                  <a:hlinkClick r:id="rId10" action="ppaction://hlinksldjump"/>
                  <a:extLst>
                    <a:ext uri="{FF2B5EF4-FFF2-40B4-BE49-F238E27FC236}">
                      <a16:creationId xmlns:a16="http://schemas.microsoft.com/office/drawing/2014/main" id="{CEEF4BC2-0033-1B16-C52F-880B69ACFC5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8799" y="1233372"/>
                  <a:ext cx="2376000" cy="111859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</p:grp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81A2FD5F-873D-1348-B022-C198A9918B90}"/>
              </a:ext>
            </a:extLst>
          </p:cNvPr>
          <p:cNvSpPr txBox="1">
            <a:spLocks/>
          </p:cNvSpPr>
          <p:nvPr/>
        </p:nvSpPr>
        <p:spPr>
          <a:xfrm>
            <a:off x="378402" y="4257090"/>
            <a:ext cx="8363706" cy="433164"/>
          </a:xfrm>
          <a:prstGeom prst="rect">
            <a:avLst/>
          </a:prstGeom>
          <a:ln w="127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C00000"/>
                </a:solidFill>
              </a:rPr>
              <a:t>Different MDO architectures might differ in terms of </a:t>
            </a:r>
            <a:r>
              <a:rPr lang="en-US" sz="1400" i="1" dirty="0">
                <a:solidFill>
                  <a:schemeClr val="accent6">
                    <a:lumMod val="50000"/>
                  </a:schemeClr>
                </a:solidFill>
              </a:rPr>
              <a:t>computational cost, robustness, or optimal solutions.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4E8F3-5251-AA85-4936-22C866CE0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13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4121C-D93E-B013-1E8A-5541233B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AC8B-5740-57C5-BBEE-B196BC8A1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 for MDO in conceptual design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53D9BE9B-8C98-3BA4-8EAD-7444DEF3D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23356"/>
            <a:ext cx="8229600" cy="413439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Choose our MDO architecture framework wisely</a:t>
            </a:r>
          </a:p>
          <a:p>
            <a:pPr lvl="1"/>
            <a:r>
              <a:rPr lang="en-US" dirty="0"/>
              <a:t>Perform MDO architecture benchmark if needed or if we can afford it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Which design objective matters?</a:t>
            </a:r>
          </a:p>
          <a:p>
            <a:pPr marL="642938" lvl="1" indent="-342900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Takeoff weight, energy consumption, mission time, cost, carbon footprint, range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Aircraft design always starts with a mission</a:t>
            </a:r>
          </a:p>
          <a:p>
            <a:pPr marL="642938" lvl="1" indent="-342900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Configuration selection depends on a mission, not the other way around</a:t>
            </a:r>
          </a:p>
          <a:p>
            <a:pPr marL="642938" lvl="1" indent="-342900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Be clear with what is fixed as requirement, what can be changed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Make several assumptions on the underlying technologies</a:t>
            </a:r>
          </a:p>
          <a:p>
            <a:pPr marL="642938" lvl="1" indent="-342900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Traditional engineering design freezes requirements early</a:t>
            </a:r>
          </a:p>
          <a:p>
            <a:pPr marL="642938" lvl="1" indent="-342900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e.g., battery specific energy, motor specific power, etc.</a:t>
            </a:r>
          </a:p>
          <a:p>
            <a:pPr marL="642938" lvl="1" indent="-342900"/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642938" lvl="1" indent="-342900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029AD1-C767-A32E-28E3-BD43EB73E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65624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64ABC-05A1-C10B-6164-BF39ACDA6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A517D6-7CD9-C112-4E36-869331F3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MDO architecture benchmark results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49034786-813A-67E3-5858-A3C5C12EB775}"/>
              </a:ext>
            </a:extLst>
          </p:cNvPr>
          <p:cNvSpPr txBox="1">
            <a:spLocks/>
          </p:cNvSpPr>
          <p:nvPr/>
        </p:nvSpPr>
        <p:spPr>
          <a:xfrm>
            <a:off x="390147" y="4290807"/>
            <a:ext cx="8363706" cy="707008"/>
          </a:xfrm>
          <a:prstGeom prst="rect">
            <a:avLst/>
          </a:prstGeom>
          <a:ln w="127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i="1" dirty="0">
                <a:solidFill>
                  <a:srgbClr val="C00000"/>
                </a:solidFill>
              </a:rPr>
              <a:t>Hybrid MDF</a:t>
            </a:r>
            <a:r>
              <a:rPr lang="en-US" sz="1400" dirty="0">
                <a:solidFill>
                  <a:srgbClr val="C00000"/>
                </a:solidFill>
              </a:rPr>
              <a:t>–</a:t>
            </a:r>
            <a:r>
              <a:rPr lang="en-US" sz="1400" i="1" dirty="0">
                <a:solidFill>
                  <a:srgbClr val="C00000"/>
                </a:solidFill>
              </a:rPr>
              <a:t>IDF is selected as the computational architecture,</a:t>
            </a:r>
          </a:p>
          <a:p>
            <a:pPr marL="0" indent="0" algn="ctr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since it provides the balance of computational cost, robustness, and optimality</a:t>
            </a:r>
            <a:r>
              <a:rPr lang="en-US" sz="1400" i="1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79D7F8-5FEC-E08F-6A91-049BCA0EE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331608"/>
              </p:ext>
            </p:extLst>
          </p:nvPr>
        </p:nvGraphicFramePr>
        <p:xfrm>
          <a:off x="974130" y="2079616"/>
          <a:ext cx="7195740" cy="169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7257">
                  <a:extLst>
                    <a:ext uri="{9D8B030D-6E8A-4147-A177-3AD203B41FA5}">
                      <a16:colId xmlns:a16="http://schemas.microsoft.com/office/drawing/2014/main" val="3683811807"/>
                    </a:ext>
                  </a:extLst>
                </a:gridCol>
                <a:gridCol w="1363523">
                  <a:extLst>
                    <a:ext uri="{9D8B030D-6E8A-4147-A177-3AD203B41FA5}">
                      <a16:colId xmlns:a16="http://schemas.microsoft.com/office/drawing/2014/main" val="2067727737"/>
                    </a:ext>
                  </a:extLst>
                </a:gridCol>
                <a:gridCol w="1145818">
                  <a:extLst>
                    <a:ext uri="{9D8B030D-6E8A-4147-A177-3AD203B41FA5}">
                      <a16:colId xmlns:a16="http://schemas.microsoft.com/office/drawing/2014/main" val="2504881450"/>
                    </a:ext>
                  </a:extLst>
                </a:gridCol>
                <a:gridCol w="1879142">
                  <a:extLst>
                    <a:ext uri="{9D8B030D-6E8A-4147-A177-3AD203B41FA5}">
                      <a16:colId xmlns:a16="http://schemas.microsoft.com/office/drawing/2014/main" val="39845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Metric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MDF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IDF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Hybrid MDF</a:t>
                      </a:r>
                      <a:r>
                        <a:rPr lang="en-US" sz="1800" b="1" u="none" dirty="0"/>
                        <a:t>–</a:t>
                      </a:r>
                      <a:r>
                        <a:rPr lang="en-US" sz="1800" b="1" dirty="0"/>
                        <a:t>IDF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547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Mean MDA calls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282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7524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Success rate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459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/>
                        <a:t>Number of cases where objective value is lower (better)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392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71483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30BA1C5-190F-F55C-976B-BE8307E6D64A}"/>
              </a:ext>
            </a:extLst>
          </p:cNvPr>
          <p:cNvSpPr txBox="1"/>
          <p:nvPr/>
        </p:nvSpPr>
        <p:spPr>
          <a:xfrm>
            <a:off x="1135078" y="852693"/>
            <a:ext cx="6873844" cy="707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MDO architectures were benchmarked over 550 eVTOL design test problems with different design objectives, mission range, cruise speed, and initial solutions.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041B8B-FDEB-2D26-941F-568C8ECEFDF4}"/>
              </a:ext>
            </a:extLst>
          </p:cNvPr>
          <p:cNvSpPr/>
          <p:nvPr/>
        </p:nvSpPr>
        <p:spPr>
          <a:xfrm>
            <a:off x="6426295" y="2006509"/>
            <a:ext cx="1692998" cy="18378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A9C80-1739-9C59-CD6A-9A179AD06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2580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BD133-FBF8-3630-CE7B-E84ED4EAA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D18F-C030-9376-91AA-CDE81B25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 for MDO in conceptual design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21B1683B-4F30-3ACA-985E-BFC67660A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23356"/>
            <a:ext cx="8229600" cy="413439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Choose your MDO architecture framework wisely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Perform MDO architecture benchmark if needed or if you can afford it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Which design objective matters?</a:t>
            </a:r>
          </a:p>
          <a:p>
            <a:pPr marL="642938" lvl="1" indent="-342900"/>
            <a:r>
              <a:rPr lang="en-US" dirty="0"/>
              <a:t>Takeoff weight, energy consumption, mission time, cost, carbon footprint, range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Aircraft design always starts with a mission</a:t>
            </a:r>
          </a:p>
          <a:p>
            <a:pPr marL="642938" lvl="1" indent="-342900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Configuration selection depends on a mission, not the other way around</a:t>
            </a:r>
          </a:p>
          <a:p>
            <a:pPr marL="642938" lvl="1" indent="-342900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Be clear with what is fixed as requirement, what can be changed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Make several assumptions on the underlying technologies</a:t>
            </a:r>
          </a:p>
          <a:p>
            <a:pPr marL="642938" lvl="1" indent="-342900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Traditional engineering design freezes requirements early</a:t>
            </a:r>
          </a:p>
          <a:p>
            <a:pPr marL="642938" lvl="1" indent="-342900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e.g., battery specific energy, motor specific power, etc.</a:t>
            </a:r>
          </a:p>
          <a:p>
            <a:pPr marL="642938" lvl="1" indent="-342900"/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642938" lvl="1" indent="-342900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2FD5A1-FD66-F31A-F404-A6E8ADEE2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91836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4F7D5-260A-7190-4DD1-6B25265B1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5207E5-C836-78F8-D4E2-D7D8D4BAE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objective trade-off study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2953B4-0145-3E56-8E89-95EFEF573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643" y="676327"/>
            <a:ext cx="5552157" cy="43183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70FC79-4C0C-485B-E388-6B78E325030A}"/>
              </a:ext>
            </a:extLst>
          </p:cNvPr>
          <p:cNvSpPr txBox="1"/>
          <p:nvPr/>
        </p:nvSpPr>
        <p:spPr>
          <a:xfrm>
            <a:off x="334979" y="887432"/>
            <a:ext cx="27069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We investigated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weight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-minimal (WM),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energy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-minimal (EM), and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time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-minimal (TM) designs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Mission ranges were swept from 10 km to 220 km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Three battery SE values: 250, 400, and 550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Wh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/kg</a:t>
            </a:r>
          </a:p>
          <a:p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WM and EM have similar trends due its coupling, though each still has absolute 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TM prioritizes speed, leading to high penalties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1530B2-6082-3032-990A-9E981A4EC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658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D19C6-173E-718B-E517-A9C89106B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A3D97B-538A-CD9A-DE26-56EB8BA60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and energy are coupled, but not identical objectives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61DD9-D469-8E34-272E-EAF6B76A02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1" t="12497" r="6348" b="5556"/>
          <a:stretch>
            <a:fillRect/>
          </a:stretch>
        </p:blipFill>
        <p:spPr>
          <a:xfrm>
            <a:off x="118903" y="779718"/>
            <a:ext cx="4635375" cy="421495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69DB9F3-DD63-C4BA-38F5-7CBFF39FE228}"/>
              </a:ext>
            </a:extLst>
          </p:cNvPr>
          <p:cNvGrpSpPr/>
          <p:nvPr/>
        </p:nvGrpSpPr>
        <p:grpSpPr>
          <a:xfrm>
            <a:off x="4914520" y="1516881"/>
            <a:ext cx="3948822" cy="2369293"/>
            <a:chOff x="4737978" y="697969"/>
            <a:chExt cx="3948822" cy="236929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160D96A-3FA4-6319-11A4-E964C69A4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37978" y="697969"/>
              <a:ext cx="3948822" cy="236929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B33AEF0-8D46-8BB8-40B1-A9C5B58E42F4}"/>
                </a:ext>
              </a:extLst>
            </p:cNvPr>
            <p:cNvSpPr txBox="1"/>
            <p:nvPr/>
          </p:nvSpPr>
          <p:spPr>
            <a:xfrm>
              <a:off x="5865890" y="1323051"/>
              <a:ext cx="235390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WM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 lowers structure weight, </a:t>
              </a:r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EM</a:t>
              </a:r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 lowers energy, and thus battery weight.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B4304A6-FDEB-A59D-42C5-04B67E3047BB}"/>
              </a:ext>
            </a:extLst>
          </p:cNvPr>
          <p:cNvSpPr txBox="1"/>
          <p:nvPr/>
        </p:nvSpPr>
        <p:spPr>
          <a:xfrm>
            <a:off x="5174808" y="4049591"/>
            <a:ext cx="3428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Each objective leads to </a:t>
            </a:r>
            <a:r>
              <a:rPr lang="en-US" dirty="0">
                <a:solidFill>
                  <a:srgbClr val="FF0000"/>
                </a:solidFill>
                <a:latin typeface="Helvetica" pitchFamily="2" charset="0"/>
              </a:rPr>
              <a:t>different geometries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and </a:t>
            </a:r>
            <a:r>
              <a:rPr lang="en-US" dirty="0">
                <a:solidFill>
                  <a:srgbClr val="FF0000"/>
                </a:solidFill>
                <a:latin typeface="Helvetica" pitchFamily="2" charset="0"/>
              </a:rPr>
              <a:t>component-weight breakdowns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F3A882-A8B1-A218-563E-B84E4701957D}"/>
              </a:ext>
            </a:extLst>
          </p:cNvPr>
          <p:cNvSpPr txBox="1"/>
          <p:nvPr/>
        </p:nvSpPr>
        <p:spPr>
          <a:xfrm>
            <a:off x="5657659" y="696509"/>
            <a:ext cx="24625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WM: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weight-minimal</a:t>
            </a:r>
          </a:p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EM: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energy-minimal</a:t>
            </a:r>
          </a:p>
          <a:p>
            <a:pPr algn="ct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TM: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time-minimal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E89B2-0887-4469-801B-D25D42A21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778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A891A-B026-6EAD-20A2-EA5A9BA14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3DDD-745E-5D83-1221-27A9CAA52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 for MDO in conceptual design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1E4A95DC-6AEF-B191-CBFF-83D1BAA7C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23356"/>
            <a:ext cx="8229600" cy="413439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Choose your MDO architecture framework wisely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Perform MDO architecture benchmark if needed or if you can afford it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Which design objective matters?</a:t>
            </a:r>
          </a:p>
          <a:p>
            <a:pPr marL="642938" lvl="1" indent="-342900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Takeoff weight, energy consumption, mission time, cost, carbon footprint, range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Aircraft design always starts with a mission</a:t>
            </a:r>
          </a:p>
          <a:p>
            <a:pPr marL="642938" lvl="1" indent="-342900"/>
            <a:r>
              <a:rPr lang="en-US" dirty="0"/>
              <a:t>Configuration selection depends on a mission, not the other way around</a:t>
            </a:r>
          </a:p>
          <a:p>
            <a:pPr marL="642938" lvl="1" indent="-342900"/>
            <a:r>
              <a:rPr lang="en-US" dirty="0"/>
              <a:t>Be clear with what is fixed as requirement, what can be changed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Make several assumptions on the underlying technologies</a:t>
            </a:r>
          </a:p>
          <a:p>
            <a:pPr marL="642938" lvl="1" indent="-342900"/>
            <a:r>
              <a:rPr lang="en-US" dirty="0"/>
              <a:t>Traditional engineering design freezes requirements early</a:t>
            </a:r>
          </a:p>
          <a:p>
            <a:pPr marL="642938" lvl="1" indent="-342900"/>
            <a:r>
              <a:rPr lang="en-US" dirty="0"/>
              <a:t>e.g., battery specific energy, motor specific power, etc.</a:t>
            </a:r>
          </a:p>
          <a:p>
            <a:pPr marL="642938" lvl="1" indent="-342900"/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642938" lvl="1" indent="-342900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31E788-3212-264A-26CA-4E8BAD4B2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4697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ED7B8-7399-8CC3-0E0C-D5CB4A6EB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0B8AE1-5951-B035-D444-78780889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to mission requirements and battery technology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0D189E-B562-F5ED-BF88-CE31C4785F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56" t="5318" r="8678"/>
          <a:stretch>
            <a:fillRect/>
          </a:stretch>
        </p:blipFill>
        <p:spPr>
          <a:xfrm>
            <a:off x="697500" y="749456"/>
            <a:ext cx="7595476" cy="364458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E386B4-167E-211E-493A-7AD8FE510CB1}"/>
              </a:ext>
            </a:extLst>
          </p:cNvPr>
          <p:cNvSpPr txBox="1">
            <a:spLocks/>
          </p:cNvSpPr>
          <p:nvPr/>
        </p:nvSpPr>
        <p:spPr>
          <a:xfrm>
            <a:off x="390147" y="4460280"/>
            <a:ext cx="8363706" cy="534392"/>
          </a:xfrm>
          <a:prstGeom prst="rect">
            <a:avLst/>
          </a:prstGeom>
          <a:ln w="127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C00000"/>
                </a:solidFill>
              </a:rPr>
              <a:t>Higher battery specific energies expand the possible mission domain.</a:t>
            </a:r>
          </a:p>
          <a:p>
            <a:pPr marL="0" indent="0" algn="ctr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Remember the </a:t>
            </a:r>
            <a:r>
              <a:rPr lang="en-US" sz="1200" b="1" i="1" dirty="0">
                <a:solidFill>
                  <a:schemeClr val="accent6">
                    <a:lumMod val="50000"/>
                  </a:schemeClr>
                </a:solidFill>
              </a:rPr>
              <a:t>weight-energy</a:t>
            </a:r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 coupled loop!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1E3F04-E838-FEFD-D4FA-2121A82EA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319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E3517-D3F9-AF2C-3F29-21BCCCE2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58F189-4FF9-40D1-AAAE-13DDD9A9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u="sng" dirty="0"/>
              <a:t>Part III</a:t>
            </a:r>
            <a:br>
              <a:rPr lang="en-US" dirty="0"/>
            </a:br>
            <a:r>
              <a:rPr lang="en-US" dirty="0"/>
              <a:t>Which future technologies move the optimal design?</a:t>
            </a:r>
          </a:p>
        </p:txBody>
      </p:sp>
    </p:spTree>
    <p:extLst>
      <p:ext uri="{BB962C8B-B14F-4D97-AF65-F5344CB8AC3E}">
        <p14:creationId xmlns:p14="http://schemas.microsoft.com/office/powerpoint/2010/main" val="25039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DDC50B-241D-8CA0-C9FF-CCD734EFC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sensitivity of optimal design to projected technologies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1C23D95-D4E0-07CD-3C0C-7096DB2711B7}"/>
              </a:ext>
            </a:extLst>
          </p:cNvPr>
          <p:cNvGrpSpPr/>
          <p:nvPr/>
        </p:nvGrpSpPr>
        <p:grpSpPr>
          <a:xfrm>
            <a:off x="173477" y="3183568"/>
            <a:ext cx="2045380" cy="1032922"/>
            <a:chOff x="124797" y="3432391"/>
            <a:chExt cx="2222712" cy="1202807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1413D0B-064C-07C3-47F1-E267369EC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797" y="3432391"/>
              <a:ext cx="2222712" cy="1202807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5345CD8-2F14-DAFA-24E5-8EB0F398DFED}"/>
                </a:ext>
              </a:extLst>
            </p:cNvPr>
            <p:cNvCxnSpPr>
              <a:cxnSpLocks/>
            </p:cNvCxnSpPr>
            <p:nvPr/>
          </p:nvCxnSpPr>
          <p:spPr>
            <a:xfrm>
              <a:off x="1855960" y="3775295"/>
              <a:ext cx="0" cy="42551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28" name="Picture 27" descr="Infinity War: Why Doctor Strange Saw EXACTLY 14,000,605 Futures">
            <a:extLst>
              <a:ext uri="{FF2B5EF4-FFF2-40B4-BE49-F238E27FC236}">
                <a16:creationId xmlns:a16="http://schemas.microsoft.com/office/drawing/2014/main" id="{BD77B495-D2A0-527D-E3C3-3B2149AF1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065" y="3183568"/>
            <a:ext cx="1836305" cy="103292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447072A-3615-EBB3-EDDD-F6C798D24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632" y="3054858"/>
            <a:ext cx="1732482" cy="1383493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A0EA9767-6067-F234-AD1B-3D2C62F3556C}"/>
              </a:ext>
            </a:extLst>
          </p:cNvPr>
          <p:cNvGrpSpPr/>
          <p:nvPr/>
        </p:nvGrpSpPr>
        <p:grpSpPr>
          <a:xfrm>
            <a:off x="6476127" y="870215"/>
            <a:ext cx="2242360" cy="2120400"/>
            <a:chOff x="6546982" y="994192"/>
            <a:chExt cx="2242360" cy="2120400"/>
          </a:xfrm>
        </p:grpSpPr>
        <p:sp>
          <p:nvSpPr>
            <p:cNvPr id="43" name="Process 42">
              <a:extLst>
                <a:ext uri="{FF2B5EF4-FFF2-40B4-BE49-F238E27FC236}">
                  <a16:creationId xmlns:a16="http://schemas.microsoft.com/office/drawing/2014/main" id="{0294E45A-F3D5-5792-DD2B-35A1A0D4699A}"/>
                </a:ext>
              </a:extLst>
            </p:cNvPr>
            <p:cNvSpPr/>
            <p:nvPr/>
          </p:nvSpPr>
          <p:spPr>
            <a:xfrm>
              <a:off x="6546982" y="1711097"/>
              <a:ext cx="516045" cy="720000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1650CE6-8503-212D-DFBE-2F4A5B5C3417}"/>
                </a:ext>
              </a:extLst>
            </p:cNvPr>
            <p:cNvGrpSpPr/>
            <p:nvPr/>
          </p:nvGrpSpPr>
          <p:grpSpPr>
            <a:xfrm>
              <a:off x="7067542" y="994192"/>
              <a:ext cx="1721800" cy="2120400"/>
              <a:chOff x="6912059" y="862091"/>
              <a:chExt cx="1721800" cy="2120400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F56343D-266D-93C3-0DE3-9895D9A2ECD8}"/>
                  </a:ext>
                </a:extLst>
              </p:cNvPr>
              <p:cNvSpPr/>
              <p:nvPr/>
            </p:nvSpPr>
            <p:spPr>
              <a:xfrm>
                <a:off x="6912059" y="862091"/>
                <a:ext cx="1710000" cy="2120400"/>
              </a:xfrm>
              <a:prstGeom prst="rect">
                <a:avLst/>
              </a:prstGeom>
              <a:noFill/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DAA08EA-CE6C-FFDD-1A78-6744BFAF6F1C}"/>
                  </a:ext>
                </a:extLst>
              </p:cNvPr>
              <p:cNvSpPr txBox="1"/>
              <p:nvPr/>
            </p:nvSpPr>
            <p:spPr>
              <a:xfrm>
                <a:off x="6912059" y="874923"/>
                <a:ext cx="171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u="sng" dirty="0">
                    <a:latin typeface="Helvetica" pitchFamily="2" charset="0"/>
                  </a:rPr>
                  <a:t>Step 4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AF4DFDEC-9F33-8C36-793C-213FDF44925D}"/>
                      </a:ext>
                    </a:extLst>
                  </p:cNvPr>
                  <p:cNvSpPr txBox="1"/>
                  <p:nvPr/>
                </p:nvSpPr>
                <p:spPr>
                  <a:xfrm>
                    <a:off x="6923865" y="1247305"/>
                    <a:ext cx="1709994" cy="152137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elvetica" pitchFamily="2" charset="0"/>
                      </a:rPr>
                      <a:t>Perform global sensitivity analysis using Sobol’ index</a:t>
                    </a:r>
                  </a:p>
                  <a:p>
                    <a:pPr algn="ctr"/>
                    <a:endParaRPr lang="en-US" sz="1400" i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endParaRPr lang="en-US" sz="1400" i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sz="900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900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en-US" sz="9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900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900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9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9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900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9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9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sz="9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sz="9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900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900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sz="9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+…</m:t>
                                  </m:r>
                                </m:e>
                              </m:nary>
                            </m:e>
                          </m:nary>
                        </m:oMath>
                      </m:oMathPara>
                    </a14:m>
                    <a:endParaRPr lang="en-US" sz="9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AF4DFDEC-9F33-8C36-793C-213FDF4492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23865" y="1247305"/>
                    <a:ext cx="1709994" cy="152137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826" r="-2222" b="-404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EB1CBFB-C213-B23C-0A96-1C9397C6073B}"/>
              </a:ext>
            </a:extLst>
          </p:cNvPr>
          <p:cNvGrpSpPr/>
          <p:nvPr/>
        </p:nvGrpSpPr>
        <p:grpSpPr>
          <a:xfrm>
            <a:off x="4235511" y="887865"/>
            <a:ext cx="2749375" cy="2120400"/>
            <a:chOff x="4306366" y="1011842"/>
            <a:chExt cx="2749375" cy="21204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3E3EACD-1489-010D-93B4-D91F5A7286E4}"/>
                </a:ext>
              </a:extLst>
            </p:cNvPr>
            <p:cNvGrpSpPr/>
            <p:nvPr/>
          </p:nvGrpSpPr>
          <p:grpSpPr>
            <a:xfrm>
              <a:off x="4306366" y="1011842"/>
              <a:ext cx="2233344" cy="2120400"/>
              <a:chOff x="4306366" y="1011842"/>
              <a:chExt cx="2233344" cy="2120400"/>
            </a:xfrm>
          </p:grpSpPr>
          <p:sp>
            <p:nvSpPr>
              <p:cNvPr id="32" name="Process 31">
                <a:extLst>
                  <a:ext uri="{FF2B5EF4-FFF2-40B4-BE49-F238E27FC236}">
                    <a16:creationId xmlns:a16="http://schemas.microsoft.com/office/drawing/2014/main" id="{EB360F89-EE97-B657-ADD4-4FF519F1F6D1}"/>
                  </a:ext>
                </a:extLst>
              </p:cNvPr>
              <p:cNvSpPr/>
              <p:nvPr/>
            </p:nvSpPr>
            <p:spPr>
              <a:xfrm>
                <a:off x="4306366" y="1719726"/>
                <a:ext cx="516045" cy="720000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FD1DA9E-86E1-3E6E-9F0E-125714011C3B}"/>
                  </a:ext>
                </a:extLst>
              </p:cNvPr>
              <p:cNvGrpSpPr/>
              <p:nvPr/>
            </p:nvGrpSpPr>
            <p:grpSpPr>
              <a:xfrm>
                <a:off x="4829701" y="1011842"/>
                <a:ext cx="1710009" cy="2120400"/>
                <a:chOff x="5735350" y="1597001"/>
                <a:chExt cx="1710009" cy="2120400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FE07E160-8BC0-3832-90F7-44442A533DF2}"/>
                    </a:ext>
                  </a:extLst>
                </p:cNvPr>
                <p:cNvSpPr/>
                <p:nvPr/>
              </p:nvSpPr>
              <p:spPr>
                <a:xfrm>
                  <a:off x="5735359" y="1597001"/>
                  <a:ext cx="1710000" cy="2120400"/>
                </a:xfrm>
                <a:prstGeom prst="rect">
                  <a:avLst/>
                </a:prstGeom>
                <a:noFill/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30A020A-08FD-3495-B803-62F0FFC84C1E}"/>
                    </a:ext>
                  </a:extLst>
                </p:cNvPr>
                <p:cNvSpPr txBox="1"/>
                <p:nvPr/>
              </p:nvSpPr>
              <p:spPr>
                <a:xfrm>
                  <a:off x="5735359" y="1597002"/>
                  <a:ext cx="1710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u="sng" dirty="0">
                      <a:latin typeface="Helvetica" pitchFamily="2" charset="0"/>
                    </a:rPr>
                    <a:t>Step 3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7A3725DC-4133-3F2E-8201-DFB9AEBB4E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35350" y="1994669"/>
                      <a:ext cx="1709994" cy="15388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elvetica" pitchFamily="2" charset="0"/>
                        </a:rPr>
                        <a:t>Optimize the aircraft with the sampled technology states</a:t>
                      </a:r>
                    </a:p>
                    <a:p>
                      <a:endParaRPr lang="en-US" sz="1400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endParaRPr lang="en-US" sz="1400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lang="en-US" sz="1000" b="1" i="1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000" b="1" i="1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1000" b="0" i="1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1000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000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000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)=</m:t>
                            </m:r>
                            <m:sSub>
                              <m:sSubPr>
                                <m:ctrlPr>
                                  <a:rPr lang="en-US" sz="1000" b="0" i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000" b="0" i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argmin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000" b="0" i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</m:sub>
                            </m:sSub>
                            <m:r>
                              <a:rPr lang="en-US" sz="1000" b="0" i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00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1000" b="0" i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000" b="1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1000" b="1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l-GR" sz="10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  <m:d>
                              <m:dPr>
                                <m:ctrlPr>
                                  <a:rPr lang="en-US" sz="1000" i="1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00" i="1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000" b="0" i="0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7A3725DC-4133-3F2E-8201-DFB9AEBB4EC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35350" y="1994669"/>
                      <a:ext cx="1709994" cy="1538883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t="-82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61" name="Triangle 60">
              <a:extLst>
                <a:ext uri="{FF2B5EF4-FFF2-40B4-BE49-F238E27FC236}">
                  <a16:creationId xmlns:a16="http://schemas.microsoft.com/office/drawing/2014/main" id="{38DF58CD-7004-50B0-8C15-9F14D7153738}"/>
                </a:ext>
              </a:extLst>
            </p:cNvPr>
            <p:cNvSpPr/>
            <p:nvPr/>
          </p:nvSpPr>
          <p:spPr>
            <a:xfrm rot="5400000">
              <a:off x="5738463" y="1813075"/>
              <a:ext cx="2118510" cy="516047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7C03198-9CFC-73D5-85AA-5AD17F84E9C5}"/>
              </a:ext>
            </a:extLst>
          </p:cNvPr>
          <p:cNvGrpSpPr/>
          <p:nvPr/>
        </p:nvGrpSpPr>
        <p:grpSpPr>
          <a:xfrm>
            <a:off x="1994886" y="887866"/>
            <a:ext cx="2749382" cy="2127142"/>
            <a:chOff x="2065741" y="1011843"/>
            <a:chExt cx="2749382" cy="212714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DDDE16A-8682-DF4D-8E40-D27FDDDD09EA}"/>
                </a:ext>
              </a:extLst>
            </p:cNvPr>
            <p:cNvGrpSpPr/>
            <p:nvPr/>
          </p:nvGrpSpPr>
          <p:grpSpPr>
            <a:xfrm>
              <a:off x="2065741" y="1020472"/>
              <a:ext cx="2226048" cy="2118513"/>
              <a:chOff x="2065741" y="1020472"/>
              <a:chExt cx="2226048" cy="2118513"/>
            </a:xfrm>
          </p:grpSpPr>
          <p:sp>
            <p:nvSpPr>
              <p:cNvPr id="14" name="Process 13">
                <a:extLst>
                  <a:ext uri="{FF2B5EF4-FFF2-40B4-BE49-F238E27FC236}">
                    <a16:creationId xmlns:a16="http://schemas.microsoft.com/office/drawing/2014/main" id="{A53CF708-68C4-62F1-4337-5D9A559727A1}"/>
                  </a:ext>
                </a:extLst>
              </p:cNvPr>
              <p:cNvSpPr/>
              <p:nvPr/>
            </p:nvSpPr>
            <p:spPr>
              <a:xfrm>
                <a:off x="2065741" y="1719726"/>
                <a:ext cx="516045" cy="720000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6A2EDCDF-6F75-2AE3-921B-C219C3B6FFC5}"/>
                  </a:ext>
                </a:extLst>
              </p:cNvPr>
              <p:cNvGrpSpPr/>
              <p:nvPr/>
            </p:nvGrpSpPr>
            <p:grpSpPr>
              <a:xfrm>
                <a:off x="2581786" y="1020472"/>
                <a:ext cx="1710003" cy="2118513"/>
                <a:chOff x="3096280" y="1566247"/>
                <a:chExt cx="1710003" cy="2118513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8D6B4897-E982-2EDD-1E65-A673636345F8}"/>
                    </a:ext>
                  </a:extLst>
                </p:cNvPr>
                <p:cNvSpPr/>
                <p:nvPr/>
              </p:nvSpPr>
              <p:spPr>
                <a:xfrm>
                  <a:off x="3096282" y="1566249"/>
                  <a:ext cx="1710000" cy="2118511"/>
                </a:xfrm>
                <a:prstGeom prst="rect">
                  <a:avLst/>
                </a:prstGeom>
                <a:noFill/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48F5D57-123A-FEDC-5403-8E8CB9C0DFC7}"/>
                    </a:ext>
                  </a:extLst>
                </p:cNvPr>
                <p:cNvSpPr txBox="1"/>
                <p:nvPr/>
              </p:nvSpPr>
              <p:spPr>
                <a:xfrm>
                  <a:off x="3096283" y="1566247"/>
                  <a:ext cx="1710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u="sng" dirty="0">
                      <a:latin typeface="Helvetica" pitchFamily="2" charset="0"/>
                    </a:rPr>
                    <a:t>Step 2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D88D3F0A-D1CC-86B6-718F-31D264EACB7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96280" y="1969128"/>
                      <a:ext cx="1710000" cy="155427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Helvetica" pitchFamily="2" charset="0"/>
                        </a:rPr>
                        <a:t>Sample technology states at multiple future years</a:t>
                      </a:r>
                    </a:p>
                    <a:p>
                      <a:endParaRPr lang="en-US" sz="1400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algn="ctr"/>
                      <a14:m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 sz="13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  <m:d>
                            <m:dPr>
                              <m:ctrlPr>
                                <a:rPr lang="en-US" sz="1300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00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a14:m>
                      <a:r>
                        <a:rPr lang="en-US" sz="13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elvetica" pitchFamily="2" charset="0"/>
                        </a:rPr>
                        <a:t> at</a:t>
                      </a:r>
                    </a:p>
                    <a:p>
                      <a:pPr algn="ctr"/>
                      <a:endParaRPr lang="en-US" sz="13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Helvetica" pitchFamily="2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sz="1300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300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=[2030,…, 2070]</m:t>
                            </m:r>
                          </m:oMath>
                        </m:oMathPara>
                      </a14:m>
                      <a:endParaRPr lang="en-US" sz="13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D88D3F0A-D1CC-86B6-718F-31D264EACB7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96280" y="1969128"/>
                      <a:ext cx="1710000" cy="155427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735" t="-813" r="-2941" b="-81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63" name="Triangle 62">
              <a:extLst>
                <a:ext uri="{FF2B5EF4-FFF2-40B4-BE49-F238E27FC236}">
                  <a16:creationId xmlns:a16="http://schemas.microsoft.com/office/drawing/2014/main" id="{236C3DDB-2FA6-44BC-EE11-3E1AC01F20F8}"/>
                </a:ext>
              </a:extLst>
            </p:cNvPr>
            <p:cNvSpPr/>
            <p:nvPr/>
          </p:nvSpPr>
          <p:spPr>
            <a:xfrm rot="5400000">
              <a:off x="3497845" y="1813074"/>
              <a:ext cx="2118510" cy="516047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8DDDC66-6B4A-4124-0665-9241CD76E2A7}"/>
              </a:ext>
            </a:extLst>
          </p:cNvPr>
          <p:cNvGrpSpPr/>
          <p:nvPr/>
        </p:nvGrpSpPr>
        <p:grpSpPr>
          <a:xfrm>
            <a:off x="283802" y="896495"/>
            <a:ext cx="2227144" cy="2118511"/>
            <a:chOff x="354657" y="1020472"/>
            <a:chExt cx="2227144" cy="2118511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8F96677-0505-B955-ED71-CE0C06046EE0}"/>
                </a:ext>
              </a:extLst>
            </p:cNvPr>
            <p:cNvGrpSpPr/>
            <p:nvPr/>
          </p:nvGrpSpPr>
          <p:grpSpPr>
            <a:xfrm>
              <a:off x="354657" y="1020472"/>
              <a:ext cx="1711108" cy="2118511"/>
              <a:chOff x="199174" y="888371"/>
              <a:chExt cx="1711108" cy="2118511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1D6177E-AED7-3714-B547-632378C28A24}"/>
                  </a:ext>
                </a:extLst>
              </p:cNvPr>
              <p:cNvSpPr/>
              <p:nvPr/>
            </p:nvSpPr>
            <p:spPr>
              <a:xfrm>
                <a:off x="199176" y="888372"/>
                <a:ext cx="1711106" cy="2118510"/>
              </a:xfrm>
              <a:prstGeom prst="rect">
                <a:avLst/>
              </a:prstGeom>
              <a:noFill/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BA9D98D-BF20-4A7F-8F27-B011103F14FC}"/>
                  </a:ext>
                </a:extLst>
              </p:cNvPr>
              <p:cNvSpPr txBox="1"/>
              <p:nvPr/>
            </p:nvSpPr>
            <p:spPr>
              <a:xfrm>
                <a:off x="199174" y="888371"/>
                <a:ext cx="17110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u="sng" dirty="0">
                    <a:latin typeface="Helvetica" pitchFamily="2" charset="0"/>
                  </a:rPr>
                  <a:t>Step 1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9D99458-FDEE-D08B-A6FD-9E2A4B31D405}"/>
                      </a:ext>
                    </a:extLst>
                  </p:cNvPr>
                  <p:cNvSpPr txBox="1"/>
                  <p:nvPr/>
                </p:nvSpPr>
                <p:spPr>
                  <a:xfrm>
                    <a:off x="199176" y="1291250"/>
                    <a:ext cx="1711106" cy="155427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elvetica" pitchFamily="2" charset="0"/>
                      </a:rPr>
                      <a:t>Define technology vector 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  <m:r>
                          <a:rPr lang="en-US" sz="1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Helvetica" pitchFamily="2" charset="0"/>
                      </a:rPr>
                      <a:t> and its projection envelope</a:t>
                    </a:r>
                  </a:p>
                  <a:p>
                    <a:endParaRPr 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Helvetica" pitchFamily="2" charset="0"/>
                    </a:endParaRPr>
                  </a:p>
                  <a:p>
                    <a:endParaRPr 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Helvetica" pitchFamily="2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lang="el-GR" sz="11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1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=[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oMath>
                      </m:oMathPara>
                    </a14:m>
                    <a:endParaRPr lang="en-US" sz="11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9D99458-FDEE-D08B-A6FD-9E2A4B31D4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176" y="1291250"/>
                    <a:ext cx="1711106" cy="155427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813" r="-14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5" name="Triangle 64">
              <a:extLst>
                <a:ext uri="{FF2B5EF4-FFF2-40B4-BE49-F238E27FC236}">
                  <a16:creationId xmlns:a16="http://schemas.microsoft.com/office/drawing/2014/main" id="{9E926053-AEF8-A1FF-49BC-036DC5487F30}"/>
                </a:ext>
              </a:extLst>
            </p:cNvPr>
            <p:cNvSpPr/>
            <p:nvPr/>
          </p:nvSpPr>
          <p:spPr>
            <a:xfrm rot="5400000">
              <a:off x="1264523" y="1821703"/>
              <a:ext cx="2118509" cy="516047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7" name="Picture 66">
            <a:extLst>
              <a:ext uri="{FF2B5EF4-FFF2-40B4-BE49-F238E27FC236}">
                <a16:creationId xmlns:a16="http://schemas.microsoft.com/office/drawing/2014/main" id="{4E3A4157-F399-D20C-6ED4-7B3AF2BED5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7677" y="3177704"/>
            <a:ext cx="1291625" cy="962848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D24BB1C9-D164-B46A-8564-8F2C167AEB34}"/>
              </a:ext>
            </a:extLst>
          </p:cNvPr>
          <p:cNvSpPr txBox="1"/>
          <p:nvPr/>
        </p:nvSpPr>
        <p:spPr>
          <a:xfrm>
            <a:off x="1" y="4724062"/>
            <a:ext cx="5323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10"/>
            </a:pPr>
            <a:r>
              <a:rPr lang="en-US" sz="1000" dirty="0">
                <a:hlinkClick r:id="rId11"/>
              </a:rPr>
              <a:t>https://screenrant.com/infinity-war-doctor-strange-futures-how-many-why/</a:t>
            </a:r>
            <a:r>
              <a:rPr lang="en-US" sz="1000" dirty="0"/>
              <a:t> </a:t>
            </a:r>
          </a:p>
          <a:p>
            <a:pPr marL="228600" indent="-228600">
              <a:buFont typeface="+mj-lt"/>
              <a:buAutoNum type="arabicPeriod" startAt="10"/>
            </a:pPr>
            <a:r>
              <a:rPr lang="en-US" sz="1000" dirty="0"/>
              <a:t>Iwanaga T et. al., </a:t>
            </a:r>
            <a:r>
              <a:rPr lang="en-US" sz="1000" i="1" dirty="0"/>
              <a:t>Socio-Environmental Systems Modelling</a:t>
            </a:r>
            <a:r>
              <a:rPr lang="en-US" sz="1000" dirty="0"/>
              <a:t>, Vol. 4, 18155, 2022.</a:t>
            </a:r>
            <a:endParaRPr lang="en-US" sz="1000" i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C88C178-028E-507A-B73A-06D520BCCCD3}"/>
              </a:ext>
            </a:extLst>
          </p:cNvPr>
          <p:cNvSpPr txBox="1"/>
          <p:nvPr/>
        </p:nvSpPr>
        <p:spPr>
          <a:xfrm>
            <a:off x="2627521" y="4247003"/>
            <a:ext cx="1593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Dr. Strange looking into the future [10]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2D3069-08D9-193B-1AC3-B709AD07D465}"/>
              </a:ext>
            </a:extLst>
          </p:cNvPr>
          <p:cNvSpPr txBox="1"/>
          <p:nvPr/>
        </p:nvSpPr>
        <p:spPr>
          <a:xfrm>
            <a:off x="399462" y="4185435"/>
            <a:ext cx="1593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Projection models for battery, motor, converter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C4FE93-C776-8DD9-48E4-CCDFE31A67D9}"/>
              </a:ext>
            </a:extLst>
          </p:cNvPr>
          <p:cNvSpPr txBox="1"/>
          <p:nvPr/>
        </p:nvSpPr>
        <p:spPr>
          <a:xfrm>
            <a:off x="4817138" y="4254694"/>
            <a:ext cx="1593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Multidisciplinary Design Optimization process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A46F9F-2E2F-7B59-ABF1-CD1920689725}"/>
              </a:ext>
            </a:extLst>
          </p:cNvPr>
          <p:cNvSpPr txBox="1"/>
          <p:nvPr/>
        </p:nvSpPr>
        <p:spPr>
          <a:xfrm>
            <a:off x="7125077" y="4254694"/>
            <a:ext cx="1593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Sensitivity Analysis Library in Python [11]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A85AB6-160D-6D24-CF74-4129677DB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516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1" grpId="0"/>
      <p:bldP spid="7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FA170-2385-F2AC-CEBC-399E364E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812A04-D912-8C2E-44BD-4CDC7740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SE dominates, powertrain SPs grow influence later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5">
                <a:extLst>
                  <a:ext uri="{FF2B5EF4-FFF2-40B4-BE49-F238E27FC236}">
                    <a16:creationId xmlns:a16="http://schemas.microsoft.com/office/drawing/2014/main" id="{FA8A79F1-63DA-AB43-6840-A95243DC6EF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86847" y="785635"/>
                <a:ext cx="3913266" cy="40817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Battery specific energy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12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e>
                    </m:acc>
                    <m:r>
                      <a:rPr lang="en-US" sz="12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2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2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2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r>
                      <a:rPr lang="en-US" sz="12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2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12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2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for many key outputs</a:t>
                </a:r>
              </a:p>
              <a:p>
                <a:pPr lvl="1"/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Weight-energy feedback loop</a:t>
                </a:r>
              </a:p>
              <a:p>
                <a:pPr lvl="1"/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Dominant throughout the horizon</a:t>
                </a:r>
              </a:p>
              <a:p>
                <a:pPr marL="0" indent="0">
                  <a:buNone/>
                </a:pPr>
                <a:r>
                  <a:rPr lang="en-US" dirty="0"/>
                  <a:t>Motor and converter specific powers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b="1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12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e>
                    </m:acc>
                    <m:r>
                      <a:rPr lang="en-US" sz="12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2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2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2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12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2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2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2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lvl="1"/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Increasing influence in later years</a:t>
                </a:r>
              </a:p>
              <a:p>
                <a:pPr lvl="1"/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Propulsion weight and propeller sizing</a:t>
                </a:r>
              </a:p>
              <a:p>
                <a:pPr marL="0" indent="0">
                  <a:buNone/>
                </a:pPr>
                <a:r>
                  <a:rPr lang="en-US" dirty="0"/>
                  <a:t>Motor and converter efficiencies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b="1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12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e>
                    </m:acc>
                    <m:r>
                      <a:rPr lang="en-US" sz="12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2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2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2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lvl="1"/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Narrow envelopes near physical limits of unity (already very good today)</a:t>
                </a:r>
              </a:p>
            </p:txBody>
          </p:sp>
        </mc:Choice>
        <mc:Fallback xmlns="">
          <p:sp>
            <p:nvSpPr>
              <p:cNvPr id="26" name="Content Placeholder 25">
                <a:extLst>
                  <a:ext uri="{FF2B5EF4-FFF2-40B4-BE49-F238E27FC236}">
                    <a16:creationId xmlns:a16="http://schemas.microsoft.com/office/drawing/2014/main" id="{FA8A79F1-63DA-AB43-6840-A95243DC6E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86847" y="785635"/>
                <a:ext cx="3913266" cy="4081798"/>
              </a:xfrm>
              <a:blipFill>
                <a:blip r:embed="rId3"/>
                <a:stretch>
                  <a:fillRect l="-2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B01391BF-2439-22DF-21F2-11F85F55E4BC}"/>
              </a:ext>
            </a:extLst>
          </p:cNvPr>
          <p:cNvGrpSpPr/>
          <p:nvPr/>
        </p:nvGrpSpPr>
        <p:grpSpPr>
          <a:xfrm>
            <a:off x="4572000" y="776635"/>
            <a:ext cx="4283484" cy="4146769"/>
            <a:chOff x="4560788" y="744150"/>
            <a:chExt cx="4283484" cy="414676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2F45E8F-B3AD-9E8D-6685-57823E69715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26210" y="4522193"/>
              <a:ext cx="2880000" cy="368726"/>
              <a:chOff x="330547" y="1648106"/>
              <a:chExt cx="3906475" cy="500146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E0C7D351-2687-D0B8-66CD-72B7FC542A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7611" t="5132" r="45209" b="91493"/>
              <a:stretch>
                <a:fillRect/>
              </a:stretch>
            </p:blipFill>
            <p:spPr>
              <a:xfrm>
                <a:off x="330547" y="1648106"/>
                <a:ext cx="3906475" cy="267270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11DDEFF5-FD37-CF40-F9F8-3F50E51CC3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5238" t="5757" r="8132" b="91732"/>
              <a:stretch>
                <a:fillRect/>
              </a:stretch>
            </p:blipFill>
            <p:spPr>
              <a:xfrm>
                <a:off x="692110" y="1949455"/>
                <a:ext cx="3032911" cy="198797"/>
              </a:xfrm>
              <a:prstGeom prst="rect">
                <a:avLst/>
              </a:prstGeom>
            </p:spPr>
          </p:pic>
        </p:grp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9CE74EF-B7D4-BA23-37ED-CCCC76DE1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058" r="64556" b="63899"/>
            <a:stretch>
              <a:fillRect/>
            </a:stretch>
          </p:blipFill>
          <p:spPr>
            <a:xfrm>
              <a:off x="4571819" y="753150"/>
              <a:ext cx="2202061" cy="174600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EA923D3-4D6A-B3D4-D3D5-BB16ED73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051" t="6865" b="63712"/>
            <a:stretch>
              <a:fillRect/>
            </a:stretch>
          </p:blipFill>
          <p:spPr>
            <a:xfrm>
              <a:off x="6838127" y="744150"/>
              <a:ext cx="1979471" cy="17640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E24617B-C400-BF87-B35D-1C038E3CA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058" r="96038" b="63899"/>
            <a:stretch>
              <a:fillRect/>
            </a:stretch>
          </p:blipFill>
          <p:spPr>
            <a:xfrm>
              <a:off x="4560788" y="2545703"/>
              <a:ext cx="246133" cy="17460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121BC0F-5941-2F87-946F-4685B8540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5416" t="68020" r="32563"/>
            <a:stretch>
              <a:fillRect/>
            </a:stretch>
          </p:blipFill>
          <p:spPr>
            <a:xfrm>
              <a:off x="4762323" y="2538671"/>
              <a:ext cx="2011557" cy="194400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11AE974-78A5-4871-0EB8-383667E29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6034" t="37668" r="32116" b="33113"/>
            <a:stretch>
              <a:fillRect/>
            </a:stretch>
          </p:blipFill>
          <p:spPr>
            <a:xfrm>
              <a:off x="6830441" y="2544092"/>
              <a:ext cx="1987157" cy="176400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022DAE7C-4A01-3E9F-8D17-63EE27B53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5354" t="96278" r="32661"/>
            <a:stretch>
              <a:fillRect/>
            </a:stretch>
          </p:blipFill>
          <p:spPr>
            <a:xfrm>
              <a:off x="6803766" y="4268236"/>
              <a:ext cx="2040506" cy="227068"/>
            </a:xfrm>
            <a:prstGeom prst="rect">
              <a:avLst/>
            </a:prstGeom>
          </p:spPr>
        </p:pic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F4B669-1E3E-CE43-2842-BCDA5E71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144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8573A-5515-4037-FDC4-2BE6754BD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FD3F83-CFDD-AF6D-8FA2-C34E3E2A8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u="sng" dirty="0"/>
              <a:t>Part IV</a:t>
            </a:r>
            <a:br>
              <a:rPr lang="en-US" dirty="0"/>
            </a:br>
            <a:r>
              <a:rPr lang="en-US" dirty="0"/>
              <a:t>When should the aircraft evolve?</a:t>
            </a:r>
          </a:p>
        </p:txBody>
      </p:sp>
    </p:spTree>
    <p:extLst>
      <p:ext uri="{BB962C8B-B14F-4D97-AF65-F5344CB8AC3E}">
        <p14:creationId xmlns:p14="http://schemas.microsoft.com/office/powerpoint/2010/main" val="597679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9E7-3882-30A3-CF35-1C622B355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6D4DB2-1BA4-8383-3604-0F1355C42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Utopian benchmark and future-aware penalty metric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4B95E93-9FD2-1C0D-2560-44609FBBF3A7}"/>
              </a:ext>
            </a:extLst>
          </p:cNvPr>
          <p:cNvSpPr txBox="1">
            <a:spLocks/>
          </p:cNvSpPr>
          <p:nvPr/>
        </p:nvSpPr>
        <p:spPr>
          <a:xfrm>
            <a:off x="4538709" y="1157274"/>
            <a:ext cx="994788" cy="815140"/>
          </a:xfrm>
          <a:prstGeom prst="rect">
            <a:avLst/>
          </a:prstGeom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Objective</a:t>
            </a:r>
          </a:p>
          <a:p>
            <a:pPr marL="0" indent="0" algn="ctr" fontAlgn="auto"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45DE54-CEE1-44BD-3E66-B0EE74487552}"/>
              </a:ext>
            </a:extLst>
          </p:cNvPr>
          <p:cNvSpPr txBox="1"/>
          <p:nvPr/>
        </p:nvSpPr>
        <p:spPr>
          <a:xfrm>
            <a:off x="5640682" y="2402005"/>
            <a:ext cx="625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EIS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A8AA8F-A31A-8A1C-E77F-03001646E384}"/>
              </a:ext>
            </a:extLst>
          </p:cNvPr>
          <p:cNvSpPr txBox="1"/>
          <p:nvPr/>
        </p:nvSpPr>
        <p:spPr>
          <a:xfrm>
            <a:off x="7348939" y="2389785"/>
            <a:ext cx="625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EOP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6CD290D-ACFD-2AA5-DB5A-5CBF16FD131A}"/>
              </a:ext>
            </a:extLst>
          </p:cNvPr>
          <p:cNvSpPr txBox="1">
            <a:spLocks/>
          </p:cNvSpPr>
          <p:nvPr/>
        </p:nvSpPr>
        <p:spPr>
          <a:xfrm>
            <a:off x="5176817" y="2788188"/>
            <a:ext cx="3306958" cy="601899"/>
          </a:xfrm>
          <a:prstGeom prst="rect">
            <a:avLst/>
          </a:prstGeom>
          <a:ln>
            <a:noFill/>
          </a:ln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00000"/>
              </a:lnSpc>
              <a:spcAft>
                <a:spcPts val="0"/>
              </a:spcAft>
              <a:buFont typeface="Arial"/>
              <a:buNone/>
            </a:pPr>
            <a:r>
              <a:rPr lang="en-US" sz="1400" b="1" dirty="0">
                <a:solidFill>
                  <a:schemeClr val="tx2"/>
                </a:solidFill>
              </a:rPr>
              <a:t>continuous retrofit:</a:t>
            </a:r>
          </a:p>
          <a:p>
            <a:pPr marL="0" indent="0" algn="ctr" fontAlgn="auto">
              <a:lnSpc>
                <a:spcPct val="100000"/>
              </a:lnSpc>
              <a:spcAft>
                <a:spcPts val="0"/>
              </a:spcAft>
              <a:buFont typeface="Arial"/>
              <a:buNone/>
            </a:pPr>
            <a:r>
              <a:rPr lang="en-US" sz="1400" i="1" dirty="0">
                <a:solidFill>
                  <a:schemeClr val="tx2"/>
                </a:solidFill>
              </a:rPr>
              <a:t>fixed</a:t>
            </a:r>
            <a:r>
              <a:rPr lang="en-US" sz="1400" dirty="0">
                <a:solidFill>
                  <a:schemeClr val="tx2"/>
                </a:solidFill>
              </a:rPr>
              <a:t> design, </a:t>
            </a:r>
            <a:r>
              <a:rPr lang="en-US" sz="1400" i="1" dirty="0">
                <a:solidFill>
                  <a:schemeClr val="tx2"/>
                </a:solidFill>
              </a:rPr>
              <a:t>new</a:t>
            </a:r>
            <a:r>
              <a:rPr lang="en-US" sz="1400" dirty="0">
                <a:solidFill>
                  <a:schemeClr val="tx2"/>
                </a:solidFill>
              </a:rPr>
              <a:t> technology every year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0E3B5BE-FC20-0194-BAD5-EDEF28D0F7EF}"/>
              </a:ext>
            </a:extLst>
          </p:cNvPr>
          <p:cNvSpPr txBox="1">
            <a:spLocks/>
          </p:cNvSpPr>
          <p:nvPr/>
        </p:nvSpPr>
        <p:spPr>
          <a:xfrm>
            <a:off x="996143" y="2810827"/>
            <a:ext cx="3306958" cy="557390"/>
          </a:xfrm>
          <a:prstGeom prst="rect">
            <a:avLst/>
          </a:prstGeom>
          <a:ln>
            <a:noFill/>
          </a:ln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00000"/>
              </a:lnSpc>
              <a:spcAft>
                <a:spcPts val="0"/>
              </a:spcAft>
              <a:buFont typeface="Arial"/>
              <a:buNone/>
            </a:pPr>
            <a:r>
              <a:rPr lang="en-US" sz="1400" b="1" dirty="0">
                <a:solidFill>
                  <a:srgbClr val="00B050"/>
                </a:solidFill>
              </a:rPr>
              <a:t>utopian benchmark: </a:t>
            </a:r>
          </a:p>
          <a:p>
            <a:pPr marL="0" indent="0" algn="ctr" fontAlgn="auto">
              <a:lnSpc>
                <a:spcPct val="100000"/>
              </a:lnSpc>
              <a:spcAft>
                <a:spcPts val="0"/>
              </a:spcAft>
              <a:buFont typeface="Arial"/>
              <a:buNone/>
            </a:pPr>
            <a:r>
              <a:rPr lang="en-US" sz="1400" i="1" dirty="0">
                <a:solidFill>
                  <a:srgbClr val="00B050"/>
                </a:solidFill>
              </a:rPr>
              <a:t>new</a:t>
            </a:r>
            <a:r>
              <a:rPr lang="en-US" sz="1400" dirty="0">
                <a:solidFill>
                  <a:srgbClr val="00B050"/>
                </a:solidFill>
              </a:rPr>
              <a:t> design, </a:t>
            </a:r>
            <a:r>
              <a:rPr lang="en-US" sz="1400" i="1" dirty="0">
                <a:solidFill>
                  <a:srgbClr val="00B050"/>
                </a:solidFill>
              </a:rPr>
              <a:t>new</a:t>
            </a:r>
            <a:r>
              <a:rPr lang="en-US" sz="1400" dirty="0">
                <a:solidFill>
                  <a:srgbClr val="00B050"/>
                </a:solidFill>
              </a:rPr>
              <a:t> technology every year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80E7D60-5BE2-5378-34E2-B5364C12421C}"/>
              </a:ext>
            </a:extLst>
          </p:cNvPr>
          <p:cNvSpPr txBox="1">
            <a:spLocks/>
          </p:cNvSpPr>
          <p:nvPr/>
        </p:nvSpPr>
        <p:spPr>
          <a:xfrm>
            <a:off x="6830296" y="864002"/>
            <a:ext cx="1663188" cy="470919"/>
          </a:xfrm>
          <a:prstGeom prst="rect">
            <a:avLst/>
          </a:prstGeom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technological obsolescence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DBF3E4AF-9063-39E6-E340-B563F3C63BD0}"/>
              </a:ext>
            </a:extLst>
          </p:cNvPr>
          <p:cNvSpPr/>
          <p:nvPr/>
        </p:nvSpPr>
        <p:spPr>
          <a:xfrm>
            <a:off x="5910990" y="1148937"/>
            <a:ext cx="1677956" cy="973614"/>
          </a:xfrm>
          <a:custGeom>
            <a:avLst/>
            <a:gdLst>
              <a:gd name="csX0" fmla="*/ 0 w 1707160"/>
              <a:gd name="csY0" fmla="*/ 0 h 989901"/>
              <a:gd name="csX1" fmla="*/ 8389 w 1707160"/>
              <a:gd name="csY1" fmla="*/ 58723 h 989901"/>
              <a:gd name="csX2" fmla="*/ 12584 w 1707160"/>
              <a:gd name="csY2" fmla="*/ 142613 h 989901"/>
              <a:gd name="csX3" fmla="*/ 20973 w 1707160"/>
              <a:gd name="csY3" fmla="*/ 192947 h 989901"/>
              <a:gd name="csX4" fmla="*/ 33556 w 1707160"/>
              <a:gd name="csY4" fmla="*/ 255864 h 989901"/>
              <a:gd name="csX5" fmla="*/ 58723 w 1707160"/>
              <a:gd name="csY5" fmla="*/ 318782 h 989901"/>
              <a:gd name="csX6" fmla="*/ 92279 w 1707160"/>
              <a:gd name="csY6" fmla="*/ 373310 h 989901"/>
              <a:gd name="csX7" fmla="*/ 121640 w 1707160"/>
              <a:gd name="csY7" fmla="*/ 415255 h 989901"/>
              <a:gd name="csX8" fmla="*/ 163585 w 1707160"/>
              <a:gd name="csY8" fmla="*/ 469784 h 989901"/>
              <a:gd name="csX9" fmla="*/ 213919 w 1707160"/>
              <a:gd name="csY9" fmla="*/ 515923 h 989901"/>
              <a:gd name="csX10" fmla="*/ 264253 w 1707160"/>
              <a:gd name="csY10" fmla="*/ 557868 h 989901"/>
              <a:gd name="csX11" fmla="*/ 339754 w 1707160"/>
              <a:gd name="csY11" fmla="*/ 612396 h 989901"/>
              <a:gd name="csX12" fmla="*/ 419450 w 1707160"/>
              <a:gd name="csY12" fmla="*/ 658536 h 989901"/>
              <a:gd name="csX13" fmla="*/ 541090 w 1707160"/>
              <a:gd name="csY13" fmla="*/ 725648 h 989901"/>
              <a:gd name="csX14" fmla="*/ 633369 w 1707160"/>
              <a:gd name="csY14" fmla="*/ 759204 h 989901"/>
              <a:gd name="csX15" fmla="*/ 755009 w 1707160"/>
              <a:gd name="csY15" fmla="*/ 805343 h 989901"/>
              <a:gd name="csX16" fmla="*/ 876650 w 1707160"/>
              <a:gd name="csY16" fmla="*/ 843094 h 989901"/>
              <a:gd name="csX17" fmla="*/ 1027651 w 1707160"/>
              <a:gd name="csY17" fmla="*/ 876650 h 989901"/>
              <a:gd name="csX18" fmla="*/ 1140903 w 1707160"/>
              <a:gd name="csY18" fmla="*/ 893428 h 989901"/>
              <a:gd name="csX19" fmla="*/ 1245765 w 1707160"/>
              <a:gd name="csY19" fmla="*/ 914400 h 989901"/>
              <a:gd name="csX20" fmla="*/ 1375795 w 1707160"/>
              <a:gd name="csY20" fmla="*/ 935373 h 989901"/>
              <a:gd name="csX21" fmla="*/ 1468073 w 1707160"/>
              <a:gd name="csY21" fmla="*/ 956345 h 989901"/>
              <a:gd name="csX22" fmla="*/ 1581325 w 1707160"/>
              <a:gd name="csY22" fmla="*/ 968928 h 989901"/>
              <a:gd name="csX23" fmla="*/ 1665215 w 1707160"/>
              <a:gd name="csY23" fmla="*/ 985706 h 989901"/>
              <a:gd name="csX24" fmla="*/ 1665215 w 1707160"/>
              <a:gd name="csY24" fmla="*/ 985706 h 989901"/>
              <a:gd name="csX25" fmla="*/ 1665215 w 1707160"/>
              <a:gd name="csY25" fmla="*/ 985706 h 989901"/>
              <a:gd name="csX26" fmla="*/ 1707160 w 1707160"/>
              <a:gd name="csY26" fmla="*/ 989901 h 989901"/>
              <a:gd name="csX27" fmla="*/ 1698771 w 1707160"/>
              <a:gd name="csY27" fmla="*/ 478173 h 989901"/>
              <a:gd name="csX28" fmla="*/ 1610686 w 1707160"/>
              <a:gd name="csY28" fmla="*/ 478173 h 989901"/>
              <a:gd name="csX29" fmla="*/ 1539380 w 1707160"/>
              <a:gd name="csY29" fmla="*/ 473978 h 989901"/>
              <a:gd name="csX30" fmla="*/ 1447101 w 1707160"/>
              <a:gd name="csY30" fmla="*/ 469784 h 989901"/>
              <a:gd name="csX31" fmla="*/ 1359017 w 1707160"/>
              <a:gd name="csY31" fmla="*/ 469784 h 989901"/>
              <a:gd name="csX32" fmla="*/ 1241571 w 1707160"/>
              <a:gd name="csY32" fmla="*/ 457200 h 989901"/>
              <a:gd name="csX33" fmla="*/ 1145097 w 1707160"/>
              <a:gd name="csY33" fmla="*/ 448811 h 989901"/>
              <a:gd name="csX34" fmla="*/ 1044429 w 1707160"/>
              <a:gd name="csY34" fmla="*/ 444617 h 989901"/>
              <a:gd name="csX35" fmla="*/ 947956 w 1707160"/>
              <a:gd name="csY35" fmla="*/ 427839 h 989901"/>
              <a:gd name="csX36" fmla="*/ 830510 w 1707160"/>
              <a:gd name="csY36" fmla="*/ 419450 h 989901"/>
              <a:gd name="csX37" fmla="*/ 721453 w 1707160"/>
              <a:gd name="csY37" fmla="*/ 398477 h 989901"/>
              <a:gd name="csX38" fmla="*/ 624980 w 1707160"/>
              <a:gd name="csY38" fmla="*/ 385894 h 989901"/>
              <a:gd name="csX39" fmla="*/ 545284 w 1707160"/>
              <a:gd name="csY39" fmla="*/ 373310 h 989901"/>
              <a:gd name="csX40" fmla="*/ 444617 w 1707160"/>
              <a:gd name="csY40" fmla="*/ 343949 h 989901"/>
              <a:gd name="csX41" fmla="*/ 369116 w 1707160"/>
              <a:gd name="csY41" fmla="*/ 331365 h 989901"/>
              <a:gd name="csX42" fmla="*/ 297809 w 1707160"/>
              <a:gd name="csY42" fmla="*/ 306198 h 989901"/>
              <a:gd name="csX43" fmla="*/ 234892 w 1707160"/>
              <a:gd name="csY43" fmla="*/ 268448 h 989901"/>
              <a:gd name="csX44" fmla="*/ 167780 w 1707160"/>
              <a:gd name="csY44" fmla="*/ 239086 h 989901"/>
              <a:gd name="csX45" fmla="*/ 117446 w 1707160"/>
              <a:gd name="csY45" fmla="*/ 197141 h 989901"/>
              <a:gd name="csX46" fmla="*/ 67112 w 1707160"/>
              <a:gd name="csY46" fmla="*/ 146807 h 989901"/>
              <a:gd name="csX47" fmla="*/ 46140 w 1707160"/>
              <a:gd name="csY47" fmla="*/ 113251 h 989901"/>
              <a:gd name="csX48" fmla="*/ 0 w 1707160"/>
              <a:gd name="csY48" fmla="*/ 0 h 9899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1707160" h="989901">
                <a:moveTo>
                  <a:pt x="0" y="0"/>
                </a:moveTo>
                <a:lnTo>
                  <a:pt x="8389" y="58723"/>
                </a:lnTo>
                <a:lnTo>
                  <a:pt x="12584" y="142613"/>
                </a:lnTo>
                <a:lnTo>
                  <a:pt x="20973" y="192947"/>
                </a:lnTo>
                <a:lnTo>
                  <a:pt x="33556" y="255864"/>
                </a:lnTo>
                <a:lnTo>
                  <a:pt x="58723" y="318782"/>
                </a:lnTo>
                <a:lnTo>
                  <a:pt x="92279" y="373310"/>
                </a:lnTo>
                <a:lnTo>
                  <a:pt x="121640" y="415255"/>
                </a:lnTo>
                <a:lnTo>
                  <a:pt x="163585" y="469784"/>
                </a:lnTo>
                <a:lnTo>
                  <a:pt x="213919" y="515923"/>
                </a:lnTo>
                <a:lnTo>
                  <a:pt x="264253" y="557868"/>
                </a:lnTo>
                <a:lnTo>
                  <a:pt x="339754" y="612396"/>
                </a:lnTo>
                <a:lnTo>
                  <a:pt x="419450" y="658536"/>
                </a:lnTo>
                <a:lnTo>
                  <a:pt x="541090" y="725648"/>
                </a:lnTo>
                <a:lnTo>
                  <a:pt x="633369" y="759204"/>
                </a:lnTo>
                <a:lnTo>
                  <a:pt x="755009" y="805343"/>
                </a:lnTo>
                <a:lnTo>
                  <a:pt x="876650" y="843094"/>
                </a:lnTo>
                <a:lnTo>
                  <a:pt x="1027651" y="876650"/>
                </a:lnTo>
                <a:lnTo>
                  <a:pt x="1140903" y="893428"/>
                </a:lnTo>
                <a:lnTo>
                  <a:pt x="1245765" y="914400"/>
                </a:lnTo>
                <a:lnTo>
                  <a:pt x="1375795" y="935373"/>
                </a:lnTo>
                <a:lnTo>
                  <a:pt x="1468073" y="956345"/>
                </a:lnTo>
                <a:lnTo>
                  <a:pt x="1581325" y="968928"/>
                </a:lnTo>
                <a:lnTo>
                  <a:pt x="1665215" y="985706"/>
                </a:lnTo>
                <a:lnTo>
                  <a:pt x="1665215" y="985706"/>
                </a:lnTo>
                <a:lnTo>
                  <a:pt x="1665215" y="985706"/>
                </a:lnTo>
                <a:lnTo>
                  <a:pt x="1707160" y="989901"/>
                </a:lnTo>
                <a:lnTo>
                  <a:pt x="1698771" y="478173"/>
                </a:lnTo>
                <a:lnTo>
                  <a:pt x="1610686" y="478173"/>
                </a:lnTo>
                <a:lnTo>
                  <a:pt x="1539380" y="473978"/>
                </a:lnTo>
                <a:lnTo>
                  <a:pt x="1447101" y="469784"/>
                </a:lnTo>
                <a:lnTo>
                  <a:pt x="1359017" y="469784"/>
                </a:lnTo>
                <a:lnTo>
                  <a:pt x="1241571" y="457200"/>
                </a:lnTo>
                <a:lnTo>
                  <a:pt x="1145097" y="448811"/>
                </a:lnTo>
                <a:lnTo>
                  <a:pt x="1044429" y="444617"/>
                </a:lnTo>
                <a:lnTo>
                  <a:pt x="947956" y="427839"/>
                </a:lnTo>
                <a:lnTo>
                  <a:pt x="830510" y="419450"/>
                </a:lnTo>
                <a:lnTo>
                  <a:pt x="721453" y="398477"/>
                </a:lnTo>
                <a:lnTo>
                  <a:pt x="624980" y="385894"/>
                </a:lnTo>
                <a:lnTo>
                  <a:pt x="545284" y="373310"/>
                </a:lnTo>
                <a:lnTo>
                  <a:pt x="444617" y="343949"/>
                </a:lnTo>
                <a:lnTo>
                  <a:pt x="369116" y="331365"/>
                </a:lnTo>
                <a:lnTo>
                  <a:pt x="297809" y="306198"/>
                </a:lnTo>
                <a:lnTo>
                  <a:pt x="234892" y="268448"/>
                </a:lnTo>
                <a:lnTo>
                  <a:pt x="167780" y="239086"/>
                </a:lnTo>
                <a:lnTo>
                  <a:pt x="117446" y="197141"/>
                </a:lnTo>
                <a:lnTo>
                  <a:pt x="67112" y="146807"/>
                </a:lnTo>
                <a:lnTo>
                  <a:pt x="46140" y="11325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CCAB857-3DFF-9C28-9889-E82C4DC50F05}"/>
              </a:ext>
            </a:extLst>
          </p:cNvPr>
          <p:cNvCxnSpPr>
            <a:cxnSpLocks/>
          </p:cNvCxnSpPr>
          <p:nvPr/>
        </p:nvCxnSpPr>
        <p:spPr>
          <a:xfrm flipV="1">
            <a:off x="5500442" y="744255"/>
            <a:ext cx="0" cy="162811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13DB8F5C-4FF6-2DF8-7D37-1265A0770590}"/>
              </a:ext>
            </a:extLst>
          </p:cNvPr>
          <p:cNvSpPr txBox="1">
            <a:spLocks/>
          </p:cNvSpPr>
          <p:nvPr/>
        </p:nvSpPr>
        <p:spPr>
          <a:xfrm>
            <a:off x="353122" y="1185136"/>
            <a:ext cx="994788" cy="815140"/>
          </a:xfrm>
          <a:prstGeom prst="rect">
            <a:avLst/>
          </a:prstGeom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Objective</a:t>
            </a:r>
          </a:p>
          <a:p>
            <a:pPr marL="0" indent="0" algn="ctr" fontAlgn="auto"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function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DB5C57-B856-61B7-3060-35B3EA2E83E5}"/>
              </a:ext>
            </a:extLst>
          </p:cNvPr>
          <p:cNvSpPr txBox="1"/>
          <p:nvPr/>
        </p:nvSpPr>
        <p:spPr>
          <a:xfrm>
            <a:off x="1397411" y="2429867"/>
            <a:ext cx="625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EIS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FC7B483-68AF-9B04-07E3-C5BBD3EB788F}"/>
              </a:ext>
            </a:extLst>
          </p:cNvPr>
          <p:cNvSpPr txBox="1"/>
          <p:nvPr/>
        </p:nvSpPr>
        <p:spPr>
          <a:xfrm>
            <a:off x="3208769" y="2437100"/>
            <a:ext cx="625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EOP</a:t>
            </a:r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D7519615-473E-765C-380A-1933A783443F}"/>
              </a:ext>
            </a:extLst>
          </p:cNvPr>
          <p:cNvSpPr/>
          <p:nvPr/>
        </p:nvSpPr>
        <p:spPr>
          <a:xfrm>
            <a:off x="1735095" y="1185136"/>
            <a:ext cx="1704975" cy="1215095"/>
          </a:xfrm>
          <a:custGeom>
            <a:avLst/>
            <a:gdLst>
              <a:gd name="csX0" fmla="*/ 0 w 1704975"/>
              <a:gd name="csY0" fmla="*/ 0 h 1241425"/>
              <a:gd name="csX1" fmla="*/ 9525 w 1704975"/>
              <a:gd name="csY1" fmla="*/ 1241425 h 1241425"/>
              <a:gd name="csX2" fmla="*/ 1704975 w 1704975"/>
              <a:gd name="csY2" fmla="*/ 1238250 h 1241425"/>
              <a:gd name="csX3" fmla="*/ 1698625 w 1704975"/>
              <a:gd name="csY3" fmla="*/ 977900 h 1241425"/>
              <a:gd name="csX4" fmla="*/ 1654175 w 1704975"/>
              <a:gd name="csY4" fmla="*/ 974725 h 1241425"/>
              <a:gd name="csX5" fmla="*/ 1603375 w 1704975"/>
              <a:gd name="csY5" fmla="*/ 965200 h 1241425"/>
              <a:gd name="csX6" fmla="*/ 1543050 w 1704975"/>
              <a:gd name="csY6" fmla="*/ 965200 h 1241425"/>
              <a:gd name="csX7" fmla="*/ 1450975 w 1704975"/>
              <a:gd name="csY7" fmla="*/ 946150 h 1241425"/>
              <a:gd name="csX8" fmla="*/ 1362075 w 1704975"/>
              <a:gd name="csY8" fmla="*/ 930275 h 1241425"/>
              <a:gd name="csX9" fmla="*/ 1263650 w 1704975"/>
              <a:gd name="csY9" fmla="*/ 914400 h 1241425"/>
              <a:gd name="csX10" fmla="*/ 1120775 w 1704975"/>
              <a:gd name="csY10" fmla="*/ 885825 h 1241425"/>
              <a:gd name="csX11" fmla="*/ 1025525 w 1704975"/>
              <a:gd name="csY11" fmla="*/ 866775 h 1241425"/>
              <a:gd name="csX12" fmla="*/ 917575 w 1704975"/>
              <a:gd name="csY12" fmla="*/ 844550 h 1241425"/>
              <a:gd name="csX13" fmla="*/ 771525 w 1704975"/>
              <a:gd name="csY13" fmla="*/ 800100 h 1241425"/>
              <a:gd name="csX14" fmla="*/ 695325 w 1704975"/>
              <a:gd name="csY14" fmla="*/ 774700 h 1241425"/>
              <a:gd name="csX15" fmla="*/ 638175 w 1704975"/>
              <a:gd name="csY15" fmla="*/ 749300 h 1241425"/>
              <a:gd name="csX16" fmla="*/ 552450 w 1704975"/>
              <a:gd name="csY16" fmla="*/ 720725 h 1241425"/>
              <a:gd name="csX17" fmla="*/ 482600 w 1704975"/>
              <a:gd name="csY17" fmla="*/ 685800 h 1241425"/>
              <a:gd name="csX18" fmla="*/ 396875 w 1704975"/>
              <a:gd name="csY18" fmla="*/ 641350 h 1241425"/>
              <a:gd name="csX19" fmla="*/ 330200 w 1704975"/>
              <a:gd name="csY19" fmla="*/ 609600 h 1241425"/>
              <a:gd name="csX20" fmla="*/ 288925 w 1704975"/>
              <a:gd name="csY20" fmla="*/ 574675 h 1241425"/>
              <a:gd name="csX21" fmla="*/ 250825 w 1704975"/>
              <a:gd name="csY21" fmla="*/ 549275 h 1241425"/>
              <a:gd name="csX22" fmla="*/ 215900 w 1704975"/>
              <a:gd name="csY22" fmla="*/ 514350 h 1241425"/>
              <a:gd name="csX23" fmla="*/ 174625 w 1704975"/>
              <a:gd name="csY23" fmla="*/ 473075 h 1241425"/>
              <a:gd name="csX24" fmla="*/ 133350 w 1704975"/>
              <a:gd name="csY24" fmla="*/ 425450 h 1241425"/>
              <a:gd name="csX25" fmla="*/ 104775 w 1704975"/>
              <a:gd name="csY25" fmla="*/ 381000 h 1241425"/>
              <a:gd name="csX26" fmla="*/ 69850 w 1704975"/>
              <a:gd name="csY26" fmla="*/ 323850 h 1241425"/>
              <a:gd name="csX27" fmla="*/ 38100 w 1704975"/>
              <a:gd name="csY27" fmla="*/ 276225 h 1241425"/>
              <a:gd name="csX28" fmla="*/ 22225 w 1704975"/>
              <a:gd name="csY28" fmla="*/ 206375 h 1241425"/>
              <a:gd name="csX29" fmla="*/ 12700 w 1704975"/>
              <a:gd name="csY29" fmla="*/ 142875 h 1241425"/>
              <a:gd name="csX30" fmla="*/ 0 w 1704975"/>
              <a:gd name="csY30" fmla="*/ 0 h 1241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704975" h="1241425">
                <a:moveTo>
                  <a:pt x="0" y="0"/>
                </a:moveTo>
                <a:lnTo>
                  <a:pt x="9525" y="1241425"/>
                </a:lnTo>
                <a:lnTo>
                  <a:pt x="1704975" y="1238250"/>
                </a:lnTo>
                <a:lnTo>
                  <a:pt x="1698625" y="977900"/>
                </a:lnTo>
                <a:lnTo>
                  <a:pt x="1654175" y="974725"/>
                </a:lnTo>
                <a:lnTo>
                  <a:pt x="1603375" y="965200"/>
                </a:lnTo>
                <a:lnTo>
                  <a:pt x="1543050" y="965200"/>
                </a:lnTo>
                <a:lnTo>
                  <a:pt x="1450975" y="946150"/>
                </a:lnTo>
                <a:lnTo>
                  <a:pt x="1362075" y="930275"/>
                </a:lnTo>
                <a:lnTo>
                  <a:pt x="1263650" y="914400"/>
                </a:lnTo>
                <a:lnTo>
                  <a:pt x="1120775" y="885825"/>
                </a:lnTo>
                <a:lnTo>
                  <a:pt x="1025525" y="866775"/>
                </a:lnTo>
                <a:lnTo>
                  <a:pt x="917575" y="844550"/>
                </a:lnTo>
                <a:lnTo>
                  <a:pt x="771525" y="800100"/>
                </a:lnTo>
                <a:lnTo>
                  <a:pt x="695325" y="774700"/>
                </a:lnTo>
                <a:lnTo>
                  <a:pt x="638175" y="749300"/>
                </a:lnTo>
                <a:lnTo>
                  <a:pt x="552450" y="720725"/>
                </a:lnTo>
                <a:lnTo>
                  <a:pt x="482600" y="685800"/>
                </a:lnTo>
                <a:lnTo>
                  <a:pt x="396875" y="641350"/>
                </a:lnTo>
                <a:lnTo>
                  <a:pt x="330200" y="609600"/>
                </a:lnTo>
                <a:lnTo>
                  <a:pt x="288925" y="574675"/>
                </a:lnTo>
                <a:lnTo>
                  <a:pt x="250825" y="549275"/>
                </a:lnTo>
                <a:lnTo>
                  <a:pt x="215900" y="514350"/>
                </a:lnTo>
                <a:lnTo>
                  <a:pt x="174625" y="473075"/>
                </a:lnTo>
                <a:lnTo>
                  <a:pt x="133350" y="425450"/>
                </a:lnTo>
                <a:lnTo>
                  <a:pt x="104775" y="381000"/>
                </a:lnTo>
                <a:lnTo>
                  <a:pt x="69850" y="323850"/>
                </a:lnTo>
                <a:lnTo>
                  <a:pt x="38100" y="276225"/>
                </a:lnTo>
                <a:lnTo>
                  <a:pt x="22225" y="206375"/>
                </a:lnTo>
                <a:lnTo>
                  <a:pt x="12700" y="142875"/>
                </a:lnTo>
                <a:lnTo>
                  <a:pt x="0" y="0"/>
                </a:lnTo>
                <a:close/>
              </a:path>
            </a:pathLst>
          </a:custGeom>
          <a:solidFill>
            <a:srgbClr val="92D050">
              <a:alpha val="50196"/>
            </a:srgbClr>
          </a:solidFill>
          <a:ln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E15D0C6-A009-2C5F-FD15-92E9B882D7E1}"/>
              </a:ext>
            </a:extLst>
          </p:cNvPr>
          <p:cNvCxnSpPr>
            <a:cxnSpLocks/>
          </p:cNvCxnSpPr>
          <p:nvPr/>
        </p:nvCxnSpPr>
        <p:spPr>
          <a:xfrm>
            <a:off x="1314855" y="2400232"/>
            <a:ext cx="278277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F5CB349-2E0B-A83A-96FC-722483CF0061}"/>
              </a:ext>
            </a:extLst>
          </p:cNvPr>
          <p:cNvCxnSpPr>
            <a:cxnSpLocks/>
          </p:cNvCxnSpPr>
          <p:nvPr/>
        </p:nvCxnSpPr>
        <p:spPr>
          <a:xfrm flipV="1">
            <a:off x="1314855" y="772117"/>
            <a:ext cx="0" cy="162811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2B05BD2-45AA-1F36-4682-9A6CFDDD72A7}"/>
              </a:ext>
            </a:extLst>
          </p:cNvPr>
          <p:cNvCxnSpPr>
            <a:cxnSpLocks/>
          </p:cNvCxnSpPr>
          <p:nvPr/>
        </p:nvCxnSpPr>
        <p:spPr>
          <a:xfrm>
            <a:off x="1732654" y="1147579"/>
            <a:ext cx="9053" cy="1263292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3613836-3EB8-FD14-6ADF-BEF9432AF295}"/>
              </a:ext>
            </a:extLst>
          </p:cNvPr>
          <p:cNvCxnSpPr>
            <a:cxnSpLocks/>
            <a:stCxn id="80" idx="8"/>
            <a:endCxn id="74" idx="2"/>
          </p:cNvCxnSpPr>
          <p:nvPr/>
        </p:nvCxnSpPr>
        <p:spPr>
          <a:xfrm>
            <a:off x="3420646" y="2131993"/>
            <a:ext cx="19424" cy="26513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>
            <a:extLst>
              <a:ext uri="{FF2B5EF4-FFF2-40B4-BE49-F238E27FC236}">
                <a16:creationId xmlns:a16="http://schemas.microsoft.com/office/drawing/2014/main" id="{88ED7BCF-F620-7C13-C174-A946E468900D}"/>
              </a:ext>
            </a:extLst>
          </p:cNvPr>
          <p:cNvSpPr/>
          <p:nvPr/>
        </p:nvSpPr>
        <p:spPr>
          <a:xfrm>
            <a:off x="1728268" y="1147123"/>
            <a:ext cx="1692991" cy="988883"/>
          </a:xfrm>
          <a:custGeom>
            <a:avLst/>
            <a:gdLst>
              <a:gd name="csX0" fmla="*/ 0 w 1684554"/>
              <a:gd name="csY0" fmla="*/ 0 h 799951"/>
              <a:gd name="csX1" fmla="*/ 36214 w 1684554"/>
              <a:gd name="csY1" fmla="*/ 208230 h 799951"/>
              <a:gd name="csX2" fmla="*/ 126748 w 1684554"/>
              <a:gd name="csY2" fmla="*/ 334978 h 799951"/>
              <a:gd name="csX3" fmla="*/ 235390 w 1684554"/>
              <a:gd name="csY3" fmla="*/ 434566 h 799951"/>
              <a:gd name="csX4" fmla="*/ 371192 w 1684554"/>
              <a:gd name="csY4" fmla="*/ 516047 h 799951"/>
              <a:gd name="csX5" fmla="*/ 633742 w 1684554"/>
              <a:gd name="csY5" fmla="*/ 615636 h 799951"/>
              <a:gd name="csX6" fmla="*/ 950614 w 1684554"/>
              <a:gd name="csY6" fmla="*/ 697117 h 799951"/>
              <a:gd name="csX7" fmla="*/ 1566249 w 1684554"/>
              <a:gd name="csY7" fmla="*/ 787651 h 799951"/>
              <a:gd name="csX8" fmla="*/ 1683944 w 1684554"/>
              <a:gd name="csY8" fmla="*/ 796705 h 7999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84554" h="799951">
                <a:moveTo>
                  <a:pt x="0" y="0"/>
                </a:moveTo>
                <a:cubicBezTo>
                  <a:pt x="7544" y="76200"/>
                  <a:pt x="15089" y="152401"/>
                  <a:pt x="36214" y="208230"/>
                </a:cubicBezTo>
                <a:cubicBezTo>
                  <a:pt x="57339" y="264059"/>
                  <a:pt x="93552" y="297255"/>
                  <a:pt x="126748" y="334978"/>
                </a:cubicBezTo>
                <a:cubicBezTo>
                  <a:pt x="159944" y="372701"/>
                  <a:pt x="194649" y="404388"/>
                  <a:pt x="235390" y="434566"/>
                </a:cubicBezTo>
                <a:cubicBezTo>
                  <a:pt x="276131" y="464744"/>
                  <a:pt x="304800" y="485869"/>
                  <a:pt x="371192" y="516047"/>
                </a:cubicBezTo>
                <a:cubicBezTo>
                  <a:pt x="437584" y="546225"/>
                  <a:pt x="537172" y="585458"/>
                  <a:pt x="633742" y="615636"/>
                </a:cubicBezTo>
                <a:cubicBezTo>
                  <a:pt x="730312" y="645814"/>
                  <a:pt x="795196" y="668448"/>
                  <a:pt x="950614" y="697117"/>
                </a:cubicBezTo>
                <a:cubicBezTo>
                  <a:pt x="1106032" y="725786"/>
                  <a:pt x="1444027" y="771053"/>
                  <a:pt x="1566249" y="787651"/>
                </a:cubicBezTo>
                <a:cubicBezTo>
                  <a:pt x="1688471" y="804249"/>
                  <a:pt x="1686207" y="800477"/>
                  <a:pt x="1683944" y="796705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2B7322F7-7EF5-5587-0D12-C37FE5C4DD53}"/>
              </a:ext>
            </a:extLst>
          </p:cNvPr>
          <p:cNvSpPr/>
          <p:nvPr/>
        </p:nvSpPr>
        <p:spPr>
          <a:xfrm>
            <a:off x="5900827" y="1125895"/>
            <a:ext cx="1706018" cy="1237510"/>
          </a:xfrm>
          <a:custGeom>
            <a:avLst/>
            <a:gdLst>
              <a:gd name="csX0" fmla="*/ 0 w 1706018"/>
              <a:gd name="csY0" fmla="*/ 0 h 1237510"/>
              <a:gd name="csX1" fmla="*/ 9693 w 1706018"/>
              <a:gd name="csY1" fmla="*/ 1234279 h 1237510"/>
              <a:gd name="csX2" fmla="*/ 1706018 w 1706018"/>
              <a:gd name="csY2" fmla="*/ 1237510 h 1237510"/>
              <a:gd name="csX3" fmla="*/ 1699556 w 1706018"/>
              <a:gd name="csY3" fmla="*/ 471740 h 1237510"/>
              <a:gd name="csX4" fmla="*/ 1647858 w 1706018"/>
              <a:gd name="csY4" fmla="*/ 468509 h 1237510"/>
              <a:gd name="csX5" fmla="*/ 1567081 w 1706018"/>
              <a:gd name="csY5" fmla="*/ 465278 h 1237510"/>
              <a:gd name="csX6" fmla="*/ 1505690 w 1706018"/>
              <a:gd name="csY6" fmla="*/ 465278 h 1237510"/>
              <a:gd name="csX7" fmla="*/ 1437837 w 1706018"/>
              <a:gd name="csY7" fmla="*/ 462047 h 1237510"/>
              <a:gd name="csX8" fmla="*/ 1379677 w 1706018"/>
              <a:gd name="csY8" fmla="*/ 458816 h 1237510"/>
              <a:gd name="csX9" fmla="*/ 1324749 w 1706018"/>
              <a:gd name="csY9" fmla="*/ 458816 h 1237510"/>
              <a:gd name="csX10" fmla="*/ 1273051 w 1706018"/>
              <a:gd name="csY10" fmla="*/ 452354 h 1237510"/>
              <a:gd name="csX11" fmla="*/ 1208429 w 1706018"/>
              <a:gd name="csY11" fmla="*/ 445891 h 1237510"/>
              <a:gd name="csX12" fmla="*/ 1156732 w 1706018"/>
              <a:gd name="csY12" fmla="*/ 445891 h 1237510"/>
              <a:gd name="csX13" fmla="*/ 1079185 w 1706018"/>
              <a:gd name="csY13" fmla="*/ 432967 h 1237510"/>
              <a:gd name="csX14" fmla="*/ 1014563 w 1706018"/>
              <a:gd name="csY14" fmla="*/ 432967 h 1237510"/>
              <a:gd name="csX15" fmla="*/ 946710 w 1706018"/>
              <a:gd name="csY15" fmla="*/ 420043 h 1237510"/>
              <a:gd name="csX16" fmla="*/ 875626 w 1706018"/>
              <a:gd name="csY16" fmla="*/ 413581 h 1237510"/>
              <a:gd name="csX17" fmla="*/ 811004 w 1706018"/>
              <a:gd name="csY17" fmla="*/ 403887 h 1237510"/>
              <a:gd name="csX18" fmla="*/ 739920 w 1706018"/>
              <a:gd name="csY18" fmla="*/ 394194 h 1237510"/>
              <a:gd name="csX19" fmla="*/ 675298 w 1706018"/>
              <a:gd name="csY19" fmla="*/ 381270 h 1237510"/>
              <a:gd name="csX20" fmla="*/ 604214 w 1706018"/>
              <a:gd name="csY20" fmla="*/ 371576 h 1237510"/>
              <a:gd name="csX21" fmla="*/ 520206 w 1706018"/>
              <a:gd name="csY21" fmla="*/ 352190 h 1237510"/>
              <a:gd name="csX22" fmla="*/ 436197 w 1706018"/>
              <a:gd name="csY22" fmla="*/ 329572 h 1237510"/>
              <a:gd name="csX23" fmla="*/ 336033 w 1706018"/>
              <a:gd name="csY23" fmla="*/ 303723 h 1237510"/>
              <a:gd name="csX24" fmla="*/ 277874 w 1706018"/>
              <a:gd name="csY24" fmla="*/ 277875 h 1237510"/>
              <a:gd name="csX25" fmla="*/ 210021 w 1706018"/>
              <a:gd name="csY25" fmla="*/ 248795 h 1237510"/>
              <a:gd name="csX26" fmla="*/ 155092 w 1706018"/>
              <a:gd name="csY26" fmla="*/ 213253 h 1237510"/>
              <a:gd name="csX27" fmla="*/ 103395 w 1706018"/>
              <a:gd name="csY27" fmla="*/ 174479 h 1237510"/>
              <a:gd name="csX28" fmla="*/ 71084 w 1706018"/>
              <a:gd name="csY28" fmla="*/ 132475 h 1237510"/>
              <a:gd name="csX29" fmla="*/ 45235 w 1706018"/>
              <a:gd name="csY29" fmla="*/ 96933 h 1237510"/>
              <a:gd name="csX30" fmla="*/ 0 w 1706018"/>
              <a:gd name="csY30" fmla="*/ 0 h 1237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706018" h="1237510">
                <a:moveTo>
                  <a:pt x="0" y="0"/>
                </a:moveTo>
                <a:lnTo>
                  <a:pt x="9693" y="1234279"/>
                </a:lnTo>
                <a:lnTo>
                  <a:pt x="1706018" y="1237510"/>
                </a:lnTo>
                <a:lnTo>
                  <a:pt x="1699556" y="471740"/>
                </a:lnTo>
                <a:lnTo>
                  <a:pt x="1647858" y="468509"/>
                </a:lnTo>
                <a:lnTo>
                  <a:pt x="1567081" y="465278"/>
                </a:lnTo>
                <a:lnTo>
                  <a:pt x="1505690" y="465278"/>
                </a:lnTo>
                <a:lnTo>
                  <a:pt x="1437837" y="462047"/>
                </a:lnTo>
                <a:lnTo>
                  <a:pt x="1379677" y="458816"/>
                </a:lnTo>
                <a:lnTo>
                  <a:pt x="1324749" y="458816"/>
                </a:lnTo>
                <a:lnTo>
                  <a:pt x="1273051" y="452354"/>
                </a:lnTo>
                <a:lnTo>
                  <a:pt x="1208429" y="445891"/>
                </a:lnTo>
                <a:lnTo>
                  <a:pt x="1156732" y="445891"/>
                </a:lnTo>
                <a:lnTo>
                  <a:pt x="1079185" y="432967"/>
                </a:lnTo>
                <a:lnTo>
                  <a:pt x="1014563" y="432967"/>
                </a:lnTo>
                <a:lnTo>
                  <a:pt x="946710" y="420043"/>
                </a:lnTo>
                <a:lnTo>
                  <a:pt x="875626" y="413581"/>
                </a:lnTo>
                <a:lnTo>
                  <a:pt x="811004" y="403887"/>
                </a:lnTo>
                <a:lnTo>
                  <a:pt x="739920" y="394194"/>
                </a:lnTo>
                <a:lnTo>
                  <a:pt x="675298" y="381270"/>
                </a:lnTo>
                <a:lnTo>
                  <a:pt x="604214" y="371576"/>
                </a:lnTo>
                <a:lnTo>
                  <a:pt x="520206" y="352190"/>
                </a:lnTo>
                <a:lnTo>
                  <a:pt x="436197" y="329572"/>
                </a:lnTo>
                <a:lnTo>
                  <a:pt x="336033" y="303723"/>
                </a:lnTo>
                <a:lnTo>
                  <a:pt x="277874" y="277875"/>
                </a:lnTo>
                <a:lnTo>
                  <a:pt x="210021" y="248795"/>
                </a:lnTo>
                <a:lnTo>
                  <a:pt x="155092" y="213253"/>
                </a:lnTo>
                <a:lnTo>
                  <a:pt x="103395" y="174479"/>
                </a:lnTo>
                <a:lnTo>
                  <a:pt x="71084" y="132475"/>
                </a:lnTo>
                <a:lnTo>
                  <a:pt x="45235" y="96933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reeform 96">
            <a:extLst>
              <a:ext uri="{FF2B5EF4-FFF2-40B4-BE49-F238E27FC236}">
                <a16:creationId xmlns:a16="http://schemas.microsoft.com/office/drawing/2014/main" id="{A08487E9-6521-A280-0469-F03F5128688E}"/>
              </a:ext>
            </a:extLst>
          </p:cNvPr>
          <p:cNvSpPr/>
          <p:nvPr/>
        </p:nvSpPr>
        <p:spPr>
          <a:xfrm>
            <a:off x="5911831" y="1157275"/>
            <a:ext cx="1704975" cy="1215095"/>
          </a:xfrm>
          <a:custGeom>
            <a:avLst/>
            <a:gdLst>
              <a:gd name="csX0" fmla="*/ 0 w 1704975"/>
              <a:gd name="csY0" fmla="*/ 0 h 1241425"/>
              <a:gd name="csX1" fmla="*/ 9525 w 1704975"/>
              <a:gd name="csY1" fmla="*/ 1241425 h 1241425"/>
              <a:gd name="csX2" fmla="*/ 1704975 w 1704975"/>
              <a:gd name="csY2" fmla="*/ 1238250 h 1241425"/>
              <a:gd name="csX3" fmla="*/ 1698625 w 1704975"/>
              <a:gd name="csY3" fmla="*/ 977900 h 1241425"/>
              <a:gd name="csX4" fmla="*/ 1654175 w 1704975"/>
              <a:gd name="csY4" fmla="*/ 974725 h 1241425"/>
              <a:gd name="csX5" fmla="*/ 1603375 w 1704975"/>
              <a:gd name="csY5" fmla="*/ 965200 h 1241425"/>
              <a:gd name="csX6" fmla="*/ 1543050 w 1704975"/>
              <a:gd name="csY6" fmla="*/ 965200 h 1241425"/>
              <a:gd name="csX7" fmla="*/ 1450975 w 1704975"/>
              <a:gd name="csY7" fmla="*/ 946150 h 1241425"/>
              <a:gd name="csX8" fmla="*/ 1362075 w 1704975"/>
              <a:gd name="csY8" fmla="*/ 930275 h 1241425"/>
              <a:gd name="csX9" fmla="*/ 1263650 w 1704975"/>
              <a:gd name="csY9" fmla="*/ 914400 h 1241425"/>
              <a:gd name="csX10" fmla="*/ 1120775 w 1704975"/>
              <a:gd name="csY10" fmla="*/ 885825 h 1241425"/>
              <a:gd name="csX11" fmla="*/ 1025525 w 1704975"/>
              <a:gd name="csY11" fmla="*/ 866775 h 1241425"/>
              <a:gd name="csX12" fmla="*/ 917575 w 1704975"/>
              <a:gd name="csY12" fmla="*/ 844550 h 1241425"/>
              <a:gd name="csX13" fmla="*/ 771525 w 1704975"/>
              <a:gd name="csY13" fmla="*/ 800100 h 1241425"/>
              <a:gd name="csX14" fmla="*/ 695325 w 1704975"/>
              <a:gd name="csY14" fmla="*/ 774700 h 1241425"/>
              <a:gd name="csX15" fmla="*/ 638175 w 1704975"/>
              <a:gd name="csY15" fmla="*/ 749300 h 1241425"/>
              <a:gd name="csX16" fmla="*/ 552450 w 1704975"/>
              <a:gd name="csY16" fmla="*/ 720725 h 1241425"/>
              <a:gd name="csX17" fmla="*/ 482600 w 1704975"/>
              <a:gd name="csY17" fmla="*/ 685800 h 1241425"/>
              <a:gd name="csX18" fmla="*/ 396875 w 1704975"/>
              <a:gd name="csY18" fmla="*/ 641350 h 1241425"/>
              <a:gd name="csX19" fmla="*/ 330200 w 1704975"/>
              <a:gd name="csY19" fmla="*/ 609600 h 1241425"/>
              <a:gd name="csX20" fmla="*/ 288925 w 1704975"/>
              <a:gd name="csY20" fmla="*/ 574675 h 1241425"/>
              <a:gd name="csX21" fmla="*/ 250825 w 1704975"/>
              <a:gd name="csY21" fmla="*/ 549275 h 1241425"/>
              <a:gd name="csX22" fmla="*/ 215900 w 1704975"/>
              <a:gd name="csY22" fmla="*/ 514350 h 1241425"/>
              <a:gd name="csX23" fmla="*/ 174625 w 1704975"/>
              <a:gd name="csY23" fmla="*/ 473075 h 1241425"/>
              <a:gd name="csX24" fmla="*/ 133350 w 1704975"/>
              <a:gd name="csY24" fmla="*/ 425450 h 1241425"/>
              <a:gd name="csX25" fmla="*/ 104775 w 1704975"/>
              <a:gd name="csY25" fmla="*/ 381000 h 1241425"/>
              <a:gd name="csX26" fmla="*/ 69850 w 1704975"/>
              <a:gd name="csY26" fmla="*/ 323850 h 1241425"/>
              <a:gd name="csX27" fmla="*/ 38100 w 1704975"/>
              <a:gd name="csY27" fmla="*/ 276225 h 1241425"/>
              <a:gd name="csX28" fmla="*/ 22225 w 1704975"/>
              <a:gd name="csY28" fmla="*/ 206375 h 1241425"/>
              <a:gd name="csX29" fmla="*/ 12700 w 1704975"/>
              <a:gd name="csY29" fmla="*/ 142875 h 1241425"/>
              <a:gd name="csX30" fmla="*/ 0 w 1704975"/>
              <a:gd name="csY30" fmla="*/ 0 h 1241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704975" h="1241425">
                <a:moveTo>
                  <a:pt x="0" y="0"/>
                </a:moveTo>
                <a:lnTo>
                  <a:pt x="9525" y="1241425"/>
                </a:lnTo>
                <a:lnTo>
                  <a:pt x="1704975" y="1238250"/>
                </a:lnTo>
                <a:lnTo>
                  <a:pt x="1698625" y="977900"/>
                </a:lnTo>
                <a:lnTo>
                  <a:pt x="1654175" y="974725"/>
                </a:lnTo>
                <a:lnTo>
                  <a:pt x="1603375" y="965200"/>
                </a:lnTo>
                <a:lnTo>
                  <a:pt x="1543050" y="965200"/>
                </a:lnTo>
                <a:lnTo>
                  <a:pt x="1450975" y="946150"/>
                </a:lnTo>
                <a:lnTo>
                  <a:pt x="1362075" y="930275"/>
                </a:lnTo>
                <a:lnTo>
                  <a:pt x="1263650" y="914400"/>
                </a:lnTo>
                <a:lnTo>
                  <a:pt x="1120775" y="885825"/>
                </a:lnTo>
                <a:lnTo>
                  <a:pt x="1025525" y="866775"/>
                </a:lnTo>
                <a:lnTo>
                  <a:pt x="917575" y="844550"/>
                </a:lnTo>
                <a:lnTo>
                  <a:pt x="771525" y="800100"/>
                </a:lnTo>
                <a:lnTo>
                  <a:pt x="695325" y="774700"/>
                </a:lnTo>
                <a:lnTo>
                  <a:pt x="638175" y="749300"/>
                </a:lnTo>
                <a:lnTo>
                  <a:pt x="552450" y="720725"/>
                </a:lnTo>
                <a:lnTo>
                  <a:pt x="482600" y="685800"/>
                </a:lnTo>
                <a:lnTo>
                  <a:pt x="396875" y="641350"/>
                </a:lnTo>
                <a:lnTo>
                  <a:pt x="330200" y="609600"/>
                </a:lnTo>
                <a:lnTo>
                  <a:pt x="288925" y="574675"/>
                </a:lnTo>
                <a:lnTo>
                  <a:pt x="250825" y="549275"/>
                </a:lnTo>
                <a:lnTo>
                  <a:pt x="215900" y="514350"/>
                </a:lnTo>
                <a:lnTo>
                  <a:pt x="174625" y="473075"/>
                </a:lnTo>
                <a:lnTo>
                  <a:pt x="133350" y="425450"/>
                </a:lnTo>
                <a:lnTo>
                  <a:pt x="104775" y="381000"/>
                </a:lnTo>
                <a:lnTo>
                  <a:pt x="69850" y="323850"/>
                </a:lnTo>
                <a:lnTo>
                  <a:pt x="38100" y="276225"/>
                </a:lnTo>
                <a:lnTo>
                  <a:pt x="22225" y="206375"/>
                </a:lnTo>
                <a:lnTo>
                  <a:pt x="12700" y="142875"/>
                </a:lnTo>
                <a:lnTo>
                  <a:pt x="0" y="0"/>
                </a:lnTo>
                <a:close/>
              </a:path>
            </a:pathLst>
          </a:custGeom>
          <a:solidFill>
            <a:srgbClr val="92D050">
              <a:alpha val="50196"/>
            </a:srgbClr>
          </a:solidFill>
          <a:ln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reeform 97">
            <a:extLst>
              <a:ext uri="{FF2B5EF4-FFF2-40B4-BE49-F238E27FC236}">
                <a16:creationId xmlns:a16="http://schemas.microsoft.com/office/drawing/2014/main" id="{C14DAA9A-9181-740E-9CCF-8A8EE9B384E4}"/>
              </a:ext>
            </a:extLst>
          </p:cNvPr>
          <p:cNvSpPr/>
          <p:nvPr/>
        </p:nvSpPr>
        <p:spPr>
          <a:xfrm>
            <a:off x="5905004" y="1119262"/>
            <a:ext cx="1692991" cy="988883"/>
          </a:xfrm>
          <a:custGeom>
            <a:avLst/>
            <a:gdLst>
              <a:gd name="csX0" fmla="*/ 0 w 1684554"/>
              <a:gd name="csY0" fmla="*/ 0 h 799951"/>
              <a:gd name="csX1" fmla="*/ 36214 w 1684554"/>
              <a:gd name="csY1" fmla="*/ 208230 h 799951"/>
              <a:gd name="csX2" fmla="*/ 126748 w 1684554"/>
              <a:gd name="csY2" fmla="*/ 334978 h 799951"/>
              <a:gd name="csX3" fmla="*/ 235390 w 1684554"/>
              <a:gd name="csY3" fmla="*/ 434566 h 799951"/>
              <a:gd name="csX4" fmla="*/ 371192 w 1684554"/>
              <a:gd name="csY4" fmla="*/ 516047 h 799951"/>
              <a:gd name="csX5" fmla="*/ 633742 w 1684554"/>
              <a:gd name="csY5" fmla="*/ 615636 h 799951"/>
              <a:gd name="csX6" fmla="*/ 950614 w 1684554"/>
              <a:gd name="csY6" fmla="*/ 697117 h 799951"/>
              <a:gd name="csX7" fmla="*/ 1566249 w 1684554"/>
              <a:gd name="csY7" fmla="*/ 787651 h 799951"/>
              <a:gd name="csX8" fmla="*/ 1683944 w 1684554"/>
              <a:gd name="csY8" fmla="*/ 796705 h 7999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84554" h="799951">
                <a:moveTo>
                  <a:pt x="0" y="0"/>
                </a:moveTo>
                <a:cubicBezTo>
                  <a:pt x="7544" y="76200"/>
                  <a:pt x="15089" y="152401"/>
                  <a:pt x="36214" y="208230"/>
                </a:cubicBezTo>
                <a:cubicBezTo>
                  <a:pt x="57339" y="264059"/>
                  <a:pt x="93552" y="297255"/>
                  <a:pt x="126748" y="334978"/>
                </a:cubicBezTo>
                <a:cubicBezTo>
                  <a:pt x="159944" y="372701"/>
                  <a:pt x="194649" y="404388"/>
                  <a:pt x="235390" y="434566"/>
                </a:cubicBezTo>
                <a:cubicBezTo>
                  <a:pt x="276131" y="464744"/>
                  <a:pt x="304800" y="485869"/>
                  <a:pt x="371192" y="516047"/>
                </a:cubicBezTo>
                <a:cubicBezTo>
                  <a:pt x="437584" y="546225"/>
                  <a:pt x="537172" y="585458"/>
                  <a:pt x="633742" y="615636"/>
                </a:cubicBezTo>
                <a:cubicBezTo>
                  <a:pt x="730312" y="645814"/>
                  <a:pt x="795196" y="668448"/>
                  <a:pt x="950614" y="697117"/>
                </a:cubicBezTo>
                <a:cubicBezTo>
                  <a:pt x="1106032" y="725786"/>
                  <a:pt x="1444027" y="771053"/>
                  <a:pt x="1566249" y="787651"/>
                </a:cubicBezTo>
                <a:cubicBezTo>
                  <a:pt x="1688471" y="804249"/>
                  <a:pt x="1686207" y="800477"/>
                  <a:pt x="1683944" y="796705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A28038B-971F-F311-C04F-04C523F82371}"/>
              </a:ext>
            </a:extLst>
          </p:cNvPr>
          <p:cNvCxnSpPr>
            <a:cxnSpLocks/>
          </p:cNvCxnSpPr>
          <p:nvPr/>
        </p:nvCxnSpPr>
        <p:spPr>
          <a:xfrm>
            <a:off x="5500442" y="2372370"/>
            <a:ext cx="278277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7B55D28-20DE-FA58-CA30-77B6B15AEB97}"/>
              </a:ext>
            </a:extLst>
          </p:cNvPr>
          <p:cNvCxnSpPr>
            <a:cxnSpLocks/>
          </p:cNvCxnSpPr>
          <p:nvPr/>
        </p:nvCxnSpPr>
        <p:spPr>
          <a:xfrm>
            <a:off x="5895951" y="1122426"/>
            <a:ext cx="9053" cy="1263292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AD591C8-51D8-9559-36F3-76AFB9FB8418}"/>
              </a:ext>
            </a:extLst>
          </p:cNvPr>
          <p:cNvCxnSpPr>
            <a:cxnSpLocks/>
          </p:cNvCxnSpPr>
          <p:nvPr/>
        </p:nvCxnSpPr>
        <p:spPr>
          <a:xfrm>
            <a:off x="7588942" y="1602397"/>
            <a:ext cx="9060" cy="79960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Freeform 101">
            <a:extLst>
              <a:ext uri="{FF2B5EF4-FFF2-40B4-BE49-F238E27FC236}">
                <a16:creationId xmlns:a16="http://schemas.microsoft.com/office/drawing/2014/main" id="{E05ADD71-EA03-0DDC-B6F6-E7D57B3D24FA}"/>
              </a:ext>
            </a:extLst>
          </p:cNvPr>
          <p:cNvSpPr/>
          <p:nvPr/>
        </p:nvSpPr>
        <p:spPr>
          <a:xfrm>
            <a:off x="5895951" y="1131479"/>
            <a:ext cx="1692991" cy="470918"/>
          </a:xfrm>
          <a:custGeom>
            <a:avLst/>
            <a:gdLst>
              <a:gd name="csX0" fmla="*/ 0 w 1720158"/>
              <a:gd name="csY0" fmla="*/ 0 h 479834"/>
              <a:gd name="csX1" fmla="*/ 90534 w 1720158"/>
              <a:gd name="csY1" fmla="*/ 153909 h 479834"/>
              <a:gd name="csX2" fmla="*/ 280657 w 1720158"/>
              <a:gd name="csY2" fmla="*/ 280658 h 479834"/>
              <a:gd name="csX3" fmla="*/ 525101 w 1720158"/>
              <a:gd name="csY3" fmla="*/ 353086 h 479834"/>
              <a:gd name="csX4" fmla="*/ 769544 w 1720158"/>
              <a:gd name="csY4" fmla="*/ 398353 h 479834"/>
              <a:gd name="csX5" fmla="*/ 977774 w 1720158"/>
              <a:gd name="csY5" fmla="*/ 425513 h 479834"/>
              <a:gd name="csX6" fmla="*/ 1258431 w 1720158"/>
              <a:gd name="csY6" fmla="*/ 452674 h 479834"/>
              <a:gd name="csX7" fmla="*/ 1493822 w 1720158"/>
              <a:gd name="csY7" fmla="*/ 470781 h 479834"/>
              <a:gd name="csX8" fmla="*/ 1720158 w 1720158"/>
              <a:gd name="csY8" fmla="*/ 479834 h 4798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20158" h="479834">
                <a:moveTo>
                  <a:pt x="0" y="0"/>
                </a:moveTo>
                <a:cubicBezTo>
                  <a:pt x="21879" y="53566"/>
                  <a:pt x="43758" y="107133"/>
                  <a:pt x="90534" y="153909"/>
                </a:cubicBezTo>
                <a:cubicBezTo>
                  <a:pt x="137310" y="200685"/>
                  <a:pt x="208229" y="247462"/>
                  <a:pt x="280657" y="280658"/>
                </a:cubicBezTo>
                <a:cubicBezTo>
                  <a:pt x="353085" y="313854"/>
                  <a:pt x="443620" y="333470"/>
                  <a:pt x="525101" y="353086"/>
                </a:cubicBezTo>
                <a:cubicBezTo>
                  <a:pt x="606582" y="372702"/>
                  <a:pt x="694099" y="386282"/>
                  <a:pt x="769544" y="398353"/>
                </a:cubicBezTo>
                <a:cubicBezTo>
                  <a:pt x="844989" y="410424"/>
                  <a:pt x="896293" y="416460"/>
                  <a:pt x="977774" y="425513"/>
                </a:cubicBezTo>
                <a:cubicBezTo>
                  <a:pt x="1059255" y="434567"/>
                  <a:pt x="1172423" y="445129"/>
                  <a:pt x="1258431" y="452674"/>
                </a:cubicBezTo>
                <a:cubicBezTo>
                  <a:pt x="1344439" y="460219"/>
                  <a:pt x="1416868" y="466254"/>
                  <a:pt x="1493822" y="470781"/>
                </a:cubicBezTo>
                <a:cubicBezTo>
                  <a:pt x="1570776" y="475308"/>
                  <a:pt x="1645467" y="477571"/>
                  <a:pt x="1720158" y="479834"/>
                </a:cubicBezTo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8C2658F-90F9-6704-E4B8-0327A9BF4F7F}"/>
              </a:ext>
            </a:extLst>
          </p:cNvPr>
          <p:cNvCxnSpPr>
            <a:cxnSpLocks/>
          </p:cNvCxnSpPr>
          <p:nvPr/>
        </p:nvCxnSpPr>
        <p:spPr>
          <a:xfrm flipV="1">
            <a:off x="7479626" y="1340380"/>
            <a:ext cx="146030" cy="53738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0D75425-2E92-31DA-CCC9-A06E657DF146}"/>
                  </a:ext>
                </a:extLst>
              </p:cNvPr>
              <p:cNvSpPr txBox="1"/>
              <p:nvPr/>
            </p:nvSpPr>
            <p:spPr>
              <a:xfrm>
                <a:off x="3683929" y="4086881"/>
                <a:ext cx="1776143" cy="66543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0D75425-2E92-31DA-CCC9-A06E657DF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929" y="4086881"/>
                <a:ext cx="1776143" cy="665439"/>
              </a:xfrm>
              <a:prstGeom prst="rect">
                <a:avLst/>
              </a:prstGeom>
              <a:blipFill>
                <a:blip r:embed="rId3"/>
                <a:stretch>
                  <a:fillRect b="-1818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315FDD2-0765-AF67-EBBE-7D0626240F27}"/>
                  </a:ext>
                </a:extLst>
              </p:cNvPr>
              <p:cNvSpPr txBox="1"/>
              <p:nvPr/>
            </p:nvSpPr>
            <p:spPr>
              <a:xfrm>
                <a:off x="1010165" y="3543790"/>
                <a:ext cx="2782779" cy="582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1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1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1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EOP</m:t>
                          </m:r>
                        </m:sup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4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14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4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1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315FDD2-0765-AF67-EBBE-7D0626240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165" y="3543790"/>
                <a:ext cx="2782779" cy="582595"/>
              </a:xfrm>
              <a:prstGeom prst="rect">
                <a:avLst/>
              </a:prstGeom>
              <a:blipFill>
                <a:blip r:embed="rId4"/>
                <a:stretch>
                  <a:fillRect l="-455" t="-138298" b="-2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8C20335-7599-C4F4-BB7E-DD0111350B05}"/>
                  </a:ext>
                </a:extLst>
              </p:cNvPr>
              <p:cNvSpPr txBox="1"/>
              <p:nvPr/>
            </p:nvSpPr>
            <p:spPr>
              <a:xfrm>
                <a:off x="5351056" y="3511523"/>
                <a:ext cx="2782779" cy="582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4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14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14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14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EOP</m:t>
                          </m:r>
                        </m:sup>
                        <m:e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1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𝐄𝐈𝐒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8C20335-7599-C4F4-BB7E-DD0111350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056" y="3511523"/>
                <a:ext cx="2782779" cy="582595"/>
              </a:xfrm>
              <a:prstGeom prst="rect">
                <a:avLst/>
              </a:prstGeom>
              <a:blipFill>
                <a:blip r:embed="rId5"/>
                <a:stretch>
                  <a:fillRect t="-140426" b="-2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TextBox 106">
            <a:extLst>
              <a:ext uri="{FF2B5EF4-FFF2-40B4-BE49-F238E27FC236}">
                <a16:creationId xmlns:a16="http://schemas.microsoft.com/office/drawing/2014/main" id="{7463313A-26A4-1977-A80B-B218938E6E22}"/>
              </a:ext>
            </a:extLst>
          </p:cNvPr>
          <p:cNvSpPr txBox="1"/>
          <p:nvPr/>
        </p:nvSpPr>
        <p:spPr>
          <a:xfrm>
            <a:off x="2019596" y="805806"/>
            <a:ext cx="1856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EIS: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entry-into-service</a:t>
            </a:r>
          </a:p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EOP: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end-of-production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C765122-6535-E5EE-02C6-EFA3E6CEAAF8}"/>
              </a:ext>
            </a:extLst>
          </p:cNvPr>
          <p:cNvSpPr txBox="1"/>
          <p:nvPr/>
        </p:nvSpPr>
        <p:spPr>
          <a:xfrm>
            <a:off x="1645058" y="4525338"/>
            <a:ext cx="2009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Helvetica" pitchFamily="2" charset="0"/>
              </a:rPr>
              <a:t>future-aware penalty metric equation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A5092E2-8C6F-3DA9-7B89-865EE4E35683}"/>
                  </a:ext>
                </a:extLst>
              </p:cNvPr>
              <p:cNvSpPr txBox="1"/>
              <p:nvPr/>
            </p:nvSpPr>
            <p:spPr>
              <a:xfrm>
                <a:off x="5457695" y="4525338"/>
                <a:ext cx="25171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Helvetica" pitchFamily="2" charset="0"/>
                  </a:rPr>
                  <a:t>The lower the better, and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400" i="1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Ψ</m:t>
                    </m:r>
                    <m:r>
                      <a:rPr lang="en-US" sz="1400" b="0" i="1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4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Helvetica" pitchFamily="2" charset="0"/>
                  </a:rPr>
                  <a:t> for utopian benchmark </a:t>
                </a: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A5092E2-8C6F-3DA9-7B89-865EE4E35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695" y="4525338"/>
                <a:ext cx="2517147" cy="523220"/>
              </a:xfrm>
              <a:prstGeom prst="rect">
                <a:avLst/>
              </a:prstGeom>
              <a:blipFill>
                <a:blip r:embed="rId6"/>
                <a:stretch>
                  <a:fillRect t="-2381" r="-2010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7CCE7-D5CD-E15C-B9AC-4D003889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429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51" grpId="0" animBg="1"/>
      <p:bldP spid="74" grpId="0" animBg="1"/>
      <p:bldP spid="88" grpId="0" animBg="1"/>
      <p:bldP spid="88" grpId="1" animBg="1"/>
      <p:bldP spid="97" grpId="0" animBg="1"/>
      <p:bldP spid="97" grpId="1" animBg="1"/>
      <p:bldP spid="98" grpId="0" animBg="1"/>
      <p:bldP spid="104" grpId="0" animBg="1"/>
      <p:bldP spid="105" grpId="0"/>
      <p:bldP spid="106" grpId="0"/>
      <p:bldP spid="109" grpId="0"/>
      <p:bldP spid="1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F6A67-CCC7-41FA-F475-BEDAAF5C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720C7D-D54C-507D-9469-C86928BE7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Formulation: optimal upgrade strategy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1CF8F7E-C1EA-D4A3-D23E-10BC9D8708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8997225"/>
                  </p:ext>
                </p:extLst>
              </p:nvPr>
            </p:nvGraphicFramePr>
            <p:xfrm>
              <a:off x="910396" y="1515922"/>
              <a:ext cx="3218329" cy="186931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57276">
                      <a:extLst>
                        <a:ext uri="{9D8B030D-6E8A-4147-A177-3AD203B41FA5}">
                          <a16:colId xmlns:a16="http://schemas.microsoft.com/office/drawing/2014/main" val="1115411377"/>
                        </a:ext>
                      </a:extLst>
                    </a:gridCol>
                    <a:gridCol w="2061053">
                      <a:extLst>
                        <a:ext uri="{9D8B030D-6E8A-4147-A177-3AD203B41FA5}">
                          <a16:colId xmlns:a16="http://schemas.microsoft.com/office/drawing/2014/main" val="1496245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minimize</m:t>
                                        </m:r>
                                      </m:e>
                                      <m:li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16229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subject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to</m:t>
                                </m:r>
                              </m:oMath>
                            </m:oMathPara>
                          </a14:m>
                          <a:endParaRPr lang="en-US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04882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3611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2031≤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≤2069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5672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ℤ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83327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1CF8F7E-C1EA-D4A3-D23E-10BC9D8708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8997225"/>
                  </p:ext>
                </p:extLst>
              </p:nvPr>
            </p:nvGraphicFramePr>
            <p:xfrm>
              <a:off x="910396" y="1515922"/>
              <a:ext cx="3218329" cy="186931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57276">
                      <a:extLst>
                        <a:ext uri="{9D8B030D-6E8A-4147-A177-3AD203B41FA5}">
                          <a16:colId xmlns:a16="http://schemas.microsoft.com/office/drawing/2014/main" val="1115411377"/>
                        </a:ext>
                      </a:extLst>
                    </a:gridCol>
                    <a:gridCol w="2061053">
                      <a:extLst>
                        <a:ext uri="{9D8B030D-6E8A-4147-A177-3AD203B41FA5}">
                          <a16:colId xmlns:a16="http://schemas.microsoft.com/office/drawing/2014/main" val="149624587"/>
                        </a:ext>
                      </a:extLst>
                    </a:gridCol>
                  </a:tblGrid>
                  <a:tr h="3859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r="-177174" b="-377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442" b="-377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16229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106897" r="-177174" b="-3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442" t="-106897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04882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442" t="-206897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73611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442" t="-296667" b="-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5672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442" t="-4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83327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4588C9C-9190-5DF3-FEDB-EAB16EF8A53B}"/>
              </a:ext>
            </a:extLst>
          </p:cNvPr>
          <p:cNvSpPr txBox="1"/>
          <p:nvPr/>
        </p:nvSpPr>
        <p:spPr>
          <a:xfrm>
            <a:off x="633101" y="955379"/>
            <a:ext cx="2651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latin typeface="Helvetica" pitchFamily="2" charset="0"/>
              </a:rPr>
              <a:t>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25D3A2-65C1-8223-5F95-474C6A5722E5}"/>
                  </a:ext>
                </a:extLst>
              </p:cNvPr>
              <p:cNvSpPr txBox="1"/>
              <p:nvPr/>
            </p:nvSpPr>
            <p:spPr>
              <a:xfrm>
                <a:off x="5486524" y="3457170"/>
                <a:ext cx="2651312" cy="13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14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" pitchFamily="2" charset="0"/>
                  </a:rPr>
                  <a:t>Find three intermediate years between EIS and EOP for scheduling the upgrades that </a:t>
                </a:r>
                <a:r>
                  <a:rPr lang="en-US" sz="1400" i="1" dirty="0">
                    <a:solidFill>
                      <a:srgbClr val="C00000"/>
                    </a:solidFill>
                    <a:latin typeface="Helvetica" pitchFamily="2" charset="0"/>
                  </a:rPr>
                  <a:t>minimize the penalty metric </a:t>
                </a:r>
                <a14:m>
                  <m:oMath xmlns:m="http://schemas.openxmlformats.org/officeDocument/2006/math">
                    <m:r>
                      <a:rPr lang="el-GR" sz="1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𝛹</m:t>
                    </m:r>
                  </m:oMath>
                </a14:m>
                <a:endParaRPr lang="en-US" sz="14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25D3A2-65C1-8223-5F95-474C6A572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524" y="3457170"/>
                <a:ext cx="2651312" cy="1345048"/>
              </a:xfrm>
              <a:prstGeom prst="rect">
                <a:avLst/>
              </a:prstGeom>
              <a:blipFill>
                <a:blip r:embed="rId4"/>
                <a:stretch>
                  <a:fillRect b="-4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0D03B05-6D6B-CBC0-F692-A81846A2D37D}"/>
              </a:ext>
            </a:extLst>
          </p:cNvPr>
          <p:cNvSpPr txBox="1">
            <a:spLocks/>
          </p:cNvSpPr>
          <p:nvPr/>
        </p:nvSpPr>
        <p:spPr>
          <a:xfrm>
            <a:off x="4590539" y="1195163"/>
            <a:ext cx="994788" cy="815140"/>
          </a:xfrm>
          <a:prstGeom prst="rect">
            <a:avLst/>
          </a:prstGeom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Objective</a:t>
            </a:r>
          </a:p>
          <a:p>
            <a:pPr marL="0" indent="0" algn="ctr" fontAlgn="auto">
              <a:spcAft>
                <a:spcPts val="0"/>
              </a:spcAft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4C8A63-EF47-A533-D222-099EBF899181}"/>
              </a:ext>
            </a:extLst>
          </p:cNvPr>
          <p:cNvSpPr txBox="1"/>
          <p:nvPr/>
        </p:nvSpPr>
        <p:spPr>
          <a:xfrm>
            <a:off x="5745909" y="2450579"/>
            <a:ext cx="625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EIS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CCC8A5-091D-5F88-E25F-3B8C4A97332F}"/>
              </a:ext>
            </a:extLst>
          </p:cNvPr>
          <p:cNvSpPr txBox="1"/>
          <p:nvPr/>
        </p:nvSpPr>
        <p:spPr>
          <a:xfrm>
            <a:off x="7414589" y="2431542"/>
            <a:ext cx="625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EOP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B390E2-4F81-0CDE-2CF4-94274E0ADD52}"/>
              </a:ext>
            </a:extLst>
          </p:cNvPr>
          <p:cNvCxnSpPr>
            <a:cxnSpLocks/>
          </p:cNvCxnSpPr>
          <p:nvPr/>
        </p:nvCxnSpPr>
        <p:spPr>
          <a:xfrm>
            <a:off x="5552272" y="2410259"/>
            <a:ext cx="278277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BBBD6F1-78E7-9AE2-EB98-745576C398A7}"/>
              </a:ext>
            </a:extLst>
          </p:cNvPr>
          <p:cNvCxnSpPr>
            <a:cxnSpLocks/>
          </p:cNvCxnSpPr>
          <p:nvPr/>
        </p:nvCxnSpPr>
        <p:spPr>
          <a:xfrm flipV="1">
            <a:off x="5552272" y="782144"/>
            <a:ext cx="0" cy="162811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A279FF3-36D9-69C6-8A9E-5A2726E5F2BA}"/>
              </a:ext>
            </a:extLst>
          </p:cNvPr>
          <p:cNvCxnSpPr>
            <a:cxnSpLocks/>
          </p:cNvCxnSpPr>
          <p:nvPr/>
        </p:nvCxnSpPr>
        <p:spPr>
          <a:xfrm>
            <a:off x="5970071" y="1157606"/>
            <a:ext cx="9053" cy="1263292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170F938-FC7B-09D4-15DA-712F9470E24B}"/>
              </a:ext>
            </a:extLst>
          </p:cNvPr>
          <p:cNvCxnSpPr>
            <a:cxnSpLocks/>
            <a:stCxn id="26" idx="8"/>
          </p:cNvCxnSpPr>
          <p:nvPr/>
        </p:nvCxnSpPr>
        <p:spPr>
          <a:xfrm>
            <a:off x="7658063" y="2142020"/>
            <a:ext cx="0" cy="27887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>
            <a:extLst>
              <a:ext uri="{FF2B5EF4-FFF2-40B4-BE49-F238E27FC236}">
                <a16:creationId xmlns:a16="http://schemas.microsoft.com/office/drawing/2014/main" id="{50DD25D1-EE2F-0166-4466-B367C4BD7646}"/>
              </a:ext>
            </a:extLst>
          </p:cNvPr>
          <p:cNvSpPr/>
          <p:nvPr/>
        </p:nvSpPr>
        <p:spPr>
          <a:xfrm>
            <a:off x="5965685" y="1157150"/>
            <a:ext cx="1692991" cy="988883"/>
          </a:xfrm>
          <a:custGeom>
            <a:avLst/>
            <a:gdLst>
              <a:gd name="csX0" fmla="*/ 0 w 1684554"/>
              <a:gd name="csY0" fmla="*/ 0 h 799951"/>
              <a:gd name="csX1" fmla="*/ 36214 w 1684554"/>
              <a:gd name="csY1" fmla="*/ 208230 h 799951"/>
              <a:gd name="csX2" fmla="*/ 126748 w 1684554"/>
              <a:gd name="csY2" fmla="*/ 334978 h 799951"/>
              <a:gd name="csX3" fmla="*/ 235390 w 1684554"/>
              <a:gd name="csY3" fmla="*/ 434566 h 799951"/>
              <a:gd name="csX4" fmla="*/ 371192 w 1684554"/>
              <a:gd name="csY4" fmla="*/ 516047 h 799951"/>
              <a:gd name="csX5" fmla="*/ 633742 w 1684554"/>
              <a:gd name="csY5" fmla="*/ 615636 h 799951"/>
              <a:gd name="csX6" fmla="*/ 950614 w 1684554"/>
              <a:gd name="csY6" fmla="*/ 697117 h 799951"/>
              <a:gd name="csX7" fmla="*/ 1566249 w 1684554"/>
              <a:gd name="csY7" fmla="*/ 787651 h 799951"/>
              <a:gd name="csX8" fmla="*/ 1683944 w 1684554"/>
              <a:gd name="csY8" fmla="*/ 796705 h 7999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84554" h="799951">
                <a:moveTo>
                  <a:pt x="0" y="0"/>
                </a:moveTo>
                <a:cubicBezTo>
                  <a:pt x="7544" y="76200"/>
                  <a:pt x="15089" y="152401"/>
                  <a:pt x="36214" y="208230"/>
                </a:cubicBezTo>
                <a:cubicBezTo>
                  <a:pt x="57339" y="264059"/>
                  <a:pt x="93552" y="297255"/>
                  <a:pt x="126748" y="334978"/>
                </a:cubicBezTo>
                <a:cubicBezTo>
                  <a:pt x="159944" y="372701"/>
                  <a:pt x="194649" y="404388"/>
                  <a:pt x="235390" y="434566"/>
                </a:cubicBezTo>
                <a:cubicBezTo>
                  <a:pt x="276131" y="464744"/>
                  <a:pt x="304800" y="485869"/>
                  <a:pt x="371192" y="516047"/>
                </a:cubicBezTo>
                <a:cubicBezTo>
                  <a:pt x="437584" y="546225"/>
                  <a:pt x="537172" y="585458"/>
                  <a:pt x="633742" y="615636"/>
                </a:cubicBezTo>
                <a:cubicBezTo>
                  <a:pt x="730312" y="645814"/>
                  <a:pt x="795196" y="668448"/>
                  <a:pt x="950614" y="697117"/>
                </a:cubicBezTo>
                <a:cubicBezTo>
                  <a:pt x="1106032" y="725786"/>
                  <a:pt x="1444027" y="771053"/>
                  <a:pt x="1566249" y="787651"/>
                </a:cubicBezTo>
                <a:cubicBezTo>
                  <a:pt x="1688471" y="804249"/>
                  <a:pt x="1686207" y="800477"/>
                  <a:pt x="1683944" y="796705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E6CB57-F9BC-BAC9-696B-D5953A3F17AF}"/>
              </a:ext>
            </a:extLst>
          </p:cNvPr>
          <p:cNvSpPr txBox="1"/>
          <p:nvPr/>
        </p:nvSpPr>
        <p:spPr>
          <a:xfrm>
            <a:off x="6378661" y="801491"/>
            <a:ext cx="1856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EIS: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entry-into-service</a:t>
            </a:r>
          </a:p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EOP: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end-of-production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7E34BF4-E825-E334-3830-9FFDEE1BAD2E}"/>
              </a:ext>
            </a:extLst>
          </p:cNvPr>
          <p:cNvCxnSpPr>
            <a:cxnSpLocks/>
          </p:cNvCxnSpPr>
          <p:nvPr/>
        </p:nvCxnSpPr>
        <p:spPr>
          <a:xfrm>
            <a:off x="5950954" y="1163339"/>
            <a:ext cx="2544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22B8B3D-097C-985F-E699-15D226FA1124}"/>
              </a:ext>
            </a:extLst>
          </p:cNvPr>
          <p:cNvCxnSpPr>
            <a:cxnSpLocks/>
            <a:endCxn id="26" idx="3"/>
          </p:cNvCxnSpPr>
          <p:nvPr/>
        </p:nvCxnSpPr>
        <p:spPr>
          <a:xfrm>
            <a:off x="6202254" y="1157150"/>
            <a:ext cx="0" cy="537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BA0F298-8B01-A470-4B7D-506ABA542011}"/>
              </a:ext>
            </a:extLst>
          </p:cNvPr>
          <p:cNvCxnSpPr>
            <a:cxnSpLocks/>
          </p:cNvCxnSpPr>
          <p:nvPr/>
        </p:nvCxnSpPr>
        <p:spPr>
          <a:xfrm>
            <a:off x="6208604" y="1694352"/>
            <a:ext cx="4003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6B503B4-1395-3BAC-EB6B-47AB3F730A07}"/>
              </a:ext>
            </a:extLst>
          </p:cNvPr>
          <p:cNvCxnSpPr>
            <a:cxnSpLocks/>
          </p:cNvCxnSpPr>
          <p:nvPr/>
        </p:nvCxnSpPr>
        <p:spPr>
          <a:xfrm>
            <a:off x="6602601" y="1688002"/>
            <a:ext cx="0" cy="2238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557496F-CF0B-00D2-14B6-016AD98609AD}"/>
              </a:ext>
            </a:extLst>
          </p:cNvPr>
          <p:cNvCxnSpPr>
            <a:cxnSpLocks/>
          </p:cNvCxnSpPr>
          <p:nvPr/>
        </p:nvCxnSpPr>
        <p:spPr>
          <a:xfrm>
            <a:off x="6602601" y="1915012"/>
            <a:ext cx="3184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9BCE062-B415-9787-C388-6E6F67D2A7EA}"/>
              </a:ext>
            </a:extLst>
          </p:cNvPr>
          <p:cNvCxnSpPr>
            <a:cxnSpLocks/>
          </p:cNvCxnSpPr>
          <p:nvPr/>
        </p:nvCxnSpPr>
        <p:spPr>
          <a:xfrm>
            <a:off x="6921060" y="1911837"/>
            <a:ext cx="0" cy="100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A2FE8DC-7AD9-838F-7140-E511544A2D57}"/>
              </a:ext>
            </a:extLst>
          </p:cNvPr>
          <p:cNvCxnSpPr>
            <a:cxnSpLocks/>
          </p:cNvCxnSpPr>
          <p:nvPr/>
        </p:nvCxnSpPr>
        <p:spPr>
          <a:xfrm>
            <a:off x="6921060" y="2008197"/>
            <a:ext cx="737003" cy="21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A581A77-B769-82FB-F621-E0838123FDFC}"/>
              </a:ext>
            </a:extLst>
          </p:cNvPr>
          <p:cNvCxnSpPr>
            <a:cxnSpLocks/>
          </p:cNvCxnSpPr>
          <p:nvPr/>
        </p:nvCxnSpPr>
        <p:spPr>
          <a:xfrm>
            <a:off x="7658063" y="2008197"/>
            <a:ext cx="0" cy="1433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509934E-FCBC-2CF6-BC9B-8A46720B4584}"/>
              </a:ext>
            </a:extLst>
          </p:cNvPr>
          <p:cNvCxnSpPr>
            <a:cxnSpLocks/>
          </p:cNvCxnSpPr>
          <p:nvPr/>
        </p:nvCxnSpPr>
        <p:spPr>
          <a:xfrm>
            <a:off x="6199551" y="1746866"/>
            <a:ext cx="0" cy="1177239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E9E0A48-91A2-B94D-ECD6-D47C3904544E}"/>
              </a:ext>
            </a:extLst>
          </p:cNvPr>
          <p:cNvCxnSpPr>
            <a:cxnSpLocks/>
          </p:cNvCxnSpPr>
          <p:nvPr/>
        </p:nvCxnSpPr>
        <p:spPr>
          <a:xfrm>
            <a:off x="6602601" y="1960636"/>
            <a:ext cx="0" cy="922139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6B17062-A6E1-7B9B-93D6-3CB96BE8A985}"/>
              </a:ext>
            </a:extLst>
          </p:cNvPr>
          <p:cNvCxnSpPr>
            <a:cxnSpLocks/>
          </p:cNvCxnSpPr>
          <p:nvPr/>
        </p:nvCxnSpPr>
        <p:spPr>
          <a:xfrm>
            <a:off x="6921060" y="2044454"/>
            <a:ext cx="0" cy="879651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E9D2846-E945-E52D-9C87-771691DD70AF}"/>
                  </a:ext>
                </a:extLst>
              </p:cNvPr>
              <p:cNvSpPr txBox="1"/>
              <p:nvPr/>
            </p:nvSpPr>
            <p:spPr>
              <a:xfrm>
                <a:off x="5849454" y="2882775"/>
                <a:ext cx="669208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E9D2846-E945-E52D-9C87-771691DD7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9454" y="2882775"/>
                <a:ext cx="669208" cy="323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EB5FA5C-8200-D333-F582-9E02614F076D}"/>
                  </a:ext>
                </a:extLst>
              </p:cNvPr>
              <p:cNvSpPr txBox="1"/>
              <p:nvPr/>
            </p:nvSpPr>
            <p:spPr>
              <a:xfrm>
                <a:off x="6267997" y="2900720"/>
                <a:ext cx="669208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EB5FA5C-8200-D333-F582-9E02614F0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997" y="2900720"/>
                <a:ext cx="669208" cy="3231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F196853-6463-9E69-C2A9-0B8E943AED38}"/>
                  </a:ext>
                </a:extLst>
              </p:cNvPr>
              <p:cNvSpPr txBox="1"/>
              <p:nvPr/>
            </p:nvSpPr>
            <p:spPr>
              <a:xfrm>
                <a:off x="6637700" y="2912413"/>
                <a:ext cx="669208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F196853-6463-9E69-C2A9-0B8E943AE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7700" y="2912413"/>
                <a:ext cx="669208" cy="3231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1237C925-AC78-E0E0-4DE6-42A9C7BF2E17}"/>
              </a:ext>
            </a:extLst>
          </p:cNvPr>
          <p:cNvSpPr txBox="1"/>
          <p:nvPr/>
        </p:nvSpPr>
        <p:spPr>
          <a:xfrm>
            <a:off x="633101" y="3614392"/>
            <a:ext cx="4114800" cy="103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Solved using a genetic algorithm (NSGA-II)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Integer design variables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Solved under </a:t>
            </a:r>
            <a:r>
              <a:rPr lang="en-US" sz="1400" i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redesign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 and</a:t>
            </a:r>
            <a:r>
              <a:rPr lang="en-US" sz="1400" i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 retrofit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 framework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C7F2DF-2F91-451E-6E01-40667587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24</a:t>
            </a:fld>
            <a:endParaRPr lang="de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A9BC4-05D0-E3EB-0B85-DC6EA5C5DBE1}"/>
              </a:ext>
            </a:extLst>
          </p:cNvPr>
          <p:cNvSpPr txBox="1"/>
          <p:nvPr/>
        </p:nvSpPr>
        <p:spPr>
          <a:xfrm>
            <a:off x="5294920" y="2655341"/>
            <a:ext cx="625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2030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6499C0-2BAB-369C-2949-ED5D5474C714}"/>
              </a:ext>
            </a:extLst>
          </p:cNvPr>
          <p:cNvSpPr txBox="1"/>
          <p:nvPr/>
        </p:nvSpPr>
        <p:spPr>
          <a:xfrm>
            <a:off x="7671608" y="2636579"/>
            <a:ext cx="625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2070</a:t>
            </a:r>
          </a:p>
        </p:txBody>
      </p:sp>
    </p:spTree>
    <p:extLst>
      <p:ext uri="{BB962C8B-B14F-4D97-AF65-F5344CB8AC3E}">
        <p14:creationId xmlns:p14="http://schemas.microsoft.com/office/powerpoint/2010/main" val="2550918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0D152-B24F-4C90-ACB7-F49C9879B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F1FE1F-9AE5-8A78-D080-3BF34F69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optimal discrete upgrade schedules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9BB6B717-E75A-BA48-554E-5F294C0BD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25</a:t>
            </a:fld>
            <a:endParaRPr lang="de-DE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B072194-D653-5732-32EA-E8533C14B3E1}"/>
              </a:ext>
            </a:extLst>
          </p:cNvPr>
          <p:cNvGrpSpPr/>
          <p:nvPr/>
        </p:nvGrpSpPr>
        <p:grpSpPr>
          <a:xfrm>
            <a:off x="2844765" y="853338"/>
            <a:ext cx="2880000" cy="3773486"/>
            <a:chOff x="880739" y="909049"/>
            <a:chExt cx="2880000" cy="377348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D459C41-F535-889E-2D22-84813208B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13" t="12102" r="62216" b="9032"/>
            <a:stretch>
              <a:fillRect/>
            </a:stretch>
          </p:blipFill>
          <p:spPr>
            <a:xfrm>
              <a:off x="880739" y="1278381"/>
              <a:ext cx="2880000" cy="265348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89E608A-C7A9-4389-A5C8-4CD148853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2326" t="14506" r="63247" b="69384"/>
            <a:stretch>
              <a:fillRect/>
            </a:stretch>
          </p:blipFill>
          <p:spPr>
            <a:xfrm>
              <a:off x="1500297" y="3964678"/>
              <a:ext cx="1800000" cy="71785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57D802D-A058-A986-E6C7-F4BAA92E2AD7}"/>
                </a:ext>
              </a:extLst>
            </p:cNvPr>
            <p:cNvSpPr txBox="1"/>
            <p:nvPr/>
          </p:nvSpPr>
          <p:spPr>
            <a:xfrm>
              <a:off x="1275723" y="909049"/>
              <a:ext cx="2485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elvetica" pitchFamily="2" charset="0"/>
                </a:rPr>
                <a:t>Clean-sheet redesign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EC5F157-842B-0123-E37A-92EAFCEFA0BD}"/>
              </a:ext>
            </a:extLst>
          </p:cNvPr>
          <p:cNvGrpSpPr/>
          <p:nvPr/>
        </p:nvGrpSpPr>
        <p:grpSpPr>
          <a:xfrm>
            <a:off x="5849625" y="853338"/>
            <a:ext cx="3006323" cy="3022817"/>
            <a:chOff x="5383263" y="909049"/>
            <a:chExt cx="3006323" cy="302281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E049DD8-B3FB-F41F-CFF2-BE3E8F780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213" t="12102" r="62216" b="9031"/>
            <a:stretch>
              <a:fillRect/>
            </a:stretch>
          </p:blipFill>
          <p:spPr>
            <a:xfrm>
              <a:off x="5383263" y="1278381"/>
              <a:ext cx="2880000" cy="265348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5A22043-2F55-C875-20BD-F7ED1C85EC39}"/>
                </a:ext>
              </a:extLst>
            </p:cNvPr>
            <p:cNvSpPr txBox="1"/>
            <p:nvPr/>
          </p:nvSpPr>
          <p:spPr>
            <a:xfrm>
              <a:off x="5632984" y="909049"/>
              <a:ext cx="27566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elvetica" pitchFamily="2" charset="0"/>
                </a:rPr>
                <a:t>Component-swap retrofit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C732D98-5D6A-36BF-A10F-B2FF470118B7}"/>
              </a:ext>
            </a:extLst>
          </p:cNvPr>
          <p:cNvSpPr txBox="1"/>
          <p:nvPr/>
        </p:nvSpPr>
        <p:spPr>
          <a:xfrm>
            <a:off x="288052" y="853338"/>
            <a:ext cx="23128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Conservative example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Discrete upgrades are </a:t>
            </a:r>
            <a:r>
              <a:rPr lang="en-US" sz="1400" dirty="0">
                <a:solidFill>
                  <a:srgbClr val="C00000"/>
                </a:solidFill>
                <a:latin typeface="Helvetica" pitchFamily="2" charset="0"/>
              </a:rPr>
              <a:t>non-uniform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Optimizer clusters upgrades </a:t>
            </a:r>
            <a:r>
              <a:rPr lang="en-US" sz="1400" dirty="0">
                <a:solidFill>
                  <a:srgbClr val="C00000"/>
                </a:solidFill>
                <a:latin typeface="Helvetica" pitchFamily="2" charset="0"/>
              </a:rPr>
              <a:t>closer together during earlier years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and spaces them further apart during later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Optimal discrete upgrades are </a:t>
            </a:r>
            <a:r>
              <a:rPr lang="en-US" sz="1400" dirty="0">
                <a:solidFill>
                  <a:srgbClr val="C00000"/>
                </a:solidFill>
                <a:latin typeface="Helvetica" pitchFamily="2" charset="0"/>
              </a:rPr>
              <a:t>21.9% better than uniform upgrades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in 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redesign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case, and </a:t>
            </a:r>
            <a:r>
              <a:rPr lang="en-US" sz="1400" dirty="0">
                <a:solidFill>
                  <a:srgbClr val="C00000"/>
                </a:solidFill>
                <a:latin typeface="Helvetica" pitchFamily="2" charset="0"/>
              </a:rPr>
              <a:t>1.2% better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in 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retrofit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case.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2D8A8A6-2F19-0FF3-1A04-4CF2860A5790}"/>
                  </a:ext>
                </a:extLst>
              </p:cNvPr>
              <p:cNvSpPr txBox="1"/>
              <p:nvPr/>
            </p:nvSpPr>
            <p:spPr>
              <a:xfrm>
                <a:off x="3325877" y="4617888"/>
                <a:ext cx="17167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=21.9%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2D8A8A6-2F19-0FF3-1A04-4CF2860A5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877" y="4617888"/>
                <a:ext cx="1716792" cy="369332"/>
              </a:xfrm>
              <a:prstGeom prst="rect">
                <a:avLst/>
              </a:prstGeom>
              <a:blipFill>
                <a:blip r:embed="rId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>
            <a:extLst>
              <a:ext uri="{FF2B5EF4-FFF2-40B4-BE49-F238E27FC236}">
                <a16:creationId xmlns:a16="http://schemas.microsoft.com/office/drawing/2014/main" id="{2B19C92B-A979-2CFC-0F22-17C023E77E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2422" t="39422" r="63137" b="45722"/>
          <a:stretch>
            <a:fillRect/>
          </a:stretch>
        </p:blipFill>
        <p:spPr>
          <a:xfrm>
            <a:off x="6577647" y="3937232"/>
            <a:ext cx="1800000" cy="661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54F0AF2-4521-755A-B23A-897588C2BD14}"/>
                  </a:ext>
                </a:extLst>
              </p:cNvPr>
              <p:cNvSpPr txBox="1"/>
              <p:nvPr/>
            </p:nvSpPr>
            <p:spPr>
              <a:xfrm>
                <a:off x="6403151" y="4626824"/>
                <a:ext cx="16087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=1.2%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54F0AF2-4521-755A-B23A-897588C2B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151" y="4626824"/>
                <a:ext cx="160873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Graphic 37" descr="Thumbs up sign outline">
            <a:extLst>
              <a:ext uri="{FF2B5EF4-FFF2-40B4-BE49-F238E27FC236}">
                <a16:creationId xmlns:a16="http://schemas.microsoft.com/office/drawing/2014/main" id="{7B170C3A-8484-B8DF-8716-B65D2C99F1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44579" y="4590508"/>
            <a:ext cx="392362" cy="392362"/>
          </a:xfrm>
          <a:prstGeom prst="rect">
            <a:avLst/>
          </a:prstGeom>
        </p:spPr>
      </p:pic>
      <p:pic>
        <p:nvPicPr>
          <p:cNvPr id="39" name="Graphic 38" descr="Thumbs up sign outline">
            <a:extLst>
              <a:ext uri="{FF2B5EF4-FFF2-40B4-BE49-F238E27FC236}">
                <a16:creationId xmlns:a16="http://schemas.microsoft.com/office/drawing/2014/main" id="{37E880AA-E95C-E814-D859-4E986225DA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80217" y="4615309"/>
            <a:ext cx="392362" cy="39236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8080555-C881-A1C8-E803-6D3DDCCB3781}"/>
              </a:ext>
            </a:extLst>
          </p:cNvPr>
          <p:cNvGrpSpPr/>
          <p:nvPr/>
        </p:nvGrpSpPr>
        <p:grpSpPr>
          <a:xfrm>
            <a:off x="2658203" y="700650"/>
            <a:ext cx="6133124" cy="4307021"/>
            <a:chOff x="2658203" y="700650"/>
            <a:chExt cx="6133124" cy="430702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A2F2503-DCCA-079E-FADC-3516E9D57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58203" y="700650"/>
              <a:ext cx="6133124" cy="4307021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509A997-EBCA-9A7C-7006-9C7B25728AFA}"/>
                </a:ext>
              </a:extLst>
            </p:cNvPr>
            <p:cNvSpPr/>
            <p:nvPr/>
          </p:nvSpPr>
          <p:spPr>
            <a:xfrm>
              <a:off x="6099346" y="1744690"/>
              <a:ext cx="1190279" cy="219254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09FF07-6612-24BE-0FBC-B33A84398ADD}"/>
                </a:ext>
              </a:extLst>
            </p:cNvPr>
            <p:cNvSpPr txBox="1"/>
            <p:nvPr/>
          </p:nvSpPr>
          <p:spPr>
            <a:xfrm>
              <a:off x="6086989" y="982528"/>
              <a:ext cx="1516294" cy="5847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Helvetica" pitchFamily="2" charset="0"/>
                </a:rPr>
                <a:t>Rapid improvement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236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BD627-F889-69B3-34EB-92F3BFC78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96C7D-CC7D-D7B4-9F8F-B7F9A9CBE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u="sng" dirty="0"/>
              <a:t>Part V</a:t>
            </a:r>
            <a:br>
              <a:rPr lang="en-US" dirty="0"/>
            </a:br>
            <a:r>
              <a:rPr lang="en-US" dirty="0"/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8581514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121E3-A3EA-26E3-0CCA-6547023E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3C90FC-4A9B-3624-406D-21CCF4679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Concluding remarks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30A4-0081-9677-E893-3D0B47DBD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Hybrid MDF–IDF </a:t>
            </a:r>
            <a:r>
              <a:rPr lang="en-US" dirty="0">
                <a:solidFill>
                  <a:srgbClr val="C00000"/>
                </a:solidFill>
              </a:rPr>
              <a:t>was selected for the MDO architecture </a:t>
            </a:r>
            <a:r>
              <a:rPr lang="en-US" dirty="0"/>
              <a:t>since it provides a balance of </a:t>
            </a:r>
            <a:r>
              <a:rPr lang="en-US" i="1" dirty="0"/>
              <a:t>computational efficiency, robustness, and optimality.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The optimal eVTOL conceptual design </a:t>
            </a:r>
            <a:r>
              <a:rPr lang="en-US" dirty="0">
                <a:solidFill>
                  <a:srgbClr val="C00000"/>
                </a:solidFill>
              </a:rPr>
              <a:t>is affected by </a:t>
            </a:r>
            <a:r>
              <a:rPr lang="en-US" dirty="0"/>
              <a:t>the </a:t>
            </a:r>
            <a:r>
              <a:rPr lang="en-US" i="1" dirty="0"/>
              <a:t>design objective selection, mission requirements, and technology levels.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Battery specific energy is </a:t>
            </a:r>
            <a:r>
              <a:rPr lang="en-US" dirty="0">
                <a:solidFill>
                  <a:srgbClr val="C00000"/>
                </a:solidFill>
              </a:rPr>
              <a:t>the dominant technology driver</a:t>
            </a:r>
            <a:r>
              <a:rPr lang="en-US" dirty="0"/>
              <a:t>, with powertrain specific power becoming more influential in later years.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Optimal discrete upgrade schedules are </a:t>
            </a:r>
            <a:r>
              <a:rPr lang="en-US" dirty="0">
                <a:solidFill>
                  <a:srgbClr val="C00000"/>
                </a:solidFill>
              </a:rPr>
              <a:t>non-uniform</a:t>
            </a:r>
            <a:r>
              <a:rPr lang="en-US" dirty="0"/>
              <a:t> and should be </a:t>
            </a:r>
            <a:r>
              <a:rPr lang="en-US" i="1" dirty="0"/>
              <a:t>concentrated during rapid technology advancement.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18B10E-8047-FC20-213F-EAF446EB8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27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37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29FB3-9AE4-C95E-D17A-B1BA6F02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750DD3-C54F-B2F9-76BA-5824DD82F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work: future-aware design optimization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6E9EBF-D84A-AEBD-D919-0B7ABA9F9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28</a:t>
            </a:fld>
            <a:endParaRPr lang="de-DE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6E991E6-1EDA-AFED-FF3F-7F32FD806953}"/>
              </a:ext>
            </a:extLst>
          </p:cNvPr>
          <p:cNvCxnSpPr>
            <a:cxnSpLocks/>
          </p:cNvCxnSpPr>
          <p:nvPr/>
        </p:nvCxnSpPr>
        <p:spPr>
          <a:xfrm>
            <a:off x="2053405" y="3407343"/>
            <a:ext cx="338486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D072664-8756-9EE3-C6CC-63591429B9A3}"/>
              </a:ext>
            </a:extLst>
          </p:cNvPr>
          <p:cNvCxnSpPr>
            <a:cxnSpLocks/>
          </p:cNvCxnSpPr>
          <p:nvPr/>
        </p:nvCxnSpPr>
        <p:spPr>
          <a:xfrm flipV="1">
            <a:off x="2052183" y="1010810"/>
            <a:ext cx="0" cy="23965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90630ED-CBD9-BD4B-091F-B7A1CA23BADB}"/>
              </a:ext>
            </a:extLst>
          </p:cNvPr>
          <p:cNvSpPr txBox="1">
            <a:spLocks/>
          </p:cNvSpPr>
          <p:nvPr/>
        </p:nvSpPr>
        <p:spPr>
          <a:xfrm>
            <a:off x="856818" y="1445791"/>
            <a:ext cx="1195365" cy="650513"/>
          </a:xfrm>
          <a:prstGeom prst="rect">
            <a:avLst/>
          </a:prstGeom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Objective</a:t>
            </a:r>
          </a:p>
          <a:p>
            <a:pPr marL="0" indent="0" algn="ctr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function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C8A82DA-F786-46A6-3774-6023ABAA654A}"/>
              </a:ext>
            </a:extLst>
          </p:cNvPr>
          <p:cNvSpPr txBox="1">
            <a:spLocks/>
          </p:cNvSpPr>
          <p:nvPr/>
        </p:nvSpPr>
        <p:spPr>
          <a:xfrm>
            <a:off x="3187651" y="3325626"/>
            <a:ext cx="949523" cy="420359"/>
          </a:xfrm>
          <a:prstGeom prst="rect">
            <a:avLst/>
          </a:prstGeom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Year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78B3EE-EB92-8090-498C-4B52FCD19903}"/>
              </a:ext>
            </a:extLst>
          </p:cNvPr>
          <p:cNvSpPr txBox="1"/>
          <p:nvPr/>
        </p:nvSpPr>
        <p:spPr>
          <a:xfrm>
            <a:off x="2010560" y="3448986"/>
            <a:ext cx="88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Helvetica" pitchFamily="2" charset="0"/>
              </a:rPr>
              <a:t>2030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2B6AD483-0F7C-FC65-01B8-F8E9DA41CCC1}"/>
              </a:ext>
            </a:extLst>
          </p:cNvPr>
          <p:cNvSpPr txBox="1">
            <a:spLocks/>
          </p:cNvSpPr>
          <p:nvPr/>
        </p:nvSpPr>
        <p:spPr>
          <a:xfrm>
            <a:off x="4985703" y="2111516"/>
            <a:ext cx="3057078" cy="433164"/>
          </a:xfrm>
          <a:prstGeom prst="rect">
            <a:avLst/>
          </a:prstGeom>
          <a:ln>
            <a:noFill/>
          </a:ln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/>
              <a:buNone/>
            </a:pPr>
            <a:r>
              <a:rPr lang="en-US" sz="1400" b="1" dirty="0">
                <a:solidFill>
                  <a:schemeClr val="tx2"/>
                </a:solidFill>
              </a:rPr>
              <a:t>design optimized at EIS</a:t>
            </a:r>
            <a:r>
              <a:rPr lang="en-US" sz="1400" dirty="0">
                <a:solidFill>
                  <a:schemeClr val="tx2"/>
                </a:solidFill>
              </a:rPr>
              <a:t>,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i="1" dirty="0">
                <a:solidFill>
                  <a:schemeClr val="tx2"/>
                </a:solidFill>
              </a:rPr>
              <a:t>retrofitted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2">
                <a:extLst>
                  <a:ext uri="{FF2B5EF4-FFF2-40B4-BE49-F238E27FC236}">
                    <a16:creationId xmlns:a16="http://schemas.microsoft.com/office/drawing/2014/main" id="{D28F7AEE-16F1-51FE-B4D4-E57909542E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85705" y="2826779"/>
                <a:ext cx="3701089" cy="620223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0" tIns="45720" rIns="91440" bIns="0" rtlCol="0">
                <a:noAutofit/>
              </a:bodyPr>
              <a:lstStyle>
                <a:lvl1pPr marL="257175" indent="-257175" algn="l" defTabSz="3429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defRPr>
                </a:lvl1pPr>
                <a:lvl2pPr marL="557213" indent="-214313" algn="l" defTabSz="3429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/>
                  <a:buChar char="–"/>
                  <a:defRPr sz="1600" kern="1200">
                    <a:solidFill>
                      <a:schemeClr val="tx1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defRPr>
                </a:lvl2pPr>
                <a:lvl3pPr marL="857250" indent="-171450" algn="l" defTabSz="3429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/>
                  <a:buChar char="•"/>
                  <a:defRPr sz="1600" kern="1200">
                    <a:solidFill>
                      <a:schemeClr val="tx1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defRPr>
                </a:lvl3pPr>
                <a:lvl4pPr marL="1200150" indent="-171450" algn="l" defTabSz="3429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/>
                  <a:buChar char="–"/>
                  <a:defRPr sz="1600" kern="1200">
                    <a:solidFill>
                      <a:schemeClr val="tx1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defRPr>
                </a:lvl4pPr>
                <a:lvl5pPr marL="1543050" indent="-171450" algn="l" defTabSz="3429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/>
                  <a:buChar char="»"/>
                  <a:defRPr sz="1600" kern="1200">
                    <a:solidFill>
                      <a:schemeClr val="tx1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defRPr>
                </a:lvl5pPr>
                <a:lvl6pPr marL="1885950" indent="-17145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lnSpc>
                    <a:spcPct val="100000"/>
                  </a:lnSpc>
                  <a:spcAft>
                    <a:spcPts val="0"/>
                  </a:spcAft>
                  <a:buFont typeface="Arial"/>
                  <a:buNone/>
                </a:pPr>
                <a:r>
                  <a:rPr lang="en-US" sz="1400" b="1" dirty="0">
                    <a:solidFill>
                      <a:srgbClr val="00B050"/>
                    </a:solidFill>
                  </a:rPr>
                  <a:t>utopian,</a:t>
                </a:r>
                <a:r>
                  <a:rPr lang="en-US" sz="1400" dirty="0">
                    <a:solidFill>
                      <a:srgbClr val="00B050"/>
                    </a:solidFill>
                  </a:rPr>
                  <a:t> </a:t>
                </a:r>
                <a:r>
                  <a:rPr lang="en-US" sz="1400" i="1" dirty="0">
                    <a:solidFill>
                      <a:srgbClr val="00B050"/>
                    </a:solidFill>
                  </a:rPr>
                  <a:t>redesigned</a:t>
                </a:r>
                <a:r>
                  <a:rPr lang="en-US" sz="1400" dirty="0">
                    <a:solidFill>
                      <a:srgbClr val="00B050"/>
                    </a:solidFill>
                  </a:rPr>
                  <a:t> every year</a:t>
                </a:r>
              </a:p>
              <a:p>
                <a:pPr marL="0" indent="0" fontAlgn="auto">
                  <a:lnSpc>
                    <a:spcPct val="100000"/>
                  </a:lnSpc>
                  <a:spcAft>
                    <a:spcPts val="0"/>
                  </a:spcAft>
                  <a:buFont typeface="Arial"/>
                  <a:buNone/>
                </a:pPr>
                <a:r>
                  <a:rPr lang="en-US" sz="1400" dirty="0">
                    <a:solidFill>
                      <a:srgbClr val="00B050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14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b="1" dirty="0">
                    <a:solidFill>
                      <a:srgbClr val="00B050"/>
                    </a:solidFill>
                  </a:rPr>
                  <a:t> </a:t>
                </a:r>
                <a:r>
                  <a:rPr lang="en-US" sz="1400" dirty="0">
                    <a:solidFill>
                      <a:srgbClr val="00B050"/>
                    </a:solidFill>
                  </a:rPr>
                  <a:t>changes with time)</a:t>
                </a:r>
              </a:p>
            </p:txBody>
          </p:sp>
        </mc:Choice>
        <mc:Fallback xmlns="">
          <p:sp>
            <p:nvSpPr>
              <p:cNvPr id="29" name="Content Placeholder 2">
                <a:extLst>
                  <a:ext uri="{FF2B5EF4-FFF2-40B4-BE49-F238E27FC236}">
                    <a16:creationId xmlns:a16="http://schemas.microsoft.com/office/drawing/2014/main" id="{D28F7AEE-16F1-51FE-B4D4-E57909542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705" y="2826779"/>
                <a:ext cx="3701089" cy="620223"/>
              </a:xfrm>
              <a:prstGeom prst="rect">
                <a:avLst/>
              </a:prstGeom>
              <a:blipFill>
                <a:blip r:embed="rId3"/>
                <a:stretch>
                  <a:fillRect l="-2740" t="-2000" b="-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05479455-237D-D785-99EB-6A681D84E645}"/>
              </a:ext>
            </a:extLst>
          </p:cNvPr>
          <p:cNvSpPr txBox="1"/>
          <p:nvPr/>
        </p:nvSpPr>
        <p:spPr>
          <a:xfrm>
            <a:off x="6014720" y="3860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79E1D72C-E361-9AF3-5894-BF243D0EE557}"/>
              </a:ext>
            </a:extLst>
          </p:cNvPr>
          <p:cNvSpPr txBox="1">
            <a:spLocks/>
          </p:cNvSpPr>
          <p:nvPr/>
        </p:nvSpPr>
        <p:spPr>
          <a:xfrm>
            <a:off x="4985700" y="2449885"/>
            <a:ext cx="2579746" cy="433164"/>
          </a:xfrm>
          <a:prstGeom prst="rect">
            <a:avLst/>
          </a:prstGeom>
          <a:ln>
            <a:noFill/>
          </a:ln>
        </p:spPr>
        <p:txBody>
          <a:bodyPr vert="horz" lIns="0" tIns="45720" rIns="91440" bIns="0" rtlCol="0">
            <a:noAutofit/>
          </a:bodyPr>
          <a:lstStyle>
            <a:lvl1pPr marL="257175" indent="-257175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557213" indent="-214313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8572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2001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543050" indent="-171450" algn="l" defTabSz="342900" rtl="0" eaLnBrk="1" latinLnBrk="0" hangingPunct="1">
              <a:lnSpc>
                <a:spcPct val="15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/>
              <a:buNone/>
            </a:pPr>
            <a:r>
              <a:rPr lang="en-US" sz="1400" b="1" dirty="0">
                <a:solidFill>
                  <a:srgbClr val="C00000"/>
                </a:solidFill>
              </a:rPr>
              <a:t>future-aware </a:t>
            </a:r>
            <a:r>
              <a:rPr lang="en-US" sz="1400" dirty="0">
                <a:solidFill>
                  <a:srgbClr val="C00000"/>
                </a:solidFill>
              </a:rPr>
              <a:t>design, </a:t>
            </a:r>
            <a:r>
              <a:rPr lang="en-US" sz="1400" i="1" dirty="0">
                <a:solidFill>
                  <a:srgbClr val="C00000"/>
                </a:solidFill>
              </a:rPr>
              <a:t>retrofitted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51303A07-1AA8-B777-BE60-A92B3727DA40}"/>
              </a:ext>
            </a:extLst>
          </p:cNvPr>
          <p:cNvSpPr/>
          <p:nvPr/>
        </p:nvSpPr>
        <p:spPr>
          <a:xfrm>
            <a:off x="2464067" y="1771048"/>
            <a:ext cx="2406315" cy="1272387"/>
          </a:xfrm>
          <a:custGeom>
            <a:avLst/>
            <a:gdLst>
              <a:gd name="csX0" fmla="*/ 0 w 2438000"/>
              <a:gd name="csY0" fmla="*/ 0 h 1272387"/>
              <a:gd name="csX1" fmla="*/ 77002 w 2438000"/>
              <a:gd name="csY1" fmla="*/ 327259 h 1272387"/>
              <a:gd name="csX2" fmla="*/ 173255 w 2438000"/>
              <a:gd name="csY2" fmla="*/ 548640 h 1272387"/>
              <a:gd name="csX3" fmla="*/ 288758 w 2438000"/>
              <a:gd name="csY3" fmla="*/ 702645 h 1272387"/>
              <a:gd name="csX4" fmla="*/ 529390 w 2438000"/>
              <a:gd name="csY4" fmla="*/ 885525 h 1272387"/>
              <a:gd name="csX5" fmla="*/ 779647 w 2438000"/>
              <a:gd name="csY5" fmla="*/ 991403 h 1272387"/>
              <a:gd name="csX6" fmla="*/ 1049154 w 2438000"/>
              <a:gd name="csY6" fmla="*/ 1058779 h 1272387"/>
              <a:gd name="csX7" fmla="*/ 1424539 w 2438000"/>
              <a:gd name="csY7" fmla="*/ 1145407 h 1272387"/>
              <a:gd name="csX8" fmla="*/ 1867301 w 2438000"/>
              <a:gd name="csY8" fmla="*/ 1212784 h 1272387"/>
              <a:gd name="csX9" fmla="*/ 2156059 w 2438000"/>
              <a:gd name="csY9" fmla="*/ 1251285 h 1272387"/>
              <a:gd name="csX10" fmla="*/ 2415941 w 2438000"/>
              <a:gd name="csY10" fmla="*/ 1270535 h 1272387"/>
              <a:gd name="csX11" fmla="*/ 2406316 w 2438000"/>
              <a:gd name="csY11" fmla="*/ 1270535 h 12723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438000" h="1272387">
                <a:moveTo>
                  <a:pt x="0" y="0"/>
                </a:moveTo>
                <a:cubicBezTo>
                  <a:pt x="24063" y="117909"/>
                  <a:pt x="48126" y="235819"/>
                  <a:pt x="77002" y="327259"/>
                </a:cubicBezTo>
                <a:cubicBezTo>
                  <a:pt x="105878" y="418699"/>
                  <a:pt x="137962" y="486076"/>
                  <a:pt x="173255" y="548640"/>
                </a:cubicBezTo>
                <a:cubicBezTo>
                  <a:pt x="208548" y="611204"/>
                  <a:pt x="229402" y="646498"/>
                  <a:pt x="288758" y="702645"/>
                </a:cubicBezTo>
                <a:cubicBezTo>
                  <a:pt x="348114" y="758793"/>
                  <a:pt x="447575" y="837399"/>
                  <a:pt x="529390" y="885525"/>
                </a:cubicBezTo>
                <a:cubicBezTo>
                  <a:pt x="611205" y="933651"/>
                  <a:pt x="693020" y="962527"/>
                  <a:pt x="779647" y="991403"/>
                </a:cubicBezTo>
                <a:cubicBezTo>
                  <a:pt x="866274" y="1020279"/>
                  <a:pt x="1049154" y="1058779"/>
                  <a:pt x="1049154" y="1058779"/>
                </a:cubicBezTo>
                <a:cubicBezTo>
                  <a:pt x="1156636" y="1084446"/>
                  <a:pt x="1288181" y="1119740"/>
                  <a:pt x="1424539" y="1145407"/>
                </a:cubicBezTo>
                <a:cubicBezTo>
                  <a:pt x="1560897" y="1171075"/>
                  <a:pt x="1745381" y="1195138"/>
                  <a:pt x="1867301" y="1212784"/>
                </a:cubicBezTo>
                <a:cubicBezTo>
                  <a:pt x="1989221" y="1230430"/>
                  <a:pt x="2064619" y="1241660"/>
                  <a:pt x="2156059" y="1251285"/>
                </a:cubicBezTo>
                <a:cubicBezTo>
                  <a:pt x="2247499" y="1260910"/>
                  <a:pt x="2415941" y="1270535"/>
                  <a:pt x="2415941" y="1270535"/>
                </a:cubicBezTo>
                <a:cubicBezTo>
                  <a:pt x="2457651" y="1273743"/>
                  <a:pt x="2431983" y="1272139"/>
                  <a:pt x="2406316" y="1270535"/>
                </a:cubicBezTo>
              </a:path>
            </a:pathLst>
          </a:custGeom>
          <a:noFill/>
          <a:ln w="19050">
            <a:solidFill>
              <a:srgbClr val="00B05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126B69-8BE7-83C4-E2E3-95875DF7B23D}"/>
              </a:ext>
            </a:extLst>
          </p:cNvPr>
          <p:cNvSpPr txBox="1"/>
          <p:nvPr/>
        </p:nvSpPr>
        <p:spPr>
          <a:xfrm>
            <a:off x="4435423" y="3467638"/>
            <a:ext cx="887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Helvetica" pitchFamily="2" charset="0"/>
              </a:rPr>
              <a:t>2070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6A6E8D-7220-B81D-7A7F-3BE7BE93F269}"/>
              </a:ext>
            </a:extLst>
          </p:cNvPr>
          <p:cNvSpPr txBox="1"/>
          <p:nvPr/>
        </p:nvSpPr>
        <p:spPr>
          <a:xfrm>
            <a:off x="1469222" y="4054454"/>
            <a:ext cx="63649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What if we have </a:t>
            </a:r>
            <a:r>
              <a:rPr lang="en-US" sz="1600" i="1" dirty="0">
                <a:solidFill>
                  <a:srgbClr val="FF0000"/>
                </a:solidFill>
                <a:latin typeface="Helvetica" pitchFamily="2" charset="0"/>
              </a:rPr>
              <a:t>a design that may perform slightly poor at first</a:t>
            </a:r>
            <a:r>
              <a:rPr lang="en-US" sz="1600" dirty="0">
                <a:latin typeface="Helvetica" pitchFamily="2" charset="0"/>
              </a:rPr>
              <a:t> due to being undersized, but </a:t>
            </a:r>
            <a:r>
              <a:rPr lang="en-US" sz="1600" i="1" dirty="0">
                <a:solidFill>
                  <a:srgbClr val="0000FF"/>
                </a:solidFill>
                <a:latin typeface="Helvetica" pitchFamily="2" charset="0"/>
              </a:rPr>
              <a:t>becomes better as technology improves?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04B1BC63-74C3-5FDB-0B3A-CE01C6792265}"/>
              </a:ext>
            </a:extLst>
          </p:cNvPr>
          <p:cNvSpPr/>
          <p:nvPr/>
        </p:nvSpPr>
        <p:spPr>
          <a:xfrm>
            <a:off x="2450592" y="1400338"/>
            <a:ext cx="715845" cy="877824"/>
          </a:xfrm>
          <a:custGeom>
            <a:avLst/>
            <a:gdLst>
              <a:gd name="csX0" fmla="*/ 0 w 715845"/>
              <a:gd name="csY0" fmla="*/ 0 h 877824"/>
              <a:gd name="csX1" fmla="*/ 5225 w 715845"/>
              <a:gd name="csY1" fmla="*/ 365760 h 877824"/>
              <a:gd name="csX2" fmla="*/ 41801 w 715845"/>
              <a:gd name="csY2" fmla="*/ 438912 h 877824"/>
              <a:gd name="csX3" fmla="*/ 78377 w 715845"/>
              <a:gd name="csY3" fmla="*/ 501614 h 877824"/>
              <a:gd name="csX4" fmla="*/ 120178 w 715845"/>
              <a:gd name="csY4" fmla="*/ 559091 h 877824"/>
              <a:gd name="csX5" fmla="*/ 172430 w 715845"/>
              <a:gd name="csY5" fmla="*/ 621792 h 877824"/>
              <a:gd name="csX6" fmla="*/ 224681 w 715845"/>
              <a:gd name="csY6" fmla="*/ 668819 h 877824"/>
              <a:gd name="csX7" fmla="*/ 303058 w 715845"/>
              <a:gd name="csY7" fmla="*/ 721070 h 877824"/>
              <a:gd name="csX8" fmla="*/ 391886 w 715845"/>
              <a:gd name="csY8" fmla="*/ 773321 h 877824"/>
              <a:gd name="csX9" fmla="*/ 491163 w 715845"/>
              <a:gd name="csY9" fmla="*/ 815123 h 877824"/>
              <a:gd name="csX10" fmla="*/ 569541 w 715845"/>
              <a:gd name="csY10" fmla="*/ 841248 h 877824"/>
              <a:gd name="csX11" fmla="*/ 647918 w 715845"/>
              <a:gd name="csY11" fmla="*/ 872599 h 877824"/>
              <a:gd name="csX12" fmla="*/ 715845 w 715845"/>
              <a:gd name="csY12" fmla="*/ 877824 h 877824"/>
              <a:gd name="csX13" fmla="*/ 616567 w 715845"/>
              <a:gd name="csY13" fmla="*/ 815123 h 877824"/>
              <a:gd name="csX14" fmla="*/ 538190 w 715845"/>
              <a:gd name="csY14" fmla="*/ 762871 h 877824"/>
              <a:gd name="csX15" fmla="*/ 459813 w 715845"/>
              <a:gd name="csY15" fmla="*/ 715845 h 877824"/>
              <a:gd name="csX16" fmla="*/ 386661 w 715845"/>
              <a:gd name="csY16" fmla="*/ 658368 h 877824"/>
              <a:gd name="csX17" fmla="*/ 323959 w 715845"/>
              <a:gd name="csY17" fmla="*/ 590441 h 877824"/>
              <a:gd name="csX18" fmla="*/ 245582 w 715845"/>
              <a:gd name="csY18" fmla="*/ 501614 h 877824"/>
              <a:gd name="csX19" fmla="*/ 188105 w 715845"/>
              <a:gd name="csY19" fmla="*/ 386661 h 877824"/>
              <a:gd name="csX20" fmla="*/ 120178 w 715845"/>
              <a:gd name="csY20" fmla="*/ 303059 h 877824"/>
              <a:gd name="csX21" fmla="*/ 78377 w 715845"/>
              <a:gd name="csY21" fmla="*/ 224681 h 877824"/>
              <a:gd name="csX22" fmla="*/ 41801 w 715845"/>
              <a:gd name="csY22" fmla="*/ 135854 h 877824"/>
              <a:gd name="csX23" fmla="*/ 0 w 715845"/>
              <a:gd name="csY23" fmla="*/ 0 h 877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715845" h="877824">
                <a:moveTo>
                  <a:pt x="0" y="0"/>
                </a:moveTo>
                <a:cubicBezTo>
                  <a:pt x="1742" y="121920"/>
                  <a:pt x="3483" y="243840"/>
                  <a:pt x="5225" y="365760"/>
                </a:cubicBezTo>
                <a:lnTo>
                  <a:pt x="41801" y="438912"/>
                </a:lnTo>
                <a:lnTo>
                  <a:pt x="78377" y="501614"/>
                </a:lnTo>
                <a:lnTo>
                  <a:pt x="120178" y="559091"/>
                </a:lnTo>
                <a:lnTo>
                  <a:pt x="172430" y="621792"/>
                </a:lnTo>
                <a:lnTo>
                  <a:pt x="224681" y="668819"/>
                </a:lnTo>
                <a:lnTo>
                  <a:pt x="303058" y="721070"/>
                </a:lnTo>
                <a:lnTo>
                  <a:pt x="391886" y="773321"/>
                </a:lnTo>
                <a:lnTo>
                  <a:pt x="491163" y="815123"/>
                </a:lnTo>
                <a:lnTo>
                  <a:pt x="569541" y="841248"/>
                </a:lnTo>
                <a:lnTo>
                  <a:pt x="647918" y="872599"/>
                </a:lnTo>
                <a:lnTo>
                  <a:pt x="715845" y="877824"/>
                </a:lnTo>
                <a:lnTo>
                  <a:pt x="616567" y="815123"/>
                </a:lnTo>
                <a:lnTo>
                  <a:pt x="538190" y="762871"/>
                </a:lnTo>
                <a:lnTo>
                  <a:pt x="459813" y="715845"/>
                </a:lnTo>
                <a:lnTo>
                  <a:pt x="386661" y="658368"/>
                </a:lnTo>
                <a:lnTo>
                  <a:pt x="323959" y="590441"/>
                </a:lnTo>
                <a:lnTo>
                  <a:pt x="245582" y="501614"/>
                </a:lnTo>
                <a:lnTo>
                  <a:pt x="188105" y="386661"/>
                </a:lnTo>
                <a:lnTo>
                  <a:pt x="120178" y="303059"/>
                </a:lnTo>
                <a:lnTo>
                  <a:pt x="78377" y="224681"/>
                </a:lnTo>
                <a:lnTo>
                  <a:pt x="41801" y="1358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67EB351D-7FD4-281C-45E5-0B9C8F40504E}"/>
              </a:ext>
            </a:extLst>
          </p:cNvPr>
          <p:cNvSpPr/>
          <p:nvPr/>
        </p:nvSpPr>
        <p:spPr>
          <a:xfrm>
            <a:off x="3210128" y="2282757"/>
            <a:ext cx="1663429" cy="402077"/>
          </a:xfrm>
          <a:custGeom>
            <a:avLst/>
            <a:gdLst>
              <a:gd name="csX0" fmla="*/ 0 w 1663429"/>
              <a:gd name="csY0" fmla="*/ 0 h 402077"/>
              <a:gd name="csX1" fmla="*/ 145915 w 1663429"/>
              <a:gd name="csY1" fmla="*/ 29183 h 402077"/>
              <a:gd name="csX2" fmla="*/ 275617 w 1663429"/>
              <a:gd name="csY2" fmla="*/ 45396 h 402077"/>
              <a:gd name="csX3" fmla="*/ 457200 w 1663429"/>
              <a:gd name="csY3" fmla="*/ 61609 h 402077"/>
              <a:gd name="csX4" fmla="*/ 642025 w 1663429"/>
              <a:gd name="csY4" fmla="*/ 81064 h 402077"/>
              <a:gd name="csX5" fmla="*/ 869004 w 1663429"/>
              <a:gd name="csY5" fmla="*/ 103762 h 402077"/>
              <a:gd name="csX6" fmla="*/ 1079770 w 1663429"/>
              <a:gd name="csY6" fmla="*/ 119975 h 402077"/>
              <a:gd name="csX7" fmla="*/ 1387812 w 1663429"/>
              <a:gd name="csY7" fmla="*/ 132945 h 402077"/>
              <a:gd name="csX8" fmla="*/ 1582366 w 1663429"/>
              <a:gd name="csY8" fmla="*/ 149158 h 402077"/>
              <a:gd name="csX9" fmla="*/ 1663429 w 1663429"/>
              <a:gd name="csY9" fmla="*/ 145915 h 402077"/>
              <a:gd name="csX10" fmla="*/ 1663429 w 1663429"/>
              <a:gd name="csY10" fmla="*/ 402077 h 402077"/>
              <a:gd name="csX11" fmla="*/ 1582366 w 1663429"/>
              <a:gd name="csY11" fmla="*/ 392349 h 402077"/>
              <a:gd name="csX12" fmla="*/ 1446178 w 1663429"/>
              <a:gd name="csY12" fmla="*/ 376137 h 402077"/>
              <a:gd name="csX13" fmla="*/ 1254868 w 1663429"/>
              <a:gd name="csY13" fmla="*/ 350196 h 402077"/>
              <a:gd name="csX14" fmla="*/ 1102468 w 1663429"/>
              <a:gd name="csY14" fmla="*/ 324256 h 402077"/>
              <a:gd name="csX15" fmla="*/ 927370 w 1663429"/>
              <a:gd name="csY15" fmla="*/ 301558 h 402077"/>
              <a:gd name="csX16" fmla="*/ 749029 w 1663429"/>
              <a:gd name="csY16" fmla="*/ 262647 h 402077"/>
              <a:gd name="csX17" fmla="*/ 596629 w 1663429"/>
              <a:gd name="csY17" fmla="*/ 226979 h 402077"/>
              <a:gd name="csX18" fmla="*/ 447472 w 1663429"/>
              <a:gd name="csY18" fmla="*/ 188069 h 402077"/>
              <a:gd name="csX19" fmla="*/ 366408 w 1663429"/>
              <a:gd name="csY19" fmla="*/ 155643 h 402077"/>
              <a:gd name="csX20" fmla="*/ 233463 w 1663429"/>
              <a:gd name="csY20" fmla="*/ 113490 h 402077"/>
              <a:gd name="csX21" fmla="*/ 132944 w 1663429"/>
              <a:gd name="csY21" fmla="*/ 68094 h 402077"/>
              <a:gd name="csX22" fmla="*/ 0 w 1663429"/>
              <a:gd name="csY22" fmla="*/ 0 h 4020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663429" h="402077">
                <a:moveTo>
                  <a:pt x="0" y="0"/>
                </a:moveTo>
                <a:lnTo>
                  <a:pt x="145915" y="29183"/>
                </a:lnTo>
                <a:lnTo>
                  <a:pt x="275617" y="45396"/>
                </a:lnTo>
                <a:lnTo>
                  <a:pt x="457200" y="61609"/>
                </a:lnTo>
                <a:lnTo>
                  <a:pt x="642025" y="81064"/>
                </a:lnTo>
                <a:lnTo>
                  <a:pt x="869004" y="103762"/>
                </a:lnTo>
                <a:lnTo>
                  <a:pt x="1079770" y="119975"/>
                </a:lnTo>
                <a:lnTo>
                  <a:pt x="1387812" y="132945"/>
                </a:lnTo>
                <a:lnTo>
                  <a:pt x="1582366" y="149158"/>
                </a:lnTo>
                <a:lnTo>
                  <a:pt x="1663429" y="145915"/>
                </a:lnTo>
                <a:lnTo>
                  <a:pt x="1663429" y="402077"/>
                </a:lnTo>
                <a:lnTo>
                  <a:pt x="1582366" y="392349"/>
                </a:lnTo>
                <a:lnTo>
                  <a:pt x="1446178" y="376137"/>
                </a:lnTo>
                <a:lnTo>
                  <a:pt x="1254868" y="350196"/>
                </a:lnTo>
                <a:lnTo>
                  <a:pt x="1102468" y="324256"/>
                </a:lnTo>
                <a:lnTo>
                  <a:pt x="927370" y="301558"/>
                </a:lnTo>
                <a:lnTo>
                  <a:pt x="749029" y="262647"/>
                </a:lnTo>
                <a:lnTo>
                  <a:pt x="596629" y="226979"/>
                </a:lnTo>
                <a:lnTo>
                  <a:pt x="447472" y="188069"/>
                </a:lnTo>
                <a:lnTo>
                  <a:pt x="366408" y="155643"/>
                </a:lnTo>
                <a:lnTo>
                  <a:pt x="233463" y="113490"/>
                </a:lnTo>
                <a:lnTo>
                  <a:pt x="132944" y="680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AA9B485-D723-0A1C-1B40-1E761BBE1D84}"/>
              </a:ext>
            </a:extLst>
          </p:cNvPr>
          <p:cNvCxnSpPr>
            <a:cxnSpLocks/>
          </p:cNvCxnSpPr>
          <p:nvPr/>
        </p:nvCxnSpPr>
        <p:spPr>
          <a:xfrm flipV="1">
            <a:off x="2495145" y="1130710"/>
            <a:ext cx="352697" cy="615724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CA0EEAA-0346-1E96-D841-04A222A12E1F}"/>
              </a:ext>
            </a:extLst>
          </p:cNvPr>
          <p:cNvCxnSpPr>
            <a:cxnSpLocks/>
          </p:cNvCxnSpPr>
          <p:nvPr/>
        </p:nvCxnSpPr>
        <p:spPr>
          <a:xfrm flipV="1">
            <a:off x="4536230" y="1809219"/>
            <a:ext cx="0" cy="6906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DE72B1E-9C3E-D5CD-01B7-501845B26029}"/>
              </a:ext>
            </a:extLst>
          </p:cNvPr>
          <p:cNvSpPr txBox="1"/>
          <p:nvPr/>
        </p:nvSpPr>
        <p:spPr>
          <a:xfrm>
            <a:off x="2313288" y="849524"/>
            <a:ext cx="1455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latin typeface="Helvetica" pitchFamily="2" charset="0"/>
              </a:rPr>
              <a:t>poor performance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E9C546-CFE0-A5E8-D993-045B01452990}"/>
              </a:ext>
            </a:extLst>
          </p:cNvPr>
          <p:cNvSpPr txBox="1"/>
          <p:nvPr/>
        </p:nvSpPr>
        <p:spPr>
          <a:xfrm>
            <a:off x="3745839" y="1523319"/>
            <a:ext cx="1663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000FF"/>
                </a:solidFill>
                <a:latin typeface="Helvetica" pitchFamily="2" charset="0"/>
              </a:rPr>
              <a:t>better performance</a:t>
            </a:r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7E4F4B61-649E-87AC-E784-66E614D7545A}"/>
              </a:ext>
            </a:extLst>
          </p:cNvPr>
          <p:cNvSpPr/>
          <p:nvPr/>
        </p:nvSpPr>
        <p:spPr>
          <a:xfrm>
            <a:off x="2454440" y="1761423"/>
            <a:ext cx="2415943" cy="664143"/>
          </a:xfrm>
          <a:custGeom>
            <a:avLst/>
            <a:gdLst>
              <a:gd name="csX0" fmla="*/ 0 w 2415941"/>
              <a:gd name="csY0" fmla="*/ 0 h 664143"/>
              <a:gd name="csX1" fmla="*/ 134754 w 2415941"/>
              <a:gd name="csY1" fmla="*/ 221381 h 664143"/>
              <a:gd name="csX2" fmla="*/ 269507 w 2415941"/>
              <a:gd name="csY2" fmla="*/ 336884 h 664143"/>
              <a:gd name="csX3" fmla="*/ 462013 w 2415941"/>
              <a:gd name="csY3" fmla="*/ 442762 h 664143"/>
              <a:gd name="csX4" fmla="*/ 712270 w 2415941"/>
              <a:gd name="csY4" fmla="*/ 519764 h 664143"/>
              <a:gd name="csX5" fmla="*/ 1068404 w 2415941"/>
              <a:gd name="csY5" fmla="*/ 567891 h 664143"/>
              <a:gd name="csX6" fmla="*/ 1434164 w 2415941"/>
              <a:gd name="csY6" fmla="*/ 606392 h 664143"/>
              <a:gd name="csX7" fmla="*/ 1780674 w 2415941"/>
              <a:gd name="csY7" fmla="*/ 635268 h 664143"/>
              <a:gd name="csX8" fmla="*/ 2184935 w 2415941"/>
              <a:gd name="csY8" fmla="*/ 654518 h 664143"/>
              <a:gd name="csX9" fmla="*/ 2415941 w 2415941"/>
              <a:gd name="csY9" fmla="*/ 664143 h 664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415941" h="664143">
                <a:moveTo>
                  <a:pt x="0" y="0"/>
                </a:moveTo>
                <a:cubicBezTo>
                  <a:pt x="44918" y="82617"/>
                  <a:pt x="89836" y="165234"/>
                  <a:pt x="134754" y="221381"/>
                </a:cubicBezTo>
                <a:cubicBezTo>
                  <a:pt x="179672" y="277528"/>
                  <a:pt x="214964" y="299987"/>
                  <a:pt x="269507" y="336884"/>
                </a:cubicBezTo>
                <a:cubicBezTo>
                  <a:pt x="324050" y="373781"/>
                  <a:pt x="388219" y="412282"/>
                  <a:pt x="462013" y="442762"/>
                </a:cubicBezTo>
                <a:cubicBezTo>
                  <a:pt x="535807" y="473242"/>
                  <a:pt x="611205" y="498909"/>
                  <a:pt x="712270" y="519764"/>
                </a:cubicBezTo>
                <a:cubicBezTo>
                  <a:pt x="813335" y="540619"/>
                  <a:pt x="948088" y="553453"/>
                  <a:pt x="1068404" y="567891"/>
                </a:cubicBezTo>
                <a:cubicBezTo>
                  <a:pt x="1188720" y="582329"/>
                  <a:pt x="1315452" y="595163"/>
                  <a:pt x="1434164" y="606392"/>
                </a:cubicBezTo>
                <a:cubicBezTo>
                  <a:pt x="1552876" y="617621"/>
                  <a:pt x="1655546" y="627247"/>
                  <a:pt x="1780674" y="635268"/>
                </a:cubicBezTo>
                <a:cubicBezTo>
                  <a:pt x="1905803" y="643289"/>
                  <a:pt x="2184935" y="654518"/>
                  <a:pt x="2184935" y="654518"/>
                </a:cubicBezTo>
                <a:lnTo>
                  <a:pt x="2415941" y="664143"/>
                </a:lnTo>
              </a:path>
            </a:pathLst>
          </a:custGeom>
          <a:noFill/>
          <a:ln w="19050">
            <a:solidFill>
              <a:schemeClr val="tx2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042A3121-1914-66AF-7A87-97B7AFDECD6B}"/>
              </a:ext>
            </a:extLst>
          </p:cNvPr>
          <p:cNvSpPr/>
          <p:nvPr/>
        </p:nvSpPr>
        <p:spPr>
          <a:xfrm>
            <a:off x="2454442" y="1395663"/>
            <a:ext cx="2424861" cy="1289785"/>
          </a:xfrm>
          <a:custGeom>
            <a:avLst/>
            <a:gdLst>
              <a:gd name="csX0" fmla="*/ 0 w 2406316"/>
              <a:gd name="csY0" fmla="*/ 0 h 1289785"/>
              <a:gd name="csX1" fmla="*/ 96253 w 2406316"/>
              <a:gd name="csY1" fmla="*/ 250257 h 1289785"/>
              <a:gd name="csX2" fmla="*/ 211756 w 2406316"/>
              <a:gd name="csY2" fmla="*/ 452388 h 1289785"/>
              <a:gd name="csX3" fmla="*/ 336885 w 2406316"/>
              <a:gd name="csY3" fmla="*/ 606392 h 1289785"/>
              <a:gd name="csX4" fmla="*/ 490889 w 2406316"/>
              <a:gd name="csY4" fmla="*/ 741145 h 1289785"/>
              <a:gd name="csX5" fmla="*/ 664144 w 2406316"/>
              <a:gd name="csY5" fmla="*/ 847023 h 1289785"/>
              <a:gd name="csX6" fmla="*/ 895150 w 2406316"/>
              <a:gd name="csY6" fmla="*/ 962526 h 1289785"/>
              <a:gd name="csX7" fmla="*/ 1222409 w 2406316"/>
              <a:gd name="csY7" fmla="*/ 1078030 h 1289785"/>
              <a:gd name="csX8" fmla="*/ 1472666 w 2406316"/>
              <a:gd name="csY8" fmla="*/ 1145406 h 1289785"/>
              <a:gd name="csX9" fmla="*/ 1828800 w 2406316"/>
              <a:gd name="csY9" fmla="*/ 1212783 h 1289785"/>
              <a:gd name="csX10" fmla="*/ 2117558 w 2406316"/>
              <a:gd name="csY10" fmla="*/ 1251284 h 1289785"/>
              <a:gd name="csX11" fmla="*/ 2406316 w 2406316"/>
              <a:gd name="csY11" fmla="*/ 1289785 h 1289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406316" h="1289785">
                <a:moveTo>
                  <a:pt x="0" y="0"/>
                </a:moveTo>
                <a:cubicBezTo>
                  <a:pt x="30480" y="87429"/>
                  <a:pt x="60960" y="174859"/>
                  <a:pt x="96253" y="250257"/>
                </a:cubicBezTo>
                <a:cubicBezTo>
                  <a:pt x="131546" y="325655"/>
                  <a:pt x="171651" y="393032"/>
                  <a:pt x="211756" y="452388"/>
                </a:cubicBezTo>
                <a:cubicBezTo>
                  <a:pt x="251861" y="511744"/>
                  <a:pt x="290363" y="558266"/>
                  <a:pt x="336885" y="606392"/>
                </a:cubicBezTo>
                <a:cubicBezTo>
                  <a:pt x="383407" y="654518"/>
                  <a:pt x="436346" y="701040"/>
                  <a:pt x="490889" y="741145"/>
                </a:cubicBezTo>
                <a:cubicBezTo>
                  <a:pt x="545432" y="781250"/>
                  <a:pt x="596767" y="810126"/>
                  <a:pt x="664144" y="847023"/>
                </a:cubicBezTo>
                <a:cubicBezTo>
                  <a:pt x="731521" y="883920"/>
                  <a:pt x="802106" y="924025"/>
                  <a:pt x="895150" y="962526"/>
                </a:cubicBezTo>
                <a:cubicBezTo>
                  <a:pt x="988194" y="1001027"/>
                  <a:pt x="1126156" y="1047550"/>
                  <a:pt x="1222409" y="1078030"/>
                </a:cubicBezTo>
                <a:cubicBezTo>
                  <a:pt x="1318662" y="1108510"/>
                  <a:pt x="1371601" y="1122947"/>
                  <a:pt x="1472666" y="1145406"/>
                </a:cubicBezTo>
                <a:cubicBezTo>
                  <a:pt x="1573731" y="1167865"/>
                  <a:pt x="1721318" y="1195137"/>
                  <a:pt x="1828800" y="1212783"/>
                </a:cubicBezTo>
                <a:cubicBezTo>
                  <a:pt x="1936282" y="1230429"/>
                  <a:pt x="2117558" y="1251284"/>
                  <a:pt x="2117558" y="1251284"/>
                </a:cubicBezTo>
                <a:lnTo>
                  <a:pt x="2406316" y="1289785"/>
                </a:lnTo>
              </a:path>
            </a:pathLst>
          </a:custGeom>
          <a:noFill/>
          <a:ln w="19050">
            <a:solidFill>
              <a:srgbClr val="C0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50413D4-46A5-D75F-50FA-619657F6F12F}"/>
              </a:ext>
            </a:extLst>
          </p:cNvPr>
          <p:cNvCxnSpPr>
            <a:cxnSpLocks/>
          </p:cNvCxnSpPr>
          <p:nvPr/>
        </p:nvCxnSpPr>
        <p:spPr>
          <a:xfrm>
            <a:off x="2454442" y="1363684"/>
            <a:ext cx="0" cy="2062909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2AE0316-E7FB-871A-A001-99C28EC178BF}"/>
              </a:ext>
            </a:extLst>
          </p:cNvPr>
          <p:cNvCxnSpPr>
            <a:cxnSpLocks/>
          </p:cNvCxnSpPr>
          <p:nvPr/>
        </p:nvCxnSpPr>
        <p:spPr>
          <a:xfrm>
            <a:off x="4879305" y="2425566"/>
            <a:ext cx="0" cy="98177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EC1A6F5-2360-156C-16AD-136CEDF2204E}"/>
                  </a:ext>
                </a:extLst>
              </p:cNvPr>
              <p:cNvSpPr txBox="1"/>
              <p:nvPr/>
            </p:nvSpPr>
            <p:spPr>
              <a:xfrm>
                <a:off x="5953432" y="1272907"/>
                <a:ext cx="2733368" cy="457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  <m:d>
                            <m:dPr>
                              <m:ctrlPr>
                                <a:rPr lang="en-US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EC1A6F5-2360-156C-16AD-136CEDF22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432" y="1272907"/>
                <a:ext cx="2733368" cy="4577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ontent Placeholder 2">
                <a:extLst>
                  <a:ext uri="{FF2B5EF4-FFF2-40B4-BE49-F238E27FC236}">
                    <a16:creationId xmlns:a16="http://schemas.microsoft.com/office/drawing/2014/main" id="{5CC0A8E2-43A8-5F6C-9326-D8223B2F04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581" y="759115"/>
                <a:ext cx="2579746" cy="4728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0" tIns="45720" rIns="91440" bIns="0" rtlCol="0">
                <a:noAutofit/>
              </a:bodyPr>
              <a:lstStyle>
                <a:lvl1pPr marL="257175" indent="-257175" algn="l" defTabSz="3429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defRPr>
                </a:lvl1pPr>
                <a:lvl2pPr marL="557213" indent="-214313" algn="l" defTabSz="3429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/>
                  <a:buChar char="–"/>
                  <a:defRPr sz="1600" kern="1200">
                    <a:solidFill>
                      <a:schemeClr val="tx1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defRPr>
                </a:lvl2pPr>
                <a:lvl3pPr marL="857250" indent="-171450" algn="l" defTabSz="3429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/>
                  <a:buChar char="•"/>
                  <a:defRPr sz="1600" kern="1200">
                    <a:solidFill>
                      <a:schemeClr val="tx1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defRPr>
                </a:lvl3pPr>
                <a:lvl4pPr marL="1200150" indent="-171450" algn="l" defTabSz="3429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/>
                  <a:buChar char="–"/>
                  <a:defRPr sz="1600" kern="1200">
                    <a:solidFill>
                      <a:schemeClr val="tx1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defRPr>
                </a:lvl4pPr>
                <a:lvl5pPr marL="1543050" indent="-171450" algn="l" defTabSz="342900" rtl="0" eaLnBrk="1" latinLnBrk="0" hangingPunct="1">
                  <a:lnSpc>
                    <a:spcPct val="150000"/>
                  </a:lnSpc>
                  <a:spcBef>
                    <a:spcPct val="20000"/>
                  </a:spcBef>
                  <a:buFont typeface="Arial"/>
                  <a:buChar char="»"/>
                  <a:defRPr sz="1600" kern="1200">
                    <a:solidFill>
                      <a:schemeClr val="tx1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defRPr>
                </a:lvl5pPr>
                <a:lvl6pPr marL="1885950" indent="-17145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fontAlgn="auto">
                  <a:lnSpc>
                    <a:spcPct val="100000"/>
                  </a:lnSpc>
                  <a:spcAft>
                    <a:spcPts val="0"/>
                  </a:spcAft>
                  <a:buFont typeface="Arial"/>
                  <a:buNone/>
                </a:pPr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Formulation</a:t>
                </a:r>
                <a:r>
                  <a:rPr lang="en-US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to find fixed and future-aware design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1400" b="1" i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1" name="Content Placeholder 2">
                <a:extLst>
                  <a:ext uri="{FF2B5EF4-FFF2-40B4-BE49-F238E27FC236}">
                    <a16:creationId xmlns:a16="http://schemas.microsoft.com/office/drawing/2014/main" id="{5CC0A8E2-43A8-5F6C-9326-D8223B2F0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581" y="759115"/>
                <a:ext cx="2579746" cy="472865"/>
              </a:xfrm>
              <a:prstGeom prst="rect">
                <a:avLst/>
              </a:prstGeom>
              <a:blipFill>
                <a:blip r:embed="rId5"/>
                <a:stretch>
                  <a:fillRect t="-2703" b="-270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6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 animBg="1"/>
      <p:bldP spid="56" grpId="0" animBg="1"/>
      <p:bldP spid="64" grpId="0"/>
      <p:bldP spid="65" grpId="0"/>
      <p:bldP spid="6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EA988-D459-90C2-D8B4-5CA0208B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26B02B-8DDC-7E67-E947-D77704EC8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4A3F81-5549-2634-480A-43FC0FF424AC}"/>
              </a:ext>
            </a:extLst>
          </p:cNvPr>
          <p:cNvSpPr txBox="1"/>
          <p:nvPr/>
        </p:nvSpPr>
        <p:spPr>
          <a:xfrm>
            <a:off x="590961" y="3909608"/>
            <a:ext cx="42061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Contact: </a:t>
            </a:r>
            <a:r>
              <a:rPr lang="en-US" sz="1600" u="sng" dirty="0" err="1">
                <a:solidFill>
                  <a:srgbClr val="0000FF"/>
                </a:solidFill>
                <a:latin typeface="Helvetica" pitchFamily="2" charset="0"/>
              </a:rPr>
              <a:t>mahariansyah@connect.ust.hk</a:t>
            </a:r>
            <a:endParaRPr lang="en-US" sz="1600" i="1" dirty="0">
              <a:solidFill>
                <a:srgbClr val="0000FF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711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4498B-D908-BF91-CF22-247AC93EC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2AC5F4-B742-5F8E-E4E9-721AB25E4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 slides</a:t>
            </a:r>
          </a:p>
        </p:txBody>
      </p:sp>
    </p:spTree>
    <p:extLst>
      <p:ext uri="{BB962C8B-B14F-4D97-AF65-F5344CB8AC3E}">
        <p14:creationId xmlns:p14="http://schemas.microsoft.com/office/powerpoint/2010/main" val="2407691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0A4A-25FE-FCD7-FD6B-FE6E13215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35F2BB-432E-AA4C-1CD4-7886D336C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Multidisciplinary Feasible (MDF)</a:t>
            </a:r>
            <a:endParaRPr lang="en-US" baseline="30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4F07B0-7FF3-2D70-375B-207728F8A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21852"/>
            <a:ext cx="7772400" cy="375935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BB44322-621A-EF0A-3DDF-83F966D22778}"/>
              </a:ext>
            </a:extLst>
          </p:cNvPr>
          <p:cNvGrpSpPr/>
          <p:nvPr/>
        </p:nvGrpSpPr>
        <p:grpSpPr>
          <a:xfrm>
            <a:off x="280657" y="4672425"/>
            <a:ext cx="2688880" cy="328460"/>
            <a:chOff x="280657" y="4672425"/>
            <a:chExt cx="2688880" cy="328460"/>
          </a:xfrm>
        </p:grpSpPr>
        <p:sp>
          <p:nvSpPr>
            <p:cNvPr id="11" name="Left Arrow 10">
              <a:extLst>
                <a:ext uri="{FF2B5EF4-FFF2-40B4-BE49-F238E27FC236}">
                  <a16:creationId xmlns:a16="http://schemas.microsoft.com/office/drawing/2014/main" id="{168A49DE-EFB2-C8C9-3E90-32ED68BC804D}"/>
                </a:ext>
              </a:extLst>
            </p:cNvPr>
            <p:cNvSpPr/>
            <p:nvPr/>
          </p:nvSpPr>
          <p:spPr>
            <a:xfrm>
              <a:off x="280657" y="4672425"/>
              <a:ext cx="525101" cy="320832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FE27188-9628-95F9-0D9D-8CEE6CA1DF76}"/>
                </a:ext>
              </a:extLst>
            </p:cNvPr>
            <p:cNvSpPr txBox="1"/>
            <p:nvPr/>
          </p:nvSpPr>
          <p:spPr>
            <a:xfrm>
              <a:off x="805758" y="4693108"/>
              <a:ext cx="21637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u="sng" dirty="0">
                  <a:solidFill>
                    <a:srgbClr val="FF0000"/>
                  </a:solidFill>
                  <a:latin typeface="Helvetica" pitchFamily="2" charset="0"/>
                  <a:hlinkClick r:id="rId3" action="ppaction://hlinksldjump"/>
                </a:rPr>
                <a:t>Go back to main slides.</a:t>
              </a:r>
              <a:endParaRPr lang="en-US" sz="1400" u="sng" dirty="0">
                <a:solidFill>
                  <a:srgbClr val="FF0000"/>
                </a:solidFill>
                <a:latin typeface="Helvetica" pitchFamily="2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A1ADC9-8A96-3C06-8365-76FB5704A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31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11030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517D4-9C09-0651-0419-B4E888906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C131A6-B2E0-CB27-F6F0-43ACE288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Discipline Feasible (IDF)</a:t>
            </a:r>
            <a:endParaRPr lang="en-US" baseline="30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366067-8782-09AE-D317-7ED7FAD7E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0" y="866377"/>
            <a:ext cx="7302500" cy="3670300"/>
          </a:xfrm>
          <a:prstGeom prst="rect">
            <a:avLst/>
          </a:prstGeom>
        </p:spPr>
      </p:pic>
      <p:sp>
        <p:nvSpPr>
          <p:cNvPr id="6" name="Left Arrow 5">
            <a:extLst>
              <a:ext uri="{FF2B5EF4-FFF2-40B4-BE49-F238E27FC236}">
                <a16:creationId xmlns:a16="http://schemas.microsoft.com/office/drawing/2014/main" id="{A913251F-024C-9300-D992-48E27F014919}"/>
              </a:ext>
            </a:extLst>
          </p:cNvPr>
          <p:cNvSpPr/>
          <p:nvPr/>
        </p:nvSpPr>
        <p:spPr>
          <a:xfrm>
            <a:off x="280657" y="4672425"/>
            <a:ext cx="525101" cy="32083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1E5FF6-CF7B-3CA5-6852-47433CD0D2FC}"/>
              </a:ext>
            </a:extLst>
          </p:cNvPr>
          <p:cNvSpPr txBox="1"/>
          <p:nvPr/>
        </p:nvSpPr>
        <p:spPr>
          <a:xfrm>
            <a:off x="805758" y="4693108"/>
            <a:ext cx="2163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u="sng" dirty="0">
                <a:solidFill>
                  <a:srgbClr val="FF0000"/>
                </a:solidFill>
                <a:latin typeface="Helvetica" pitchFamily="2" charset="0"/>
                <a:hlinkClick r:id="rId3" action="ppaction://hlinksldjump"/>
              </a:rPr>
              <a:t>Go back to main slides.</a:t>
            </a:r>
            <a:endParaRPr lang="en-US" sz="1400" u="sng" dirty="0">
              <a:solidFill>
                <a:srgbClr val="FF0000"/>
              </a:solidFill>
              <a:latin typeface="Helvetica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5FDB1E-4260-0345-8CE2-FD991EB65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32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02815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EB23C-0D05-3F83-6AD7-F44258D63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4F3849-6485-1DD7-7CFA-4C4CB594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MDF–IDF</a:t>
            </a:r>
            <a:endParaRPr lang="en-US" baseline="30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BFF214-FAA7-4D53-3B94-8F91E67DC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961627"/>
            <a:ext cx="7391400" cy="3479800"/>
          </a:xfrm>
          <a:prstGeom prst="rect">
            <a:avLst/>
          </a:prstGeom>
        </p:spPr>
      </p:pic>
      <p:sp>
        <p:nvSpPr>
          <p:cNvPr id="6" name="Left Arrow 5">
            <a:extLst>
              <a:ext uri="{FF2B5EF4-FFF2-40B4-BE49-F238E27FC236}">
                <a16:creationId xmlns:a16="http://schemas.microsoft.com/office/drawing/2014/main" id="{A7AF0663-DAA2-1355-F6FC-B1C74FC47B0D}"/>
              </a:ext>
            </a:extLst>
          </p:cNvPr>
          <p:cNvSpPr/>
          <p:nvPr/>
        </p:nvSpPr>
        <p:spPr>
          <a:xfrm>
            <a:off x="280657" y="4672425"/>
            <a:ext cx="525101" cy="32083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30C1BC-4097-C742-E37F-2C672B6DF7AF}"/>
              </a:ext>
            </a:extLst>
          </p:cNvPr>
          <p:cNvSpPr txBox="1"/>
          <p:nvPr/>
        </p:nvSpPr>
        <p:spPr>
          <a:xfrm>
            <a:off x="805758" y="4693108"/>
            <a:ext cx="2163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u="sng" dirty="0">
                <a:solidFill>
                  <a:srgbClr val="FF0000"/>
                </a:solidFill>
                <a:latin typeface="Helvetica" pitchFamily="2" charset="0"/>
                <a:hlinkClick r:id="rId3" action="ppaction://hlinksldjump"/>
              </a:rPr>
              <a:t>Go back to main slides.</a:t>
            </a:r>
            <a:endParaRPr lang="en-US" sz="1400" u="sng" dirty="0">
              <a:solidFill>
                <a:srgbClr val="FF0000"/>
              </a:solidFill>
              <a:latin typeface="Helvetica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F1CF70-03D4-381B-E053-7E7D8E60F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33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0019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8A4B3-02B4-610D-96AF-4A91CF33A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1C67B0-0064-8643-9433-3AB6382C3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parameters vs mission range for different design objectives</a:t>
            </a:r>
            <a:endParaRPr lang="en-US" baseline="30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0F31A9-F059-DF80-9921-5FC627413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34</a:t>
            </a:fld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DAC83-9314-A9DC-7D98-49F2C08AC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196" y="693899"/>
            <a:ext cx="5705607" cy="443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5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61EB4-030D-DC11-E92B-B44E84F7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C3850A-5BF9-2E3D-8821-4D8815984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Sobol’ index</a:t>
            </a:r>
            <a:endParaRPr lang="en-US" baseline="30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50F6B-E1F3-FC2E-F62A-AF8810E36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35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64EA6B-EDCA-0353-1381-6D733BBA00BC}"/>
                  </a:ext>
                </a:extLst>
              </p:cNvPr>
              <p:cNvSpPr txBox="1"/>
              <p:nvPr/>
            </p:nvSpPr>
            <p:spPr>
              <a:xfrm>
                <a:off x="457200" y="854718"/>
                <a:ext cx="8567897" cy="3815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Helvetica" pitchFamily="2" charset="0"/>
                  </a:rPr>
                  <a:t>For independent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1400" dirty="0">
                    <a:latin typeface="Helvetica" pitchFamily="2" charset="0"/>
                  </a:rPr>
                  <a:t> and a scalar output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400" dirty="0">
                    <a:latin typeface="Helvetica" pitchFamily="2" charset="0"/>
                  </a:rPr>
                  <a:t>, the total variance can be written as: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𝑖𝑗𝑘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 …</m:t>
                          </m:r>
                        </m:e>
                      </m:nary>
                    </m:oMath>
                  </m:oMathPara>
                </a14:m>
                <a:endParaRPr lang="en-US" sz="1400" b="0" dirty="0"/>
              </a:p>
              <a:p>
                <a:endParaRPr lang="en-US" sz="1600" dirty="0"/>
              </a:p>
              <a:p>
                <a:r>
                  <a:rPr lang="en-US" sz="1400" dirty="0">
                    <a:latin typeface="Helvetica" pitchFamily="2" charset="0"/>
                  </a:rPr>
                  <a:t>Normalizing it: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1=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𝑖𝑗𝑘</m:t>
                              </m:r>
                            </m:sub>
                          </m:sSub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sz="1400" dirty="0"/>
              </a:p>
              <a:p>
                <a:endParaRPr lang="en-US" sz="1600" dirty="0"/>
              </a:p>
              <a:p>
                <a:r>
                  <a:rPr lang="en-US" sz="1600" dirty="0">
                    <a:latin typeface="Helvetica" pitchFamily="2" charset="0"/>
                  </a:rPr>
                  <a:t>First-order Sobol’ index: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r>
                  <a:rPr lang="en-US" sz="1600" dirty="0">
                    <a:latin typeface="Helvetica" pitchFamily="2" charset="0"/>
                  </a:rPr>
                  <a:t>Total-order Sobol’ index: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≠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𝑖𝑗𝑘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+…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600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64EA6B-EDCA-0353-1381-6D733BBA0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854718"/>
                <a:ext cx="8567897" cy="3815212"/>
              </a:xfrm>
              <a:prstGeom prst="rect">
                <a:avLst/>
              </a:prstGeom>
              <a:blipFill>
                <a:blip r:embed="rId2"/>
                <a:stretch>
                  <a:fillRect l="-444" t="-13621" b="-2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730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459C2-4F1A-AC52-8B3E-28E3A6B82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B2B7F8-1C9B-08D4-3E3C-E611FCA3C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First-order Sobol’ indices for various optimal outputs</a:t>
            </a:r>
            <a:endParaRPr lang="en-US" baseline="30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569383-342A-1754-B2B8-4E74BD99A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36</a:t>
            </a:fld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44698B-F4BE-7F24-9D68-2D13587FD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003" y="664358"/>
            <a:ext cx="4545518" cy="43984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C5EBCA-AD43-F146-FF44-E19CF5B0F849}"/>
                  </a:ext>
                </a:extLst>
              </p:cNvPr>
              <p:cNvSpPr txBox="1"/>
              <p:nvPr/>
            </p:nvSpPr>
            <p:spPr>
              <a:xfrm>
                <a:off x="282398" y="2441974"/>
                <a:ext cx="2401529" cy="843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latin typeface="Helvetica" pitchFamily="2" charset="0"/>
                  </a:rPr>
                  <a:t>First-order Sobol’ index: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C5EBCA-AD43-F146-FF44-E19CF5B0F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98" y="2441974"/>
                <a:ext cx="2401529" cy="843244"/>
              </a:xfrm>
              <a:prstGeom prst="rect">
                <a:avLst/>
              </a:prstGeom>
              <a:blipFill>
                <a:blip r:embed="rId3"/>
                <a:stretch>
                  <a:fillRect t="-1493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15396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6FA07-3A74-969B-C725-00BEB3E2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2151AC-7AF0-D699-2445-1BF125A59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Total-order Sobol’ indices for various optimal outputs</a:t>
            </a:r>
            <a:endParaRPr lang="en-US" baseline="30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C3C082-5651-AAD2-3972-5D7956E30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37</a:t>
            </a:fld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710274-EF07-FBC6-13E1-F2DD17A6C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260" y="695061"/>
            <a:ext cx="4584847" cy="44365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88B506-57A2-128A-3E80-B18A4D20DD96}"/>
                  </a:ext>
                </a:extLst>
              </p:cNvPr>
              <p:cNvSpPr txBox="1"/>
              <p:nvPr/>
            </p:nvSpPr>
            <p:spPr>
              <a:xfrm>
                <a:off x="-81117" y="2178243"/>
                <a:ext cx="3630561" cy="12927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latin typeface="Helvetica" pitchFamily="2" charset="0"/>
                  </a:rPr>
                  <a:t>Total-order Sobol’ index:</a:t>
                </a:r>
              </a:p>
              <a:p>
                <a:pPr algn="ctr"/>
                <a:endParaRPr lang="en-US" sz="1600" dirty="0">
                  <a:latin typeface="Helvetica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≠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𝑖𝑗𝑘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+…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600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88B506-57A2-128A-3E80-B18A4D20D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1117" y="2178243"/>
                <a:ext cx="3630561" cy="1292790"/>
              </a:xfrm>
              <a:prstGeom prst="rect">
                <a:avLst/>
              </a:prstGeom>
              <a:blipFill>
                <a:blip r:embed="rId3"/>
                <a:stretch>
                  <a:fillRect t="-1942" b="-9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5425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56811-1D35-D67F-E69B-CD2EC1B04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12020B-BA17-2C1D-2C13-A2E9BEBA1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Total contribution of all interaction terms of Sobol’ indices</a:t>
            </a:r>
            <a:endParaRPr lang="en-US" baseline="30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1F006E-0041-D56B-C506-3E30A3707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38</a:t>
            </a:fld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FC90D-B655-C527-1AC1-E2BD57E99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730" y="704575"/>
            <a:ext cx="4575015" cy="44270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25DE1C-E942-945B-4A6D-0DFC4A8B8557}"/>
                  </a:ext>
                </a:extLst>
              </p:cNvPr>
              <p:cNvSpPr txBox="1"/>
              <p:nvPr/>
            </p:nvSpPr>
            <p:spPr>
              <a:xfrm>
                <a:off x="154858" y="2157532"/>
                <a:ext cx="2775156" cy="1087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latin typeface="Helvetica" pitchFamily="2" charset="0"/>
                  </a:rPr>
                  <a:t>Total contribution of all interaction terms:</a:t>
                </a:r>
              </a:p>
              <a:p>
                <a:pPr algn="ctr"/>
                <a:endParaRPr lang="en-US" sz="1600" dirty="0">
                  <a:latin typeface="Helvetica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25DE1C-E942-945B-4A6D-0DFC4A8B8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58" y="2157532"/>
                <a:ext cx="2775156" cy="1087990"/>
              </a:xfrm>
              <a:prstGeom prst="rect">
                <a:avLst/>
              </a:prstGeom>
              <a:blipFill>
                <a:blip r:embed="rId3"/>
                <a:stretch>
                  <a:fillRect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807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52FDA-E7A0-9631-B4C2-1F6E7A2E4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D5F5D8-BF89-AFE7-47EF-FA2D0B8E6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Optimal upgrade strategy under redesign for all projection scenarios</a:t>
            </a:r>
            <a:endParaRPr lang="en-US" baseline="30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319954-CEEE-9E56-D942-6E91F6EB2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39</a:t>
            </a:fld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C40D7B-C0C8-1B95-1F3A-CAF8E37FD2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31" t="6556" r="8666" b="8080"/>
          <a:stretch>
            <a:fillRect/>
          </a:stretch>
        </p:blipFill>
        <p:spPr>
          <a:xfrm>
            <a:off x="320549" y="1167695"/>
            <a:ext cx="8502902" cy="30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603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EC648-1C76-387A-5409-2D368B386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CFBCC5-0F02-0C30-4E11-042D67D40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Optimal upgrade strategy under retrofit for all projection scenarios</a:t>
            </a:r>
            <a:endParaRPr lang="en-US" baseline="30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630861-32F9-0914-9396-C9AB875C8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40</a:t>
            </a:fld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455907-D3E8-6BC4-BC95-F7355528AF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31" t="7265" r="8919" b="7725"/>
          <a:stretch>
            <a:fillRect/>
          </a:stretch>
        </p:blipFill>
        <p:spPr>
          <a:xfrm>
            <a:off x="323289" y="1170460"/>
            <a:ext cx="8497421" cy="306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784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26B13-7D33-7AD0-04DD-DCE997425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47EE06-5A69-30FA-A58D-F4B183A13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Optimal geometries under different projection scenarios</a:t>
            </a:r>
            <a:endParaRPr lang="en-US" baseline="30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100722-D241-5D40-9FDF-FB66B47B3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F8B100-9989-F34E-92F9-CB4946CF0D63}" type="slidenum">
              <a:rPr lang="de-DE" smtClean="0"/>
              <a:t>41</a:t>
            </a:fld>
            <a:endParaRPr lang="de-D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F1A184-3608-5699-7383-848A18A3CDA9}"/>
              </a:ext>
            </a:extLst>
          </p:cNvPr>
          <p:cNvGrpSpPr/>
          <p:nvPr/>
        </p:nvGrpSpPr>
        <p:grpSpPr>
          <a:xfrm>
            <a:off x="263359" y="1023419"/>
            <a:ext cx="8592589" cy="2880000"/>
            <a:chOff x="89295" y="901527"/>
            <a:chExt cx="8592589" cy="2880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8AE18C7-5A4C-532B-BE01-78F371F7E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01" t="10602" r="13489" b="4038"/>
            <a:stretch>
              <a:fillRect/>
            </a:stretch>
          </p:blipFill>
          <p:spPr>
            <a:xfrm>
              <a:off x="3432560" y="901527"/>
              <a:ext cx="2618538" cy="28800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2A2A052-CC16-87D1-38AF-181DC9E91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691" t="11994" r="8376" b="6190"/>
            <a:stretch>
              <a:fillRect/>
            </a:stretch>
          </p:blipFill>
          <p:spPr>
            <a:xfrm>
              <a:off x="89295" y="901527"/>
              <a:ext cx="3095327" cy="2880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8FF87CC-1AA7-3241-A197-945DD9383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200" t="11170" r="17601" b="5194"/>
            <a:stretch>
              <a:fillRect/>
            </a:stretch>
          </p:blipFill>
          <p:spPr>
            <a:xfrm>
              <a:off x="6299036" y="901527"/>
              <a:ext cx="2382848" cy="288000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64DD2D5-7C7A-18D5-186D-FF3192D9AE37}"/>
              </a:ext>
            </a:extLst>
          </p:cNvPr>
          <p:cNvSpPr txBox="1"/>
          <p:nvPr/>
        </p:nvSpPr>
        <p:spPr>
          <a:xfrm>
            <a:off x="1010264" y="4042979"/>
            <a:ext cx="18804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Helvetica" pitchFamily="2" charset="0"/>
              </a:rPr>
              <a:t>Conservative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0B19E5-A66B-8559-7EB3-A141879FC629}"/>
              </a:ext>
            </a:extLst>
          </p:cNvPr>
          <p:cNvSpPr txBox="1"/>
          <p:nvPr/>
        </p:nvSpPr>
        <p:spPr>
          <a:xfrm>
            <a:off x="4073013" y="4042979"/>
            <a:ext cx="18804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Helvetica" pitchFamily="2" charset="0"/>
              </a:rPr>
              <a:t>Nominal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BF8306-C678-00C6-0165-DE0A96FF6AAA}"/>
              </a:ext>
            </a:extLst>
          </p:cNvPr>
          <p:cNvSpPr txBox="1"/>
          <p:nvPr/>
        </p:nvSpPr>
        <p:spPr>
          <a:xfrm>
            <a:off x="6806381" y="4042030"/>
            <a:ext cx="18804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Helvetica" pitchFamily="2" charset="0"/>
              </a:rPr>
              <a:t>Aggressive</a:t>
            </a:r>
          </a:p>
        </p:txBody>
      </p:sp>
    </p:spTree>
    <p:extLst>
      <p:ext uri="{BB962C8B-B14F-4D97-AF65-F5344CB8AC3E}">
        <p14:creationId xmlns:p14="http://schemas.microsoft.com/office/powerpoint/2010/main" val="2072441141"/>
      </p:ext>
    </p:extLst>
  </p:cSld>
  <p:clrMapOvr>
    <a:masterClrMapping/>
  </p:clrMapOvr>
</p:sld>
</file>

<file path=ppt/theme/theme1.xml><?xml version="1.0" encoding="utf-8"?>
<a:theme xmlns:a="http://schemas.openxmlformats.org/drawingml/2006/main" name="ICAS 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o 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ICAS Glob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EB2D5380FE2F4D930C6B565C2D1F91" ma:contentTypeVersion="11" ma:contentTypeDescription="Create a new document." ma:contentTypeScope="" ma:versionID="7bb4524a6491913e10d18d3264613d60">
  <xsd:schema xmlns:xsd="http://www.w3.org/2001/XMLSchema" xmlns:xs="http://www.w3.org/2001/XMLSchema" xmlns:p="http://schemas.microsoft.com/office/2006/metadata/properties" xmlns:ns2="f68cf9e0-88e1-4f3b-adb3-cd048a316fce" xmlns:ns3="45189c86-d200-4f8e-8ba3-644445031606" targetNamespace="http://schemas.microsoft.com/office/2006/metadata/properties" ma:root="true" ma:fieldsID="fe491e7097e791f756d1677c32534ef1" ns2:_="" ns3:_="">
    <xsd:import namespace="f68cf9e0-88e1-4f3b-adb3-cd048a316fce"/>
    <xsd:import namespace="45189c86-d200-4f8e-8ba3-64444503160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8cf9e0-88e1-4f3b-adb3-cd048a316fc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189c86-d200-4f8e-8ba3-6444450316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14BE1A-A2C4-4862-8AD0-8BDC37D6A979}">
  <ds:schemaRefs>
    <ds:schemaRef ds:uri="http://schemas.microsoft.com/office/2006/documentManagement/types"/>
    <ds:schemaRef ds:uri="f68cf9e0-88e1-4f3b-adb3-cd048a316f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  <ds:schemaRef ds:uri="45189c86-d200-4f8e-8ba3-644445031606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561E29E-EE55-4BBB-A007-996871FAB7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8cf9e0-88e1-4f3b-adb3-cd048a316fce"/>
    <ds:schemaRef ds:uri="45189c86-d200-4f8e-8ba3-6444450316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3F3348E-F4F4-4BE8-8083-AA7D450E2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3159</TotalTime>
  <Words>4214</Words>
  <Application>Microsoft Macintosh PowerPoint</Application>
  <PresentationFormat>On-screen Show (16:9)</PresentationFormat>
  <Paragraphs>626</Paragraphs>
  <Slides>41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Helvetica</vt:lpstr>
      <vt:lpstr>Open Sans</vt:lpstr>
      <vt:lpstr>ICAS Logo</vt:lpstr>
      <vt:lpstr>No Logo</vt:lpstr>
      <vt:lpstr>ICAS Globe</vt:lpstr>
      <vt:lpstr>Optimal Conceptual Design and Upgrade Strategies for eVTOL Aircraft Under Evolving Technologies  ICAS PAPER 2026_0631</vt:lpstr>
      <vt:lpstr>Part I Introduction</vt:lpstr>
      <vt:lpstr>Distributed Electric Propulsion (DEP) as an enabler for eVTOL aircraft</vt:lpstr>
      <vt:lpstr>Technologies are evolving (1/2)</vt:lpstr>
      <vt:lpstr>Technologies are evolving (2/2)</vt:lpstr>
      <vt:lpstr>An aircraft optimal at EIS will not remain optimal</vt:lpstr>
      <vt:lpstr>Research questions</vt:lpstr>
      <vt:lpstr>Reference vehicle and mission</vt:lpstr>
      <vt:lpstr>Part II How do we size and optimize an eVTOL aircraft at conceptual design level?</vt:lpstr>
      <vt:lpstr>Conceptual sizing process</vt:lpstr>
      <vt:lpstr>Multidisciplinary Design Optimization (MDO) architectures [9]</vt:lpstr>
      <vt:lpstr>Considerations for MDO in conceptual design</vt:lpstr>
      <vt:lpstr>MDO architecture benchmark results</vt:lpstr>
      <vt:lpstr>Considerations for MDO in conceptual design</vt:lpstr>
      <vt:lpstr>Design objective trade-off study</vt:lpstr>
      <vt:lpstr>Weight and energy are coupled, but not identical objectives</vt:lpstr>
      <vt:lpstr>Considerations for MDO in conceptual design</vt:lpstr>
      <vt:lpstr>Sensitivity to mission requirements and battery technology </vt:lpstr>
      <vt:lpstr>Part III Which future technologies move the optimal design?</vt:lpstr>
      <vt:lpstr>Measuring sensitivity of optimal design to projected technologies</vt:lpstr>
      <vt:lpstr>Battery SE dominates, powertrain SPs grow influence later</vt:lpstr>
      <vt:lpstr>Part IV When should the aircraft evolve?</vt:lpstr>
      <vt:lpstr>Utopian benchmark and future-aware penalty metric</vt:lpstr>
      <vt:lpstr>Formulation: optimal upgrade strategy</vt:lpstr>
      <vt:lpstr>Results: optimal discrete upgrade schedules</vt:lpstr>
      <vt:lpstr>Part V Conclusion and future work</vt:lpstr>
      <vt:lpstr>Concluding remarks</vt:lpstr>
      <vt:lpstr>Future work: future-aware design optimization</vt:lpstr>
      <vt:lpstr>Thank you!</vt:lpstr>
      <vt:lpstr>Supplementary slides</vt:lpstr>
      <vt:lpstr>Multidisciplinary Feasible (MDF)</vt:lpstr>
      <vt:lpstr>Individual Discipline Feasible (IDF)</vt:lpstr>
      <vt:lpstr>Hybrid MDF–IDF</vt:lpstr>
      <vt:lpstr>Optimal parameters vs mission range for different design objectives</vt:lpstr>
      <vt:lpstr>Introduction to Sobol’ index</vt:lpstr>
      <vt:lpstr>First-order Sobol’ indices for various optimal outputs</vt:lpstr>
      <vt:lpstr>Total-order Sobol’ indices for various optimal outputs</vt:lpstr>
      <vt:lpstr>Total contribution of all interaction terms of Sobol’ indices</vt:lpstr>
      <vt:lpstr>Optimal upgrade strategy under redesign for all projection scenarios</vt:lpstr>
      <vt:lpstr>Optimal upgrade strategy under retrofit for all projection scenarios</vt:lpstr>
      <vt:lpstr>Optimal geometries under different projection scenarios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ICAS</dc:creator>
  <cp:lastModifiedBy>HARIANSYAH Muhammad Alfiyandy</cp:lastModifiedBy>
  <cp:revision>622</cp:revision>
  <cp:lastPrinted>2026-09-09T13:23:48Z</cp:lastPrinted>
  <dcterms:modified xsi:type="dcterms:W3CDTF">2026-09-14T12:36:02Z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0x01010068EB2D5380FE2F4D930C6B565C2D1F91</vt:lpwstr>
  </property>
  <property fmtid="{D5CDD505-2E9C-101B-9397-08002B2CF9AE}" pid="3" name="_AdHocReviewCycleID">
    <vt:i4>640318600</vt:i4>
  </property>
  <property fmtid="{D5CDD505-2E9C-101B-9397-08002B2CF9AE}" pid="4" name="_NewReviewCycle">
    <vt:lpwstr/>
  </property>
  <property fmtid="{D5CDD505-2E9C-101B-9397-08002B2CF9AE}" pid="5" name="_EmailSubject">
    <vt:lpwstr>ICAS matters</vt:lpwstr>
  </property>
  <property fmtid="{D5CDD505-2E9C-101B-9397-08002B2CF9AE}" pid="6" name="_AuthorEmailDisplayName">
    <vt:lpwstr>Chris Atkin (ENG - Staff)</vt:lpwstr>
  </property>
</Properties>
</file>